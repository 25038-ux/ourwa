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vais vous présenter Patrimo, l'application que j'ai développée pour le mini-projet : une application web de gestion et de suivi des matériels administratifs.
La fiche à droite résume l'idée : pour chaque équipement, on veut savoir où il est, dans quel état, et tout ce qui lui est arrivé. C'est exactement ce que fait une fiche d'inventaire papier — j'ai voulu en faire la version web.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contexte : une administration a des ordinateurs, des imprimantes, du mobilier, des climatiseurs… répartis dans ses directions.
Le responsable des inventaires doit pouvoir répondre à trois questions à tout moment. Première question : où est le matériel ? Deuxième : dans quel état ? Troisième : quel est son historique ?
Le sujet insiste sur un point : ce n'est pas une gestion de stock (des quantités), c'est le suivi du cycle de vie de chaque équipement, identifié par un numéro unique.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de coder, j'ai dessiné ce cycle de vie. Il y a deux dimensions indépendantes.
En haut, la localisation : le matériel est reçu, il entre au magasin central, il est affecté à une direction, puis il peut être transféré d'une direction à une autre — mais seulement avec la validation des deux responsables.
En bas, l'état : en service, en panne, en réparation, puis retour en service. Si ce n'est pas réparable, on le réforme : c'est définitif.
Chaque flèche de ce schéma correspond à une ligne dans la table des mouvements. C'est ce qui donne l'historique.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tableau reprend les fonctionnalités attendues dans le sujet, dans le même ordre, et montre comment chacune est traitée et dans quelle page.
Tout est couvert. J'ai ajouté quelques éléments qui n'étaient pas demandés mais qui se sont imposés en travaillant : la gestion des comptes, l'export CSV, le code-barres imprimable et la version mobile.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respecté exactement la pile du sujet : PHP, MySQL, HTML5 et CSS3, JavaScript.
Je n'ai utilisé aucune bibliothèque : pas de Bootstrap, pas de jQuery, pas de framework PHP. C'était un choix : je voulais pouvoir expliquer chaque ligne du projet.
Quelques chiffres : environ 2 300 lignes de PHP réparties en 11 pages et 6 fichiers communs, 6 tables MySQL, une seule feuille de style d'un peu plus de 700 lignes, et environ 220 lignes de JavaScript.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schéma de la base. Au centre, la table materiels, avec les champs demandés par le sujet.
À gauche, les référentiels : categories et directions. Les utilisateurs sont rattachés à une direction : c'est ce qui définit le responsable d'inventaire de chaque direction.
À droite, les deux tables qui font vivre le matériel : mouvements, qui est l'historique, et transferts, qui stocke les demandes et les deux validations.
Les contraintes protègent les données : on ne peut pas supprimer une direction qui possède encore du matériel, le numéro d'inventaire est unique, et l'historique suit le matériel.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code est organisé simplement : une page PHP par écran, et un dossier includes pour tout ce qui est partagé.
Quand on ouvre une page, par exemple la fiche d'un matériel : on vérifie d'abord la session et le rôle. S'il y a un formulaire envoyé, on vérifie le jeton CSRF puis on applique les règles métier. Ensuite on lit la base avec des requêtes préparées, et on affiche la page entre l'en-tête et le pied communs. Enfin le JavaScript ajoute les validations et le code-barres.
Cette séparation m'a évité de répéter le menu, la connexion à la base ou la vérification des droits dans chaque fichier.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règle la plus importante du sujet : un transfert doit être validé par les responsables d'inventaire.
Exemple réel de la démo : l'imprimante IMP-2024-0001 doit partir de la DRH vers le Service du Courrier. La responsable de la DRH fait la demande ; comme c'est elle qui demande, sa validation côté départ est automatique.
Pendant l'attente, l'imprimante reste à la DRH. Le responsable du SCA la voit dans ses transferts à valider ; il peut valider ou refuser en donnant une raison.
Quand les deux validations sont là, la direction du matériel change et un mouvement est ajouté à l'historique, dans une seule transaction.
J'ai aussi prévu des garde-fous : pas de transfert d'un matériel réformé, une seule demande à la fois, et si le matériel a changé de situation entre-temps, la demande est annulée.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page d'accueil après connexion.
Un : le registre des chiffres clés demandés par le sujet — le total, les matériels en service, en panne, en réparation et réformés. Chaque case est cliquable et ouvre la liste filtrée.
Deux : la répartition par direction, en barres empilées par état. Elles sont faites en CSS pur, sans bibliothèque de graphiques.
Trois : ce qui demande une action — les transferts qui attendent une validation, et les pannes, de la plus ancienne à la plus récente.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fiche d'un matériel reprend l'idée de la plaque d'inventaire.
Le numéro est en gros, avec un vrai code-barres Code 39 : je l'ai codé en JavaScript à partir de la table de la norme, donc une douchette de lecture peut le scanner. Le bouton « Imprimer l'étiquette » n'imprime que cette plaque, au format d'une étiquette.
L'état est affiché comme un tampon. Et à droite, l'historique complet : ici l'imprimante a été affectée à la DAF, est tombée en panne deux fois, a été réparée, puis transférée.
Les actions (changer l'état, demander un transfert) n'apparaissent que si l'utilisateur est responsable de la direction du matériel — et c'est revérifié côté serveur.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gauche, la recherche. Le sujet demande de chercher par numéro d'inventaire, désignation ou direction ; j'ai ajouté la marque et le numéro de série. Ici je tape « imprimante » et j'obtiens toutes les imprimantes, avec leur direction et leur état. On peut combiner avec des filtres par direction, catégorie et état. La touche « / » place le curseur dans la recherche.
À droite, l'historique complet des mouvements, regroupé par mois. On peut filtrer par type, par direction et par période, et exporter le résultat en CSV pour l'ouvrir dans Excel.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L'inventaire se fait souvent en marchant de bureau en bureau, donc l'application s'adapte au téléphone : le menu se replie et les fiches passent sur une colonne.
Pour les formulaires, le JavaScript vérifie les champs avant l'envoi et affiche le message sous le champ concerné. Le numéro d'inventaire est proposé automatiquement : on choisit la catégorie et la date, et il calcule le prochain numéro libre, par exemple INF-2026-0004.
Les mêmes vérifications sont refaites en PHP : le JavaScript est là pour le confort, pas pour la sécurité.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le design, je suis parti d'un objet réel : le registre d'inventaire papier, avec sa couverture verte, ses pages crème et ses tampons.
Les couleurs viennent de là. Les titres sont dans une police à empattements, le texte dans Public Sans — la police créée pour les sites de l'administration américaine — et les numéros dans une police à chasse fixe, comme tapés à la machine, pour que les chiffres s'alignent.
Les numéros d'inventaire ont la forme d'une étiquette avec son œillet, et les états sont des tampons. Chaque couleur a un sens : vert pour en service, rouge pour en panne, ambre pour en réparation, gris pour réformé.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Même pour un mini-projet, une application de gestion doit être protégée.
Toutes les requêtes SQL sont préparées avec PDO, donc pas d'injection SQL. Les mots de passe sont hachés avec password_hash. Chaque formulaire porte un jeton CSRF. Tout ce qui est affiché est échappé, contre le XSS. Les droits sont vérifiés côté serveur, pas seulement en cachant des boutons. Et après cinq mots de passe faux, la connexion est bloquée cinq minutes.
Pour les tests, j'ai écrit 25 scénarios qui parcourent toute l'application dans un navigateur : création, doublon refusé, changement d'état, transfert complet, refus, suppression, export, déconnexion. Les 25 passent, sans aucun avertissement PHP, y compris avec MySQL en mode strict.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voulais aussi parler des difficultés, parce que c'est là que j'ai le plus appris.
Un : en concevant les formulaires, j'ai vu que si l'état et la direction étaient modifiables dans le formulaire de modification, on pourrait contourner l'historique. Ces champs n'y sont donc pas : on ne peut les changer que par une action qui écrit dans l'historique.
Deux : que se passe-t-il si un matériel est réformé pendant qu'un transfert est en attente ? J'ai ajouté une vérification au moment de la dernière validation, qui annule la demande.
Trois : mes requêtes de comptage marchaient chez moi mais pas avec MySQL en mode strict, à cause du GROUP BY. J'ai corrigé en listant toutes les colonnes.
Quatre : la génération du fichier CSV en PHP 8.4 affichait des avertissements dans le fichier ; il fallait préciser un paramètre de fputcsv.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bilan : ce projet m'a appris à partir d'un besoin réel, à le traduire en base de données, puis en écrans.
J'ai surtout compris l'importance des contraintes : les clés étrangères et les transactions protègent les données mieux que n'importe quel contrôle dans l'interface. Et j'ai appris à mettre une application en ligne.
Pour la suite, plusieurs pistes : scanner le code-barres avec la caméra du téléphone pendant l'inventaire, joindre le PV de réforme en PDF, prévenir les responsables par e-mail quand un transfert les attend, et calculer l'amortissement pour la comptabilité.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Merci de m'avoir écouté. Je vais maintenant faire une courte démonstration en direct : je me connecte comme responsable du patrimoine, j'enregistre un matériel, je change son état, puis je me connecte comme responsable de la DAF pour valider un transfert. Ensuite je réponds à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E25"/>
        </a:solidFill>
      </p:bgPr>
    </p:bg>
    <p:spTree>
      <p:nvGrpSpPr>
        <p:cNvPr id="1" name=""/>
        <p:cNvGrpSpPr/>
        <p:nvPr/>
      </p:nvGrpSpPr>
      <p:grpSpPr>
        <a:xfrm>
          <a:off x="0" y="0"/>
          <a:ext cx="0" cy="0"/>
          <a:chOff x="0" y="0"/>
          <a:chExt cx="0" cy="0"/>
        </a:xfrm>
      </p:grpSpPr>
      <p:sp>
        <p:nvSpPr>
          <p:cNvPr id="2" name="Shape 0"/>
          <p:cNvSpPr/>
          <p:nvPr/>
        </p:nvSpPr>
        <p:spPr>
          <a:xfrm>
            <a:off x="0" y="274320"/>
            <a:ext cx="12191695" cy="0"/>
          </a:xfrm>
          <a:prstGeom prst="line">
            <a:avLst/>
          </a:prstGeom>
          <a:noFill/>
          <a:ln w="9525">
            <a:solidFill>
              <a:srgbClr val="22382E"/>
            </a:solidFill>
            <a:prstDash val="solid"/>
          </a:ln>
        </p:spPr>
      </p:sp>
      <p:sp>
        <p:nvSpPr>
          <p:cNvPr id="3" name="Shape 1"/>
          <p:cNvSpPr/>
          <p:nvPr/>
        </p:nvSpPr>
        <p:spPr>
          <a:xfrm>
            <a:off x="0" y="676656"/>
            <a:ext cx="12191695" cy="0"/>
          </a:xfrm>
          <a:prstGeom prst="line">
            <a:avLst/>
          </a:prstGeom>
          <a:noFill/>
          <a:ln w="9525">
            <a:solidFill>
              <a:srgbClr val="22382E"/>
            </a:solidFill>
            <a:prstDash val="solid"/>
          </a:ln>
        </p:spPr>
      </p:sp>
      <p:sp>
        <p:nvSpPr>
          <p:cNvPr id="4" name="Shape 2"/>
          <p:cNvSpPr/>
          <p:nvPr/>
        </p:nvSpPr>
        <p:spPr>
          <a:xfrm>
            <a:off x="0" y="1078992"/>
            <a:ext cx="12191695" cy="0"/>
          </a:xfrm>
          <a:prstGeom prst="line">
            <a:avLst/>
          </a:prstGeom>
          <a:noFill/>
          <a:ln w="9525">
            <a:solidFill>
              <a:srgbClr val="22382E"/>
            </a:solidFill>
            <a:prstDash val="solid"/>
          </a:ln>
        </p:spPr>
      </p:sp>
      <p:sp>
        <p:nvSpPr>
          <p:cNvPr id="5" name="Shape 3"/>
          <p:cNvSpPr/>
          <p:nvPr/>
        </p:nvSpPr>
        <p:spPr>
          <a:xfrm>
            <a:off x="0" y="1481328"/>
            <a:ext cx="12191695" cy="0"/>
          </a:xfrm>
          <a:prstGeom prst="line">
            <a:avLst/>
          </a:prstGeom>
          <a:noFill/>
          <a:ln w="9525">
            <a:solidFill>
              <a:srgbClr val="22382E"/>
            </a:solidFill>
            <a:prstDash val="solid"/>
          </a:ln>
        </p:spPr>
      </p:sp>
      <p:sp>
        <p:nvSpPr>
          <p:cNvPr id="6" name="Shape 4"/>
          <p:cNvSpPr/>
          <p:nvPr/>
        </p:nvSpPr>
        <p:spPr>
          <a:xfrm>
            <a:off x="0" y="1883664"/>
            <a:ext cx="12191695" cy="0"/>
          </a:xfrm>
          <a:prstGeom prst="line">
            <a:avLst/>
          </a:prstGeom>
          <a:noFill/>
          <a:ln w="9525">
            <a:solidFill>
              <a:srgbClr val="22382E"/>
            </a:solidFill>
            <a:prstDash val="solid"/>
          </a:ln>
        </p:spPr>
      </p:sp>
      <p:sp>
        <p:nvSpPr>
          <p:cNvPr id="7" name="Shape 5"/>
          <p:cNvSpPr/>
          <p:nvPr/>
        </p:nvSpPr>
        <p:spPr>
          <a:xfrm>
            <a:off x="0" y="2286000"/>
            <a:ext cx="12191695" cy="0"/>
          </a:xfrm>
          <a:prstGeom prst="line">
            <a:avLst/>
          </a:prstGeom>
          <a:noFill/>
          <a:ln w="9525">
            <a:solidFill>
              <a:srgbClr val="22382E"/>
            </a:solidFill>
            <a:prstDash val="solid"/>
          </a:ln>
        </p:spPr>
      </p:sp>
      <p:sp>
        <p:nvSpPr>
          <p:cNvPr id="8" name="Shape 6"/>
          <p:cNvSpPr/>
          <p:nvPr/>
        </p:nvSpPr>
        <p:spPr>
          <a:xfrm>
            <a:off x="0" y="2688336"/>
            <a:ext cx="12191695" cy="0"/>
          </a:xfrm>
          <a:prstGeom prst="line">
            <a:avLst/>
          </a:prstGeom>
          <a:noFill/>
          <a:ln w="9525">
            <a:solidFill>
              <a:srgbClr val="22382E"/>
            </a:solidFill>
            <a:prstDash val="solid"/>
          </a:ln>
        </p:spPr>
      </p:sp>
      <p:sp>
        <p:nvSpPr>
          <p:cNvPr id="9" name="Shape 7"/>
          <p:cNvSpPr/>
          <p:nvPr/>
        </p:nvSpPr>
        <p:spPr>
          <a:xfrm>
            <a:off x="0" y="3090672"/>
            <a:ext cx="12191695" cy="0"/>
          </a:xfrm>
          <a:prstGeom prst="line">
            <a:avLst/>
          </a:prstGeom>
          <a:noFill/>
          <a:ln w="9525">
            <a:solidFill>
              <a:srgbClr val="22382E"/>
            </a:solidFill>
            <a:prstDash val="solid"/>
          </a:ln>
        </p:spPr>
      </p:sp>
      <p:sp>
        <p:nvSpPr>
          <p:cNvPr id="10" name="Shape 8"/>
          <p:cNvSpPr/>
          <p:nvPr/>
        </p:nvSpPr>
        <p:spPr>
          <a:xfrm>
            <a:off x="0" y="3493008"/>
            <a:ext cx="12191695" cy="0"/>
          </a:xfrm>
          <a:prstGeom prst="line">
            <a:avLst/>
          </a:prstGeom>
          <a:noFill/>
          <a:ln w="9525">
            <a:solidFill>
              <a:srgbClr val="22382E"/>
            </a:solidFill>
            <a:prstDash val="solid"/>
          </a:ln>
        </p:spPr>
      </p:sp>
      <p:sp>
        <p:nvSpPr>
          <p:cNvPr id="11" name="Shape 9"/>
          <p:cNvSpPr/>
          <p:nvPr/>
        </p:nvSpPr>
        <p:spPr>
          <a:xfrm>
            <a:off x="0" y="3895344"/>
            <a:ext cx="12191695" cy="0"/>
          </a:xfrm>
          <a:prstGeom prst="line">
            <a:avLst/>
          </a:prstGeom>
          <a:noFill/>
          <a:ln w="9525">
            <a:solidFill>
              <a:srgbClr val="22382E"/>
            </a:solidFill>
            <a:prstDash val="solid"/>
          </a:ln>
        </p:spPr>
      </p:sp>
      <p:sp>
        <p:nvSpPr>
          <p:cNvPr id="12" name="Shape 10"/>
          <p:cNvSpPr/>
          <p:nvPr/>
        </p:nvSpPr>
        <p:spPr>
          <a:xfrm>
            <a:off x="0" y="4297680"/>
            <a:ext cx="12191695" cy="0"/>
          </a:xfrm>
          <a:prstGeom prst="line">
            <a:avLst/>
          </a:prstGeom>
          <a:noFill/>
          <a:ln w="9525">
            <a:solidFill>
              <a:srgbClr val="22382E"/>
            </a:solidFill>
            <a:prstDash val="solid"/>
          </a:ln>
        </p:spPr>
      </p:sp>
      <p:sp>
        <p:nvSpPr>
          <p:cNvPr id="13" name="Shape 11"/>
          <p:cNvSpPr/>
          <p:nvPr/>
        </p:nvSpPr>
        <p:spPr>
          <a:xfrm>
            <a:off x="0" y="4700016"/>
            <a:ext cx="12191695" cy="0"/>
          </a:xfrm>
          <a:prstGeom prst="line">
            <a:avLst/>
          </a:prstGeom>
          <a:noFill/>
          <a:ln w="9525">
            <a:solidFill>
              <a:srgbClr val="22382E"/>
            </a:solidFill>
            <a:prstDash val="solid"/>
          </a:ln>
        </p:spPr>
      </p:sp>
      <p:sp>
        <p:nvSpPr>
          <p:cNvPr id="14" name="Shape 12"/>
          <p:cNvSpPr/>
          <p:nvPr/>
        </p:nvSpPr>
        <p:spPr>
          <a:xfrm>
            <a:off x="0" y="5102352"/>
            <a:ext cx="12191695" cy="0"/>
          </a:xfrm>
          <a:prstGeom prst="line">
            <a:avLst/>
          </a:prstGeom>
          <a:noFill/>
          <a:ln w="9525">
            <a:solidFill>
              <a:srgbClr val="22382E"/>
            </a:solidFill>
            <a:prstDash val="solid"/>
          </a:ln>
        </p:spPr>
      </p:sp>
      <p:sp>
        <p:nvSpPr>
          <p:cNvPr id="15" name="Shape 13"/>
          <p:cNvSpPr/>
          <p:nvPr/>
        </p:nvSpPr>
        <p:spPr>
          <a:xfrm>
            <a:off x="0" y="5504688"/>
            <a:ext cx="12191695" cy="0"/>
          </a:xfrm>
          <a:prstGeom prst="line">
            <a:avLst/>
          </a:prstGeom>
          <a:noFill/>
          <a:ln w="9525">
            <a:solidFill>
              <a:srgbClr val="22382E"/>
            </a:solidFill>
            <a:prstDash val="solid"/>
          </a:ln>
        </p:spPr>
      </p:sp>
      <p:sp>
        <p:nvSpPr>
          <p:cNvPr id="16" name="Shape 14"/>
          <p:cNvSpPr/>
          <p:nvPr/>
        </p:nvSpPr>
        <p:spPr>
          <a:xfrm>
            <a:off x="0" y="5907024"/>
            <a:ext cx="12191695" cy="0"/>
          </a:xfrm>
          <a:prstGeom prst="line">
            <a:avLst/>
          </a:prstGeom>
          <a:noFill/>
          <a:ln w="9525">
            <a:solidFill>
              <a:srgbClr val="22382E"/>
            </a:solidFill>
            <a:prstDash val="solid"/>
          </a:ln>
        </p:spPr>
      </p:sp>
      <p:sp>
        <p:nvSpPr>
          <p:cNvPr id="17" name="Shape 15"/>
          <p:cNvSpPr/>
          <p:nvPr/>
        </p:nvSpPr>
        <p:spPr>
          <a:xfrm>
            <a:off x="0" y="6309360"/>
            <a:ext cx="12191695" cy="0"/>
          </a:xfrm>
          <a:prstGeom prst="line">
            <a:avLst/>
          </a:prstGeom>
          <a:noFill/>
          <a:ln w="9525">
            <a:solidFill>
              <a:srgbClr val="22382E"/>
            </a:solidFill>
            <a:prstDash val="solid"/>
          </a:ln>
        </p:spPr>
      </p:sp>
      <p:sp>
        <p:nvSpPr>
          <p:cNvPr id="18" name="Shape 16"/>
          <p:cNvSpPr/>
          <p:nvPr/>
        </p:nvSpPr>
        <p:spPr>
          <a:xfrm>
            <a:off x="0" y="6711696"/>
            <a:ext cx="12191695" cy="0"/>
          </a:xfrm>
          <a:prstGeom prst="line">
            <a:avLst/>
          </a:prstGeom>
          <a:noFill/>
          <a:ln w="9525">
            <a:solidFill>
              <a:srgbClr val="22382E"/>
            </a:solidFill>
            <a:prstDash val="solid"/>
          </a:ln>
        </p:spPr>
      </p:sp>
      <p:sp>
        <p:nvSpPr>
          <p:cNvPr id="19" name="Text 17"/>
          <p:cNvSpPr txBox="1"/>
          <p:nvPr/>
        </p:nvSpPr>
        <p:spPr>
          <a:xfrm>
            <a:off x="731520" y="868680"/>
            <a:ext cx="5486400" cy="274320"/>
          </a:xfrm>
          <a:prstGeom prst="rect">
            <a:avLst/>
          </a:prstGeom>
          <a:noFill/>
          <a:ln/>
        </p:spPr>
        <p:txBody>
          <a:bodyPr wrap="square" lIns="0" tIns="0" rIns="0" bIns="0" rtlCol="0" anchor="t"/>
          <a:lstStyle/>
          <a:p>
            <a:pPr indent="0" marL="0">
              <a:buNone/>
            </a:pPr>
            <a:r>
              <a:rPr lang="en-US" sz="1200" spc="300" kern="0" dirty="0">
                <a:solidFill>
                  <a:srgbClr val="E2C98F"/>
                </a:solidFill>
                <a:latin typeface="Consolas" pitchFamily="34" charset="0"/>
                <a:ea typeface="Consolas" pitchFamily="34" charset="-122"/>
                <a:cs typeface="Consolas" pitchFamily="34" charset="-120"/>
              </a:rPr>
              <a:t>MINI-PROJET · L1 INFORMATIQUE</a:t>
            </a:r>
            <a:endParaRPr lang="en-US" sz="1200" dirty="0"/>
          </a:p>
        </p:txBody>
      </p:sp>
      <p:sp>
        <p:nvSpPr>
          <p:cNvPr id="20" name="Text 18"/>
          <p:cNvSpPr txBox="1"/>
          <p:nvPr/>
        </p:nvSpPr>
        <p:spPr>
          <a:xfrm>
            <a:off x="731520" y="1234440"/>
            <a:ext cx="5852160" cy="1143000"/>
          </a:xfrm>
          <a:prstGeom prst="rect">
            <a:avLst/>
          </a:prstGeom>
          <a:noFill/>
          <a:ln/>
        </p:spPr>
        <p:txBody>
          <a:bodyPr wrap="square" lIns="0" tIns="0" rIns="0" bIns="0" rtlCol="0" anchor="t"/>
          <a:lstStyle/>
          <a:p>
            <a:pPr indent="0" marL="0">
              <a:buNone/>
            </a:pPr>
            <a:r>
              <a:rPr lang="en-US" sz="7200" dirty="0">
                <a:solidFill>
                  <a:srgbClr val="F1ECDD"/>
                </a:solidFill>
                <a:latin typeface="Georgia" pitchFamily="34" charset="0"/>
                <a:ea typeface="Georgia" pitchFamily="34" charset="-122"/>
                <a:cs typeface="Georgia" pitchFamily="34" charset="-120"/>
              </a:rPr>
              <a:t>Patrimo</a:t>
            </a:r>
            <a:endParaRPr lang="en-US" sz="7200" dirty="0"/>
          </a:p>
        </p:txBody>
      </p:sp>
      <p:sp>
        <p:nvSpPr>
          <p:cNvPr id="21" name="Text 19"/>
          <p:cNvSpPr txBox="1"/>
          <p:nvPr/>
        </p:nvSpPr>
        <p:spPr>
          <a:xfrm>
            <a:off x="731520" y="2468880"/>
            <a:ext cx="5394960" cy="731520"/>
          </a:xfrm>
          <a:prstGeom prst="rect">
            <a:avLst/>
          </a:prstGeom>
          <a:noFill/>
          <a:ln/>
        </p:spPr>
        <p:txBody>
          <a:bodyPr wrap="square" lIns="0" tIns="0" rIns="0" bIns="0" rtlCol="0" anchor="t"/>
          <a:lstStyle/>
          <a:p>
            <a:pPr indent="0" marL="0">
              <a:buNone/>
            </a:pPr>
            <a:r>
              <a:rPr lang="en-US" sz="2000" dirty="0">
                <a:solidFill>
                  <a:srgbClr val="D9D6C8"/>
                </a:solidFill>
                <a:latin typeface="Calibri" pitchFamily="34" charset="0"/>
                <a:ea typeface="Calibri" pitchFamily="34" charset="-122"/>
                <a:cs typeface="Calibri" pitchFamily="34" charset="-120"/>
              </a:rPr>
              <a:t>Application web de gestion et de suivi des matériels administratifs</a:t>
            </a:r>
            <a:endParaRPr lang="en-US" sz="2000" dirty="0"/>
          </a:p>
        </p:txBody>
      </p:sp>
      <p:sp>
        <p:nvSpPr>
          <p:cNvPr id="22" name="Text 20"/>
          <p:cNvSpPr txBox="1"/>
          <p:nvPr/>
        </p:nvSpPr>
        <p:spPr>
          <a:xfrm>
            <a:off x="731520" y="3337560"/>
            <a:ext cx="5120640" cy="822960"/>
          </a:xfrm>
          <a:prstGeom prst="rect">
            <a:avLst/>
          </a:prstGeom>
          <a:noFill/>
          <a:ln/>
        </p:spPr>
        <p:txBody>
          <a:bodyPr wrap="square" lIns="0" tIns="0" rIns="0" bIns="0" rtlCol="0" anchor="t"/>
          <a:lstStyle/>
          <a:p>
            <a:pPr indent="0" marL="0">
              <a:buNone/>
            </a:pPr>
            <a:r>
              <a:rPr lang="en-US" sz="2000" i="1" dirty="0">
                <a:solidFill>
                  <a:srgbClr val="E2C98F"/>
                </a:solidFill>
                <a:latin typeface="Georgia" pitchFamily="34" charset="0"/>
                <a:ea typeface="Georgia" pitchFamily="34" charset="-122"/>
                <a:cs typeface="Georgia" pitchFamily="34" charset="-120"/>
              </a:rPr>
              <a:t>Où se trouve ce matériel, dans quel état, et par où est-il passé ?</a:t>
            </a:r>
            <a:endParaRPr lang="en-US" sz="2000" dirty="0"/>
          </a:p>
        </p:txBody>
      </p:sp>
      <p:sp>
        <p:nvSpPr>
          <p:cNvPr id="23" name="Text 21"/>
          <p:cNvSpPr txBox="1"/>
          <p:nvPr/>
        </p:nvSpPr>
        <p:spPr>
          <a:xfrm>
            <a:off x="731520" y="4800600"/>
            <a:ext cx="1463040" cy="274320"/>
          </a:xfrm>
          <a:prstGeom prst="rect">
            <a:avLst/>
          </a:prstGeom>
          <a:noFill/>
          <a:ln/>
        </p:spPr>
        <p:txBody>
          <a:bodyPr wrap="square" lIns="0" tIns="0" rIns="0" bIns="0" rtlCol="0" anchor="t"/>
          <a:lstStyle/>
          <a:p>
            <a:pPr indent="0" marL="0">
              <a:buNone/>
            </a:pPr>
            <a:r>
              <a:rPr lang="en-US" sz="1200" dirty="0">
                <a:solidFill>
                  <a:srgbClr val="8F998E"/>
                </a:solidFill>
                <a:latin typeface="Calibri" pitchFamily="34" charset="0"/>
                <a:ea typeface="Calibri" pitchFamily="34" charset="-122"/>
                <a:cs typeface="Calibri" pitchFamily="34" charset="-120"/>
              </a:rPr>
              <a:t>Présenté par</a:t>
            </a:r>
            <a:endParaRPr lang="en-US" sz="1200" dirty="0"/>
          </a:p>
        </p:txBody>
      </p:sp>
      <p:sp>
        <p:nvSpPr>
          <p:cNvPr id="24" name="Text 22"/>
          <p:cNvSpPr txBox="1"/>
          <p:nvPr/>
        </p:nvSpPr>
        <p:spPr>
          <a:xfrm>
            <a:off x="2194560" y="4800600"/>
            <a:ext cx="3657600" cy="274320"/>
          </a:xfrm>
          <a:prstGeom prst="rect">
            <a:avLst/>
          </a:prstGeom>
          <a:noFill/>
          <a:ln/>
        </p:spPr>
        <p:txBody>
          <a:bodyPr wrap="square" lIns="0" tIns="0" rIns="0" bIns="0" rtlCol="0" anchor="t"/>
          <a:lstStyle/>
          <a:p>
            <a:pPr indent="0" marL="0">
              <a:buNone/>
            </a:pPr>
            <a:r>
              <a:rPr lang="en-US" sz="1400" dirty="0">
                <a:solidFill>
                  <a:srgbClr val="F1ECDD"/>
                </a:solidFill>
                <a:latin typeface="Calibri" pitchFamily="34" charset="0"/>
                <a:ea typeface="Calibri" pitchFamily="34" charset="-122"/>
                <a:cs typeface="Calibri" pitchFamily="34" charset="-120"/>
              </a:rPr>
              <a:t>Prénom NOM</a:t>
            </a:r>
            <a:endParaRPr lang="en-US" sz="1400" dirty="0"/>
          </a:p>
        </p:txBody>
      </p:sp>
      <p:sp>
        <p:nvSpPr>
          <p:cNvPr id="25" name="Text 23"/>
          <p:cNvSpPr txBox="1"/>
          <p:nvPr/>
        </p:nvSpPr>
        <p:spPr>
          <a:xfrm>
            <a:off x="731520" y="5166360"/>
            <a:ext cx="1463040" cy="274320"/>
          </a:xfrm>
          <a:prstGeom prst="rect">
            <a:avLst/>
          </a:prstGeom>
          <a:noFill/>
          <a:ln/>
        </p:spPr>
        <p:txBody>
          <a:bodyPr wrap="square" lIns="0" tIns="0" rIns="0" bIns="0" rtlCol="0" anchor="t"/>
          <a:lstStyle/>
          <a:p>
            <a:pPr indent="0" marL="0">
              <a:buNone/>
            </a:pPr>
            <a:r>
              <a:rPr lang="en-US" sz="1200" dirty="0">
                <a:solidFill>
                  <a:srgbClr val="8F998E"/>
                </a:solidFill>
                <a:latin typeface="Calibri" pitchFamily="34" charset="0"/>
                <a:ea typeface="Calibri" pitchFamily="34" charset="-122"/>
                <a:cs typeface="Calibri" pitchFamily="34" charset="-120"/>
              </a:rPr>
              <a:t>Encadré par</a:t>
            </a:r>
            <a:endParaRPr lang="en-US" sz="1200" dirty="0"/>
          </a:p>
        </p:txBody>
      </p:sp>
      <p:sp>
        <p:nvSpPr>
          <p:cNvPr id="26" name="Text 24"/>
          <p:cNvSpPr txBox="1"/>
          <p:nvPr/>
        </p:nvSpPr>
        <p:spPr>
          <a:xfrm>
            <a:off x="2194560" y="5166360"/>
            <a:ext cx="3657600" cy="274320"/>
          </a:xfrm>
          <a:prstGeom prst="rect">
            <a:avLst/>
          </a:prstGeom>
          <a:noFill/>
          <a:ln/>
        </p:spPr>
        <p:txBody>
          <a:bodyPr wrap="square" lIns="0" tIns="0" rIns="0" bIns="0" rtlCol="0" anchor="t"/>
          <a:lstStyle/>
          <a:p>
            <a:pPr indent="0" marL="0">
              <a:buNone/>
            </a:pPr>
            <a:r>
              <a:rPr lang="en-US" sz="1400" dirty="0">
                <a:solidFill>
                  <a:srgbClr val="F1ECDD"/>
                </a:solidFill>
                <a:latin typeface="Calibri" pitchFamily="34" charset="0"/>
                <a:ea typeface="Calibri" pitchFamily="34" charset="-122"/>
                <a:cs typeface="Calibri" pitchFamily="34" charset="-120"/>
              </a:rPr>
              <a:t>M. / Mme NOM</a:t>
            </a:r>
            <a:endParaRPr lang="en-US" sz="1400" dirty="0"/>
          </a:p>
        </p:txBody>
      </p:sp>
      <p:sp>
        <p:nvSpPr>
          <p:cNvPr id="27" name="Text 25"/>
          <p:cNvSpPr txBox="1"/>
          <p:nvPr/>
        </p:nvSpPr>
        <p:spPr>
          <a:xfrm>
            <a:off x="731520" y="5532120"/>
            <a:ext cx="1463040" cy="274320"/>
          </a:xfrm>
          <a:prstGeom prst="rect">
            <a:avLst/>
          </a:prstGeom>
          <a:noFill/>
          <a:ln/>
        </p:spPr>
        <p:txBody>
          <a:bodyPr wrap="square" lIns="0" tIns="0" rIns="0" bIns="0" rtlCol="0" anchor="t"/>
          <a:lstStyle/>
          <a:p>
            <a:pPr indent="0" marL="0">
              <a:buNone/>
            </a:pPr>
            <a:r>
              <a:rPr lang="en-US" sz="1200" dirty="0">
                <a:solidFill>
                  <a:srgbClr val="8F998E"/>
                </a:solidFill>
                <a:latin typeface="Calibri" pitchFamily="34" charset="0"/>
                <a:ea typeface="Calibri" pitchFamily="34" charset="-122"/>
                <a:cs typeface="Calibri" pitchFamily="34" charset="-120"/>
              </a:rPr>
              <a:t>Soutenance</a:t>
            </a:r>
            <a:endParaRPr lang="en-US" sz="1200" dirty="0"/>
          </a:p>
        </p:txBody>
      </p:sp>
      <p:sp>
        <p:nvSpPr>
          <p:cNvPr id="28" name="Text 26"/>
          <p:cNvSpPr txBox="1"/>
          <p:nvPr/>
        </p:nvSpPr>
        <p:spPr>
          <a:xfrm>
            <a:off x="2194560" y="5532120"/>
            <a:ext cx="3657600" cy="274320"/>
          </a:xfrm>
          <a:prstGeom prst="rect">
            <a:avLst/>
          </a:prstGeom>
          <a:noFill/>
          <a:ln/>
        </p:spPr>
        <p:txBody>
          <a:bodyPr wrap="square" lIns="0" tIns="0" rIns="0" bIns="0" rtlCol="0" anchor="t"/>
          <a:lstStyle/>
          <a:p>
            <a:pPr indent="0" marL="0">
              <a:buNone/>
            </a:pPr>
            <a:r>
              <a:rPr lang="en-US" sz="1400" dirty="0">
                <a:solidFill>
                  <a:srgbClr val="F1ECDD"/>
                </a:solidFill>
                <a:latin typeface="Calibri" pitchFamily="34" charset="0"/>
                <a:ea typeface="Calibri" pitchFamily="34" charset="-122"/>
                <a:cs typeface="Calibri" pitchFamily="34" charset="-120"/>
              </a:rPr>
              <a:t>Septembre 2026</a:t>
            </a:r>
            <a:endParaRPr lang="en-US" sz="1400" dirty="0"/>
          </a:p>
        </p:txBody>
      </p:sp>
      <p:pic>
        <p:nvPicPr>
          <p:cNvPr id="29" name="Image 0" descr="/tmp/claude-0/-home-user-ourwa/8231f12d-bf28-5433-a361-75f92448dec8/scratchpad/slides-img/a-fiche-papier.png">    </p:cNvPr>
          <p:cNvPicPr>
            <a:picLocks noChangeAspect="1"/>
          </p:cNvPicPr>
          <p:nvPr/>
        </p:nvPicPr>
        <p:blipFill>
          <a:blip r:embed="rId1"/>
          <a:stretch>
            <a:fillRect/>
          </a:stretch>
        </p:blipFill>
        <p:spPr>
          <a:xfrm>
            <a:off x="6629400" y="868680"/>
            <a:ext cx="5074920" cy="482712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EFE6"/>
        </a:solidFill>
      </p:bgPr>
    </p:bg>
    <p:spTree>
      <p:nvGrpSpPr>
        <p:cNvPr id="1" name=""/>
        <p:cNvGrpSpPr/>
        <p:nvPr/>
      </p:nvGrpSpPr>
      <p:grpSpPr>
        <a:xfrm>
          <a:off x="0" y="0"/>
          <a:ext cx="0" cy="0"/>
          <a:chOff x="0" y="0"/>
          <a:chExt cx="0" cy="0"/>
        </a:xfrm>
      </p:grpSpPr>
      <p:sp>
        <p:nvSpPr>
          <p:cNvPr id="2" name="Shape 0"/>
          <p:cNvSpPr/>
          <p:nvPr/>
        </p:nvSpPr>
        <p:spPr>
          <a:xfrm>
            <a:off x="548640" y="384048"/>
            <a:ext cx="1572768" cy="274320"/>
          </a:xfrm>
          <a:prstGeom prst="roundRect">
            <a:avLst>
              <a:gd name="adj" fmla="val 16667"/>
            </a:avLst>
          </a:prstGeom>
          <a:solidFill>
            <a:srgbClr val="FFFDF7"/>
          </a:solidFill>
          <a:ln w="9525">
            <a:solidFill>
              <a:srgbClr val="CBC2AD"/>
            </a:solidFill>
            <a:prstDash val="solid"/>
          </a:ln>
        </p:spPr>
      </p:sp>
      <p:sp>
        <p:nvSpPr>
          <p:cNvPr id="3" name="Shape 1"/>
          <p:cNvSpPr/>
          <p:nvPr/>
        </p:nvSpPr>
        <p:spPr>
          <a:xfrm>
            <a:off x="640080" y="489204"/>
            <a:ext cx="64008" cy="64008"/>
          </a:xfrm>
          <a:prstGeom prst="ellipse">
            <a:avLst/>
          </a:prstGeom>
          <a:solidFill>
            <a:srgbClr val="F3EFE6"/>
          </a:solidFill>
          <a:ln w="9525">
            <a:solidFill>
              <a:srgbClr val="CBC2AD"/>
            </a:solidFill>
            <a:prstDash val="solid"/>
          </a:ln>
        </p:spPr>
      </p:sp>
      <p:sp>
        <p:nvSpPr>
          <p:cNvPr id="4" name="Text 2"/>
          <p:cNvSpPr txBox="1"/>
          <p:nvPr/>
        </p:nvSpPr>
        <p:spPr>
          <a:xfrm>
            <a:off x="768096" y="384048"/>
            <a:ext cx="1335024" cy="274320"/>
          </a:xfrm>
          <a:prstGeom prst="rect">
            <a:avLst/>
          </a:prstGeom>
          <a:noFill/>
          <a:ln/>
        </p:spPr>
        <p:txBody>
          <a:bodyPr wrap="none" lIns="0" tIns="0" rIns="0" bIns="0" rtlCol="0" anchor="ctr"/>
          <a:lstStyle/>
          <a:p>
            <a:pPr indent="0" marL="0">
              <a:buNone/>
            </a:pPr>
            <a:r>
              <a:rPr lang="en-US" sz="1000" spc="100" kern="0" dirty="0">
                <a:solidFill>
                  <a:srgbClr val="17211C"/>
                </a:solidFill>
                <a:latin typeface="Consolas" pitchFamily="34" charset="0"/>
                <a:ea typeface="Consolas" pitchFamily="34" charset="-122"/>
                <a:cs typeface="Consolas" pitchFamily="34" charset="-120"/>
              </a:rPr>
              <a:t>01 · CONTEXTE</a:t>
            </a:r>
            <a:endParaRPr lang="en-US" sz="1000" dirty="0"/>
          </a:p>
        </p:txBody>
      </p:sp>
      <p:sp>
        <p:nvSpPr>
          <p:cNvPr id="5" name="Text 3"/>
          <p:cNvSpPr txBox="1"/>
          <p:nvPr/>
        </p:nvSpPr>
        <p:spPr>
          <a:xfrm>
            <a:off x="548640" y="786384"/>
            <a:ext cx="11094415" cy="731520"/>
          </a:xfrm>
          <a:prstGeom prst="rect">
            <a:avLst/>
          </a:prstGeom>
          <a:noFill/>
          <a:ln/>
        </p:spPr>
        <p:txBody>
          <a:bodyPr wrap="square" lIns="0" tIns="0" rIns="0" bIns="0" rtlCol="0" anchor="ctr"/>
          <a:lstStyle/>
          <a:p>
            <a:pPr indent="0" marL="0">
              <a:buNone/>
            </a:pPr>
            <a:r>
              <a:rPr lang="en-US" sz="3200" dirty="0">
                <a:solidFill>
                  <a:srgbClr val="17211C"/>
                </a:solidFill>
                <a:latin typeface="Georgia" pitchFamily="34" charset="0"/>
                <a:ea typeface="Georgia" pitchFamily="34" charset="-122"/>
                <a:cs typeface="Georgia" pitchFamily="34" charset="-120"/>
              </a:rPr>
              <a:t>Un matériel, trois questions</a:t>
            </a:r>
            <a:endParaRPr lang="en-US" sz="3200" dirty="0"/>
          </a:p>
        </p:txBody>
      </p:sp>
      <p:sp>
        <p:nvSpPr>
          <p:cNvPr id="7" name="Text 4"/>
          <p:cNvSpPr txBox="1"/>
          <p:nvPr/>
        </p:nvSpPr>
        <p:spPr>
          <a:xfrm>
            <a:off x="10545775" y="6473952"/>
            <a:ext cx="1097280" cy="228600"/>
          </a:xfrm>
          <a:prstGeom prst="rect">
            <a:avLst/>
          </a:prstGeom>
          <a:noFill/>
          <a:ln/>
        </p:spPr>
        <p:txBody>
          <a:bodyPr wrap="square" lIns="0" tIns="0" rIns="0" bIns="0" rtlCol="0" anchor="t"/>
          <a:lstStyle/>
          <a:p>
            <a:pPr algn="r" indent="0" marL="0">
              <a:buNone/>
            </a:pPr>
            <a:r>
              <a:rPr lang="en-US" sz="900" dirty="0">
                <a:solidFill>
                  <a:srgbClr val="767A71"/>
                </a:solidFill>
                <a:latin typeface="Consolas" pitchFamily="34" charset="0"/>
                <a:ea typeface="Consolas" pitchFamily="34" charset="-122"/>
                <a:cs typeface="Consolas" pitchFamily="34" charset="-120"/>
              </a:rPr>
              <a:t>02 / 17</a:t>
            </a:r>
            <a:endParaRPr lang="en-US" sz="900" dirty="0"/>
          </a:p>
        </p:txBody>
      </p:sp>
      <p:sp>
        <p:nvSpPr>
          <p:cNvPr id="8" name="Text 5"/>
          <p:cNvSpPr txBox="1"/>
          <p:nvPr/>
        </p:nvSpPr>
        <p:spPr>
          <a:xfrm>
            <a:off x="548640" y="6473952"/>
            <a:ext cx="1828800" cy="228600"/>
          </a:xfrm>
          <a:prstGeom prst="rect">
            <a:avLst/>
          </a:prstGeom>
          <a:noFill/>
          <a:ln/>
        </p:spPr>
        <p:txBody>
          <a:bodyPr wrap="square" lIns="0" tIns="0" rIns="0" bIns="0" rtlCol="0" anchor="t"/>
          <a:lstStyle/>
          <a:p>
            <a:pPr indent="0" marL="0">
              <a:buNone/>
            </a:pPr>
            <a:r>
              <a:rPr lang="en-US" sz="1000" i="1" dirty="0">
                <a:solidFill>
                  <a:srgbClr val="767A71"/>
                </a:solidFill>
                <a:latin typeface="Georgia" pitchFamily="34" charset="0"/>
                <a:ea typeface="Georgia" pitchFamily="34" charset="-122"/>
                <a:cs typeface="Georgia" pitchFamily="34" charset="-120"/>
              </a:rPr>
              <a:t>Patrimo</a:t>
            </a:r>
            <a:endParaRPr lang="en-US" sz="1000" dirty="0"/>
          </a:p>
        </p:txBody>
      </p:sp>
      <p:sp>
        <p:nvSpPr>
          <p:cNvPr id="9" name="Text 6"/>
          <p:cNvSpPr txBox="1"/>
          <p:nvPr/>
        </p:nvSpPr>
        <p:spPr>
          <a:xfrm>
            <a:off x="548640" y="1572768"/>
            <a:ext cx="7863840" cy="640080"/>
          </a:xfrm>
          <a:prstGeom prst="rect">
            <a:avLst/>
          </a:prstGeom>
          <a:noFill/>
          <a:ln/>
        </p:spPr>
        <p:txBody>
          <a:bodyPr wrap="square" lIns="0" tIns="0" rIns="0" bIns="0" rtlCol="0" anchor="t"/>
          <a:lstStyle/>
          <a:p>
            <a:pPr indent="0" marL="0">
              <a:buNone/>
            </a:pPr>
            <a:r>
              <a:rPr lang="en-US" sz="1600" dirty="0">
                <a:solidFill>
                  <a:srgbClr val="3F4842"/>
                </a:solidFill>
                <a:latin typeface="Calibri" pitchFamily="34" charset="0"/>
                <a:ea typeface="Calibri" pitchFamily="34" charset="-122"/>
                <a:cs typeface="Calibri" pitchFamily="34" charset="-120"/>
              </a:rPr>
              <a:t>Ordinateurs, imprimantes, armoires, climatiseurs… répartis entre les directions. Le responsable des inventaires doit pouvoir répondre, à tout moment, à trois questions.</a:t>
            </a:r>
            <a:endParaRPr lang="en-US" sz="1600" dirty="0"/>
          </a:p>
        </p:txBody>
      </p:sp>
      <p:sp>
        <p:nvSpPr>
          <p:cNvPr id="10" name="Shape 7"/>
          <p:cNvSpPr/>
          <p:nvPr/>
        </p:nvSpPr>
        <p:spPr>
          <a:xfrm>
            <a:off x="548640" y="2468880"/>
            <a:ext cx="3520440" cy="3246120"/>
          </a:xfrm>
          <a:prstGeom prst="rect">
            <a:avLst/>
          </a:prstGeom>
          <a:solidFill>
            <a:srgbClr val="FBF9F4"/>
          </a:solidFill>
          <a:ln w="9525">
            <a:solidFill>
              <a:srgbClr val="DCD5C6"/>
            </a:solidFill>
            <a:prstDash val="solid"/>
          </a:ln>
          <a:effectLst>
            <a:outerShdw sx="100000" sy="100000" kx="0" ky="0" algn="bl" rotWithShape="0" blurRad="76200" dist="19050" dir="5400000">
              <a:srgbClr val="1A2E25">
                <a:alpha val="8000"/>
              </a:srgbClr>
            </a:outerShdw>
          </a:effectLst>
        </p:spPr>
      </p:sp>
      <p:sp>
        <p:nvSpPr>
          <p:cNvPr id="11" name="Text 8"/>
          <p:cNvSpPr txBox="1"/>
          <p:nvPr/>
        </p:nvSpPr>
        <p:spPr>
          <a:xfrm>
            <a:off x="822960" y="2743200"/>
            <a:ext cx="914400" cy="274320"/>
          </a:xfrm>
          <a:prstGeom prst="rect">
            <a:avLst/>
          </a:prstGeom>
          <a:noFill/>
          <a:ln/>
        </p:spPr>
        <p:txBody>
          <a:bodyPr wrap="square" lIns="0" tIns="0" rIns="0" bIns="0" rtlCol="0" anchor="t"/>
          <a:lstStyle/>
          <a:p>
            <a:pPr indent="0" marL="0">
              <a:buNone/>
            </a:pPr>
            <a:r>
              <a:rPr lang="en-US" sz="1200" b="1" dirty="0">
                <a:solidFill>
                  <a:srgbClr val="1F4A3A"/>
                </a:solidFill>
                <a:latin typeface="Consolas" pitchFamily="34" charset="0"/>
                <a:ea typeface="Consolas" pitchFamily="34" charset="-122"/>
                <a:cs typeface="Consolas" pitchFamily="34" charset="-120"/>
              </a:rPr>
              <a:t>01</a:t>
            </a:r>
            <a:endParaRPr lang="en-US" sz="1200" dirty="0"/>
          </a:p>
        </p:txBody>
      </p:sp>
      <p:sp>
        <p:nvSpPr>
          <p:cNvPr id="12" name="Text 9"/>
          <p:cNvSpPr txBox="1"/>
          <p:nvPr/>
        </p:nvSpPr>
        <p:spPr>
          <a:xfrm>
            <a:off x="822960" y="3035808"/>
            <a:ext cx="3063240" cy="457200"/>
          </a:xfrm>
          <a:prstGeom prst="rect">
            <a:avLst/>
          </a:prstGeom>
          <a:noFill/>
          <a:ln/>
        </p:spPr>
        <p:txBody>
          <a:bodyPr wrap="none" lIns="0" tIns="0" rIns="0" bIns="0" rtlCol="0" anchor="t"/>
          <a:lstStyle/>
          <a:p>
            <a:pPr indent="0" marL="0">
              <a:buNone/>
            </a:pPr>
            <a:r>
              <a:rPr lang="en-US" sz="2200" dirty="0">
                <a:solidFill>
                  <a:srgbClr val="17211C"/>
                </a:solidFill>
                <a:latin typeface="Georgia" pitchFamily="34" charset="0"/>
                <a:ea typeface="Georgia" pitchFamily="34" charset="-122"/>
                <a:cs typeface="Georgia" pitchFamily="34" charset="-120"/>
              </a:rPr>
              <a:t>Où est-il ?</a:t>
            </a:r>
            <a:endParaRPr lang="en-US" sz="2200" dirty="0"/>
          </a:p>
        </p:txBody>
      </p:sp>
      <p:sp>
        <p:nvSpPr>
          <p:cNvPr id="13" name="Text 10"/>
          <p:cNvSpPr txBox="1"/>
          <p:nvPr/>
        </p:nvSpPr>
        <p:spPr>
          <a:xfrm>
            <a:off x="822960" y="3657600"/>
            <a:ext cx="2971800" cy="1005840"/>
          </a:xfrm>
          <a:prstGeom prst="rect">
            <a:avLst/>
          </a:prstGeom>
          <a:noFill/>
          <a:ln/>
        </p:spPr>
        <p:txBody>
          <a:bodyPr wrap="square" lIns="0" tIns="0" rIns="0" bIns="0" rtlCol="0" anchor="t"/>
          <a:lstStyle/>
          <a:p>
            <a:pPr indent="0" marL="0">
              <a:buNone/>
            </a:pPr>
            <a:r>
              <a:rPr lang="en-US" sz="1350" dirty="0">
                <a:solidFill>
                  <a:srgbClr val="3F4842"/>
                </a:solidFill>
                <a:latin typeface="Calibri" pitchFamily="34" charset="0"/>
                <a:ea typeface="Calibri" pitchFamily="34" charset="-122"/>
                <a:cs typeface="Calibri" pitchFamily="34" charset="-120"/>
              </a:rPr>
              <a:t>Chaque matériel porte un numéro d'inventaire unique et appartient à une direction — ou attend au magasin central.</a:t>
            </a:r>
            <a:endParaRPr lang="en-US" sz="1350" dirty="0"/>
          </a:p>
        </p:txBody>
      </p:sp>
      <p:sp>
        <p:nvSpPr>
          <p:cNvPr id="14" name="Shape 11"/>
          <p:cNvSpPr/>
          <p:nvPr/>
        </p:nvSpPr>
        <p:spPr>
          <a:xfrm>
            <a:off x="822960" y="4974336"/>
            <a:ext cx="1572768" cy="274320"/>
          </a:xfrm>
          <a:prstGeom prst="roundRect">
            <a:avLst>
              <a:gd name="adj" fmla="val 16667"/>
            </a:avLst>
          </a:prstGeom>
          <a:solidFill>
            <a:srgbClr val="FFFDF7"/>
          </a:solidFill>
          <a:ln w="9525">
            <a:solidFill>
              <a:srgbClr val="CBC2AD"/>
            </a:solidFill>
            <a:prstDash val="solid"/>
          </a:ln>
        </p:spPr>
      </p:sp>
      <p:sp>
        <p:nvSpPr>
          <p:cNvPr id="15" name="Shape 12"/>
          <p:cNvSpPr/>
          <p:nvPr/>
        </p:nvSpPr>
        <p:spPr>
          <a:xfrm>
            <a:off x="914400" y="5079492"/>
            <a:ext cx="64008" cy="64008"/>
          </a:xfrm>
          <a:prstGeom prst="ellipse">
            <a:avLst/>
          </a:prstGeom>
          <a:solidFill>
            <a:srgbClr val="F3EFE6"/>
          </a:solidFill>
          <a:ln w="9525">
            <a:solidFill>
              <a:srgbClr val="CBC2AD"/>
            </a:solidFill>
            <a:prstDash val="solid"/>
          </a:ln>
        </p:spPr>
      </p:sp>
      <p:sp>
        <p:nvSpPr>
          <p:cNvPr id="16" name="Text 13"/>
          <p:cNvSpPr txBox="1"/>
          <p:nvPr/>
        </p:nvSpPr>
        <p:spPr>
          <a:xfrm>
            <a:off x="1042416" y="4974336"/>
            <a:ext cx="1335024" cy="274320"/>
          </a:xfrm>
          <a:prstGeom prst="rect">
            <a:avLst/>
          </a:prstGeom>
          <a:noFill/>
          <a:ln/>
        </p:spPr>
        <p:txBody>
          <a:bodyPr wrap="none" lIns="0" tIns="0" rIns="0" bIns="0" rtlCol="0" anchor="ctr"/>
          <a:lstStyle/>
          <a:p>
            <a:pPr indent="0" marL="0">
              <a:buNone/>
            </a:pPr>
            <a:r>
              <a:rPr lang="en-US" sz="1000" spc="100" kern="0" dirty="0">
                <a:solidFill>
                  <a:srgbClr val="17211C"/>
                </a:solidFill>
                <a:latin typeface="Consolas" pitchFamily="34" charset="0"/>
                <a:ea typeface="Consolas" pitchFamily="34" charset="-122"/>
                <a:cs typeface="Consolas" pitchFamily="34" charset="-120"/>
              </a:rPr>
              <a:t>INF-2024-0007</a:t>
            </a:r>
            <a:endParaRPr lang="en-US" sz="1000" dirty="0"/>
          </a:p>
        </p:txBody>
      </p:sp>
      <p:sp>
        <p:nvSpPr>
          <p:cNvPr id="17" name="Shape 14"/>
          <p:cNvSpPr/>
          <p:nvPr/>
        </p:nvSpPr>
        <p:spPr>
          <a:xfrm>
            <a:off x="2514600" y="4974336"/>
            <a:ext cx="502920" cy="274320"/>
          </a:xfrm>
          <a:prstGeom prst="rect">
            <a:avLst/>
          </a:prstGeom>
          <a:solidFill>
            <a:srgbClr val="E2EBE3"/>
          </a:solidFill>
          <a:ln w="6350">
            <a:solidFill>
              <a:srgbClr val="E2EBE3"/>
            </a:solidFill>
            <a:prstDash val="solid"/>
          </a:ln>
        </p:spPr>
      </p:sp>
      <p:sp>
        <p:nvSpPr>
          <p:cNvPr id="18" name="Text 15"/>
          <p:cNvSpPr txBox="1"/>
          <p:nvPr/>
        </p:nvSpPr>
        <p:spPr>
          <a:xfrm>
            <a:off x="2514600" y="4974336"/>
            <a:ext cx="502920" cy="274320"/>
          </a:xfrm>
          <a:prstGeom prst="rect">
            <a:avLst/>
          </a:prstGeom>
          <a:noFill/>
          <a:ln/>
        </p:spPr>
        <p:txBody>
          <a:bodyPr wrap="square" lIns="0" tIns="0" rIns="0" bIns="0" rtlCol="0" anchor="ctr"/>
          <a:lstStyle/>
          <a:p>
            <a:pPr algn="ctr" indent="0" marL="0">
              <a:buNone/>
            </a:pPr>
            <a:r>
              <a:rPr lang="en-US" sz="1000" b="1" dirty="0">
                <a:solidFill>
                  <a:srgbClr val="1F4A3A"/>
                </a:solidFill>
                <a:latin typeface="Consolas" pitchFamily="34" charset="0"/>
                <a:ea typeface="Consolas" pitchFamily="34" charset="-122"/>
                <a:cs typeface="Consolas" pitchFamily="34" charset="-120"/>
              </a:rPr>
              <a:t>DAF</a:t>
            </a:r>
            <a:endParaRPr lang="en-US" sz="1000" dirty="0"/>
          </a:p>
        </p:txBody>
      </p:sp>
      <p:sp>
        <p:nvSpPr>
          <p:cNvPr id="19" name="Shape 16"/>
          <p:cNvSpPr/>
          <p:nvPr/>
        </p:nvSpPr>
        <p:spPr>
          <a:xfrm>
            <a:off x="4343400" y="2468880"/>
            <a:ext cx="3520440" cy="3246120"/>
          </a:xfrm>
          <a:prstGeom prst="rect">
            <a:avLst/>
          </a:prstGeom>
          <a:solidFill>
            <a:srgbClr val="FBF9F4"/>
          </a:solidFill>
          <a:ln w="9525">
            <a:solidFill>
              <a:srgbClr val="DCD5C6"/>
            </a:solidFill>
            <a:prstDash val="solid"/>
          </a:ln>
          <a:effectLst>
            <a:outerShdw sx="100000" sy="100000" kx="0" ky="0" algn="bl" rotWithShape="0" blurRad="76200" dist="19050" dir="5400000">
              <a:srgbClr val="1A2E25">
                <a:alpha val="8000"/>
              </a:srgbClr>
            </a:outerShdw>
          </a:effectLst>
        </p:spPr>
      </p:sp>
      <p:sp>
        <p:nvSpPr>
          <p:cNvPr id="20" name="Text 17"/>
          <p:cNvSpPr txBox="1"/>
          <p:nvPr/>
        </p:nvSpPr>
        <p:spPr>
          <a:xfrm>
            <a:off x="4617720" y="2743200"/>
            <a:ext cx="914400" cy="274320"/>
          </a:xfrm>
          <a:prstGeom prst="rect">
            <a:avLst/>
          </a:prstGeom>
          <a:noFill/>
          <a:ln/>
        </p:spPr>
        <p:txBody>
          <a:bodyPr wrap="square" lIns="0" tIns="0" rIns="0" bIns="0" rtlCol="0" anchor="t"/>
          <a:lstStyle/>
          <a:p>
            <a:pPr indent="0" marL="0">
              <a:buNone/>
            </a:pPr>
            <a:r>
              <a:rPr lang="en-US" sz="1200" b="1" dirty="0">
                <a:solidFill>
                  <a:srgbClr val="1F4A3A"/>
                </a:solidFill>
                <a:latin typeface="Consolas" pitchFamily="34" charset="0"/>
                <a:ea typeface="Consolas" pitchFamily="34" charset="-122"/>
                <a:cs typeface="Consolas" pitchFamily="34" charset="-120"/>
              </a:rPr>
              <a:t>02</a:t>
            </a:r>
            <a:endParaRPr lang="en-US" sz="1200" dirty="0"/>
          </a:p>
        </p:txBody>
      </p:sp>
      <p:sp>
        <p:nvSpPr>
          <p:cNvPr id="21" name="Text 18"/>
          <p:cNvSpPr txBox="1"/>
          <p:nvPr/>
        </p:nvSpPr>
        <p:spPr>
          <a:xfrm>
            <a:off x="4617720" y="3035808"/>
            <a:ext cx="3063240" cy="457200"/>
          </a:xfrm>
          <a:prstGeom prst="rect">
            <a:avLst/>
          </a:prstGeom>
          <a:noFill/>
          <a:ln/>
        </p:spPr>
        <p:txBody>
          <a:bodyPr wrap="none" lIns="0" tIns="0" rIns="0" bIns="0" rtlCol="0" anchor="t"/>
          <a:lstStyle/>
          <a:p>
            <a:pPr indent="0" marL="0">
              <a:buNone/>
            </a:pPr>
            <a:r>
              <a:rPr lang="en-US" sz="2200" dirty="0">
                <a:solidFill>
                  <a:srgbClr val="17211C"/>
                </a:solidFill>
                <a:latin typeface="Georgia" pitchFamily="34" charset="0"/>
                <a:ea typeface="Georgia" pitchFamily="34" charset="-122"/>
                <a:cs typeface="Georgia" pitchFamily="34" charset="-120"/>
              </a:rPr>
              <a:t>Dans quel état ?</a:t>
            </a:r>
            <a:endParaRPr lang="en-US" sz="2200" dirty="0"/>
          </a:p>
        </p:txBody>
      </p:sp>
      <p:sp>
        <p:nvSpPr>
          <p:cNvPr id="22" name="Text 19"/>
          <p:cNvSpPr txBox="1"/>
          <p:nvPr/>
        </p:nvSpPr>
        <p:spPr>
          <a:xfrm>
            <a:off x="4617720" y="3657600"/>
            <a:ext cx="2971800" cy="1005840"/>
          </a:xfrm>
          <a:prstGeom prst="rect">
            <a:avLst/>
          </a:prstGeom>
          <a:noFill/>
          <a:ln/>
        </p:spPr>
        <p:txBody>
          <a:bodyPr wrap="square" lIns="0" tIns="0" rIns="0" bIns="0" rtlCol="0" anchor="t"/>
          <a:lstStyle/>
          <a:p>
            <a:pPr indent="0" marL="0">
              <a:buNone/>
            </a:pPr>
            <a:r>
              <a:rPr lang="en-US" sz="1350" dirty="0">
                <a:solidFill>
                  <a:srgbClr val="3F4842"/>
                </a:solidFill>
                <a:latin typeface="Calibri" pitchFamily="34" charset="0"/>
                <a:ea typeface="Calibri" pitchFamily="34" charset="-122"/>
                <a:cs typeface="Calibri" pitchFamily="34" charset="-120"/>
              </a:rPr>
              <a:t>Quatre états seulement. Chaque changement est daté, signé et accompagné d'une observation.</a:t>
            </a:r>
            <a:endParaRPr lang="en-US" sz="1350" dirty="0"/>
          </a:p>
        </p:txBody>
      </p:sp>
      <p:sp>
        <p:nvSpPr>
          <p:cNvPr id="23" name="Shape 20"/>
          <p:cNvSpPr/>
          <p:nvPr/>
        </p:nvSpPr>
        <p:spPr>
          <a:xfrm>
            <a:off x="4617720" y="4946904"/>
            <a:ext cx="100584" cy="100584"/>
          </a:xfrm>
          <a:prstGeom prst="ellipse">
            <a:avLst/>
          </a:prstGeom>
          <a:solidFill>
            <a:srgbClr val="2E7250"/>
          </a:solidFill>
          <a:ln w="6350">
            <a:solidFill>
              <a:srgbClr val="2E7250"/>
            </a:solidFill>
            <a:prstDash val="solid"/>
          </a:ln>
        </p:spPr>
      </p:sp>
      <p:sp>
        <p:nvSpPr>
          <p:cNvPr id="24" name="Text 21"/>
          <p:cNvSpPr txBox="1"/>
          <p:nvPr/>
        </p:nvSpPr>
        <p:spPr>
          <a:xfrm>
            <a:off x="4800600" y="4864608"/>
            <a:ext cx="1280160" cy="274320"/>
          </a:xfrm>
          <a:prstGeom prst="rect">
            <a:avLst/>
          </a:prstGeom>
          <a:noFill/>
          <a:ln/>
        </p:spPr>
        <p:txBody>
          <a:bodyPr wrap="square" lIns="0" tIns="0" rIns="0" bIns="0" rtlCol="0" anchor="ctr"/>
          <a:lstStyle/>
          <a:p>
            <a:pPr indent="0" marL="0">
              <a:buNone/>
            </a:pPr>
            <a:r>
              <a:rPr lang="en-US" sz="1200" dirty="0">
                <a:solidFill>
                  <a:srgbClr val="2E7250"/>
                </a:solidFill>
                <a:latin typeface="Calibri" pitchFamily="34" charset="0"/>
                <a:ea typeface="Calibri" pitchFamily="34" charset="-122"/>
                <a:cs typeface="Calibri" pitchFamily="34" charset="-120"/>
              </a:rPr>
              <a:t>En service</a:t>
            </a:r>
            <a:endParaRPr lang="en-US" sz="1200" dirty="0"/>
          </a:p>
        </p:txBody>
      </p:sp>
      <p:sp>
        <p:nvSpPr>
          <p:cNvPr id="25" name="Shape 22"/>
          <p:cNvSpPr/>
          <p:nvPr/>
        </p:nvSpPr>
        <p:spPr>
          <a:xfrm>
            <a:off x="6126480" y="4946904"/>
            <a:ext cx="100584" cy="100584"/>
          </a:xfrm>
          <a:prstGeom prst="ellipse">
            <a:avLst/>
          </a:prstGeom>
          <a:solidFill>
            <a:srgbClr val="B23A2A"/>
          </a:solidFill>
          <a:ln w="6350">
            <a:solidFill>
              <a:srgbClr val="B23A2A"/>
            </a:solidFill>
            <a:prstDash val="solid"/>
          </a:ln>
        </p:spPr>
      </p:sp>
      <p:sp>
        <p:nvSpPr>
          <p:cNvPr id="26" name="Text 23"/>
          <p:cNvSpPr txBox="1"/>
          <p:nvPr/>
        </p:nvSpPr>
        <p:spPr>
          <a:xfrm>
            <a:off x="6309360" y="4864608"/>
            <a:ext cx="1280160" cy="274320"/>
          </a:xfrm>
          <a:prstGeom prst="rect">
            <a:avLst/>
          </a:prstGeom>
          <a:noFill/>
          <a:ln/>
        </p:spPr>
        <p:txBody>
          <a:bodyPr wrap="square" lIns="0" tIns="0" rIns="0" bIns="0" rtlCol="0" anchor="ctr"/>
          <a:lstStyle/>
          <a:p>
            <a:pPr indent="0" marL="0">
              <a:buNone/>
            </a:pPr>
            <a:r>
              <a:rPr lang="en-US" sz="1200" dirty="0">
                <a:solidFill>
                  <a:srgbClr val="B23A2A"/>
                </a:solidFill>
                <a:latin typeface="Calibri" pitchFamily="34" charset="0"/>
                <a:ea typeface="Calibri" pitchFamily="34" charset="-122"/>
                <a:cs typeface="Calibri" pitchFamily="34" charset="-120"/>
              </a:rPr>
              <a:t>En panne</a:t>
            </a:r>
            <a:endParaRPr lang="en-US" sz="1200" dirty="0"/>
          </a:p>
        </p:txBody>
      </p:sp>
      <p:sp>
        <p:nvSpPr>
          <p:cNvPr id="27" name="Shape 24"/>
          <p:cNvSpPr/>
          <p:nvPr/>
        </p:nvSpPr>
        <p:spPr>
          <a:xfrm>
            <a:off x="4617720" y="5257800"/>
            <a:ext cx="100584" cy="100584"/>
          </a:xfrm>
          <a:prstGeom prst="ellipse">
            <a:avLst/>
          </a:prstGeom>
          <a:solidFill>
            <a:srgbClr val="B27416"/>
          </a:solidFill>
          <a:ln w="6350">
            <a:solidFill>
              <a:srgbClr val="B27416"/>
            </a:solidFill>
            <a:prstDash val="solid"/>
          </a:ln>
        </p:spPr>
      </p:sp>
      <p:sp>
        <p:nvSpPr>
          <p:cNvPr id="28" name="Text 25"/>
          <p:cNvSpPr txBox="1"/>
          <p:nvPr/>
        </p:nvSpPr>
        <p:spPr>
          <a:xfrm>
            <a:off x="4800600" y="5175504"/>
            <a:ext cx="1280160" cy="274320"/>
          </a:xfrm>
          <a:prstGeom prst="rect">
            <a:avLst/>
          </a:prstGeom>
          <a:noFill/>
          <a:ln/>
        </p:spPr>
        <p:txBody>
          <a:bodyPr wrap="square" lIns="0" tIns="0" rIns="0" bIns="0" rtlCol="0" anchor="ctr"/>
          <a:lstStyle/>
          <a:p>
            <a:pPr indent="0" marL="0">
              <a:buNone/>
            </a:pPr>
            <a:r>
              <a:rPr lang="en-US" sz="1200" dirty="0">
                <a:solidFill>
                  <a:srgbClr val="B27416"/>
                </a:solidFill>
                <a:latin typeface="Calibri" pitchFamily="34" charset="0"/>
                <a:ea typeface="Calibri" pitchFamily="34" charset="-122"/>
                <a:cs typeface="Calibri" pitchFamily="34" charset="-120"/>
              </a:rPr>
              <a:t>En réparation</a:t>
            </a:r>
            <a:endParaRPr lang="en-US" sz="1200" dirty="0"/>
          </a:p>
        </p:txBody>
      </p:sp>
      <p:sp>
        <p:nvSpPr>
          <p:cNvPr id="29" name="Shape 26"/>
          <p:cNvSpPr/>
          <p:nvPr/>
        </p:nvSpPr>
        <p:spPr>
          <a:xfrm>
            <a:off x="6126480" y="5257800"/>
            <a:ext cx="100584" cy="100584"/>
          </a:xfrm>
          <a:prstGeom prst="ellipse">
            <a:avLst/>
          </a:prstGeom>
          <a:solidFill>
            <a:srgbClr val="6E6D66"/>
          </a:solidFill>
          <a:ln w="6350">
            <a:solidFill>
              <a:srgbClr val="6E6D66"/>
            </a:solidFill>
            <a:prstDash val="solid"/>
          </a:ln>
        </p:spPr>
      </p:sp>
      <p:sp>
        <p:nvSpPr>
          <p:cNvPr id="30" name="Text 27"/>
          <p:cNvSpPr txBox="1"/>
          <p:nvPr/>
        </p:nvSpPr>
        <p:spPr>
          <a:xfrm>
            <a:off x="6309360" y="5175504"/>
            <a:ext cx="1280160" cy="274320"/>
          </a:xfrm>
          <a:prstGeom prst="rect">
            <a:avLst/>
          </a:prstGeom>
          <a:noFill/>
          <a:ln/>
        </p:spPr>
        <p:txBody>
          <a:bodyPr wrap="square" lIns="0" tIns="0" rIns="0" bIns="0" rtlCol="0" anchor="ctr"/>
          <a:lstStyle/>
          <a:p>
            <a:pPr indent="0" marL="0">
              <a:buNone/>
            </a:pPr>
            <a:r>
              <a:rPr lang="en-US" sz="1200" dirty="0">
                <a:solidFill>
                  <a:srgbClr val="6E6D66"/>
                </a:solidFill>
                <a:latin typeface="Calibri" pitchFamily="34" charset="0"/>
                <a:ea typeface="Calibri" pitchFamily="34" charset="-122"/>
                <a:cs typeface="Calibri" pitchFamily="34" charset="-120"/>
              </a:rPr>
              <a:t>Réformé</a:t>
            </a:r>
            <a:endParaRPr lang="en-US" sz="1200" dirty="0"/>
          </a:p>
        </p:txBody>
      </p:sp>
      <p:sp>
        <p:nvSpPr>
          <p:cNvPr id="31" name="Shape 28"/>
          <p:cNvSpPr/>
          <p:nvPr/>
        </p:nvSpPr>
        <p:spPr>
          <a:xfrm>
            <a:off x="8138160" y="2468880"/>
            <a:ext cx="3520440" cy="3246120"/>
          </a:xfrm>
          <a:prstGeom prst="rect">
            <a:avLst/>
          </a:prstGeom>
          <a:solidFill>
            <a:srgbClr val="FBF9F4"/>
          </a:solidFill>
          <a:ln w="9525">
            <a:solidFill>
              <a:srgbClr val="DCD5C6"/>
            </a:solidFill>
            <a:prstDash val="solid"/>
          </a:ln>
          <a:effectLst>
            <a:outerShdw sx="100000" sy="100000" kx="0" ky="0" algn="bl" rotWithShape="0" blurRad="76200" dist="19050" dir="5400000">
              <a:srgbClr val="1A2E25">
                <a:alpha val="8000"/>
              </a:srgbClr>
            </a:outerShdw>
          </a:effectLst>
        </p:spPr>
      </p:sp>
      <p:sp>
        <p:nvSpPr>
          <p:cNvPr id="32" name="Text 29"/>
          <p:cNvSpPr txBox="1"/>
          <p:nvPr/>
        </p:nvSpPr>
        <p:spPr>
          <a:xfrm>
            <a:off x="8412480" y="2743200"/>
            <a:ext cx="914400" cy="274320"/>
          </a:xfrm>
          <a:prstGeom prst="rect">
            <a:avLst/>
          </a:prstGeom>
          <a:noFill/>
          <a:ln/>
        </p:spPr>
        <p:txBody>
          <a:bodyPr wrap="square" lIns="0" tIns="0" rIns="0" bIns="0" rtlCol="0" anchor="t"/>
          <a:lstStyle/>
          <a:p>
            <a:pPr indent="0" marL="0">
              <a:buNone/>
            </a:pPr>
            <a:r>
              <a:rPr lang="en-US" sz="1200" b="1" dirty="0">
                <a:solidFill>
                  <a:srgbClr val="1F4A3A"/>
                </a:solidFill>
                <a:latin typeface="Consolas" pitchFamily="34" charset="0"/>
                <a:ea typeface="Consolas" pitchFamily="34" charset="-122"/>
                <a:cs typeface="Consolas" pitchFamily="34" charset="-120"/>
              </a:rPr>
              <a:t>03</a:t>
            </a:r>
            <a:endParaRPr lang="en-US" sz="1200" dirty="0"/>
          </a:p>
        </p:txBody>
      </p:sp>
      <p:sp>
        <p:nvSpPr>
          <p:cNvPr id="33" name="Text 30"/>
          <p:cNvSpPr txBox="1"/>
          <p:nvPr/>
        </p:nvSpPr>
        <p:spPr>
          <a:xfrm>
            <a:off x="8412480" y="3035808"/>
            <a:ext cx="3063240" cy="457200"/>
          </a:xfrm>
          <a:prstGeom prst="rect">
            <a:avLst/>
          </a:prstGeom>
          <a:noFill/>
          <a:ln/>
        </p:spPr>
        <p:txBody>
          <a:bodyPr wrap="none" lIns="0" tIns="0" rIns="0" bIns="0" rtlCol="0" anchor="t"/>
          <a:lstStyle/>
          <a:p>
            <a:pPr indent="0" marL="0">
              <a:buNone/>
            </a:pPr>
            <a:r>
              <a:rPr lang="en-US" sz="2200" dirty="0">
                <a:solidFill>
                  <a:srgbClr val="17211C"/>
                </a:solidFill>
                <a:latin typeface="Georgia" pitchFamily="34" charset="0"/>
                <a:ea typeface="Georgia" pitchFamily="34" charset="-122"/>
                <a:cs typeface="Georgia" pitchFamily="34" charset="-120"/>
              </a:rPr>
              <a:t>Par où est-il passé ?</a:t>
            </a:r>
            <a:endParaRPr lang="en-US" sz="2200" dirty="0"/>
          </a:p>
        </p:txBody>
      </p:sp>
      <p:sp>
        <p:nvSpPr>
          <p:cNvPr id="34" name="Text 31"/>
          <p:cNvSpPr txBox="1"/>
          <p:nvPr/>
        </p:nvSpPr>
        <p:spPr>
          <a:xfrm>
            <a:off x="8412480" y="3657600"/>
            <a:ext cx="2971800" cy="1005840"/>
          </a:xfrm>
          <a:prstGeom prst="rect">
            <a:avLst/>
          </a:prstGeom>
          <a:noFill/>
          <a:ln/>
        </p:spPr>
        <p:txBody>
          <a:bodyPr wrap="square" lIns="0" tIns="0" rIns="0" bIns="0" rtlCol="0" anchor="t"/>
          <a:lstStyle/>
          <a:p>
            <a:pPr indent="0" marL="0">
              <a:buNone/>
            </a:pPr>
            <a:r>
              <a:rPr lang="en-US" sz="1350" dirty="0">
                <a:solidFill>
                  <a:srgbClr val="3F4842"/>
                </a:solidFill>
                <a:latin typeface="Calibri" pitchFamily="34" charset="0"/>
                <a:ea typeface="Calibri" pitchFamily="34" charset="-122"/>
                <a:cs typeface="Calibri" pitchFamily="34" charset="-120"/>
              </a:rPr>
              <a:t>Entrée, affectation, transferts, pannes, réparations : tout reste dans l'historique.</a:t>
            </a:r>
            <a:endParaRPr lang="en-US" sz="1350" dirty="0"/>
          </a:p>
        </p:txBody>
      </p:sp>
      <p:sp>
        <p:nvSpPr>
          <p:cNvPr id="35" name="Shape 32"/>
          <p:cNvSpPr/>
          <p:nvPr/>
        </p:nvSpPr>
        <p:spPr>
          <a:xfrm>
            <a:off x="8503920" y="5111496"/>
            <a:ext cx="2651760" cy="0"/>
          </a:xfrm>
          <a:prstGeom prst="line">
            <a:avLst/>
          </a:prstGeom>
          <a:noFill/>
          <a:ln w="12700">
            <a:solidFill>
              <a:srgbClr val="CBC2AD"/>
            </a:solidFill>
            <a:prstDash val="solid"/>
          </a:ln>
        </p:spPr>
      </p:sp>
      <p:sp>
        <p:nvSpPr>
          <p:cNvPr id="36" name="Shape 33"/>
          <p:cNvSpPr/>
          <p:nvPr/>
        </p:nvSpPr>
        <p:spPr>
          <a:xfrm>
            <a:off x="8449056" y="5056632"/>
            <a:ext cx="118872" cy="118872"/>
          </a:xfrm>
          <a:prstGeom prst="ellipse">
            <a:avLst/>
          </a:prstGeom>
          <a:solidFill>
            <a:srgbClr val="FBF9F4"/>
          </a:solidFill>
          <a:ln w="15875">
            <a:solidFill>
              <a:srgbClr val="1F4A3A"/>
            </a:solidFill>
            <a:prstDash val="solid"/>
          </a:ln>
        </p:spPr>
      </p:sp>
      <p:sp>
        <p:nvSpPr>
          <p:cNvPr id="37" name="Text 34"/>
          <p:cNvSpPr txBox="1"/>
          <p:nvPr/>
        </p:nvSpPr>
        <p:spPr>
          <a:xfrm>
            <a:off x="8220456" y="5248656"/>
            <a:ext cx="594360" cy="201168"/>
          </a:xfrm>
          <a:prstGeom prst="rect">
            <a:avLst/>
          </a:prstGeom>
          <a:noFill/>
          <a:ln/>
        </p:spPr>
        <p:txBody>
          <a:bodyPr wrap="square" lIns="0" tIns="0" rIns="0" bIns="0" rtlCol="0" anchor="t"/>
          <a:lstStyle/>
          <a:p>
            <a:pPr algn="ctr" indent="0" marL="0">
              <a:buNone/>
            </a:pPr>
            <a:r>
              <a:rPr lang="en-US" sz="900" dirty="0">
                <a:solidFill>
                  <a:srgbClr val="767A71"/>
                </a:solidFill>
                <a:latin typeface="Consolas" pitchFamily="34" charset="0"/>
                <a:ea typeface="Consolas" pitchFamily="34" charset="-122"/>
                <a:cs typeface="Consolas" pitchFamily="34" charset="-120"/>
              </a:rPr>
              <a:t>2020</a:t>
            </a:r>
            <a:endParaRPr lang="en-US" sz="900" dirty="0"/>
          </a:p>
        </p:txBody>
      </p:sp>
      <p:sp>
        <p:nvSpPr>
          <p:cNvPr id="38" name="Shape 35"/>
          <p:cNvSpPr/>
          <p:nvPr/>
        </p:nvSpPr>
        <p:spPr>
          <a:xfrm>
            <a:off x="9317736" y="5056632"/>
            <a:ext cx="118872" cy="118872"/>
          </a:xfrm>
          <a:prstGeom prst="ellipse">
            <a:avLst/>
          </a:prstGeom>
          <a:solidFill>
            <a:srgbClr val="FBF9F4"/>
          </a:solidFill>
          <a:ln w="15875">
            <a:solidFill>
              <a:srgbClr val="1F4A3A"/>
            </a:solidFill>
            <a:prstDash val="solid"/>
          </a:ln>
        </p:spPr>
      </p:sp>
      <p:sp>
        <p:nvSpPr>
          <p:cNvPr id="39" name="Text 36"/>
          <p:cNvSpPr txBox="1"/>
          <p:nvPr/>
        </p:nvSpPr>
        <p:spPr>
          <a:xfrm>
            <a:off x="9089136" y="5248656"/>
            <a:ext cx="594360" cy="201168"/>
          </a:xfrm>
          <a:prstGeom prst="rect">
            <a:avLst/>
          </a:prstGeom>
          <a:noFill/>
          <a:ln/>
        </p:spPr>
        <p:txBody>
          <a:bodyPr wrap="square" lIns="0" tIns="0" rIns="0" bIns="0" rtlCol="0" anchor="t"/>
          <a:lstStyle/>
          <a:p>
            <a:pPr algn="ctr" indent="0" marL="0">
              <a:buNone/>
            </a:pPr>
            <a:r>
              <a:rPr lang="en-US" sz="900" dirty="0">
                <a:solidFill>
                  <a:srgbClr val="767A71"/>
                </a:solidFill>
                <a:latin typeface="Consolas" pitchFamily="34" charset="0"/>
                <a:ea typeface="Consolas" pitchFamily="34" charset="-122"/>
                <a:cs typeface="Consolas" pitchFamily="34" charset="-120"/>
              </a:rPr>
              <a:t>2022</a:t>
            </a:r>
            <a:endParaRPr lang="en-US" sz="900" dirty="0"/>
          </a:p>
        </p:txBody>
      </p:sp>
      <p:sp>
        <p:nvSpPr>
          <p:cNvPr id="40" name="Shape 37"/>
          <p:cNvSpPr/>
          <p:nvPr/>
        </p:nvSpPr>
        <p:spPr>
          <a:xfrm>
            <a:off x="10186416" y="5056632"/>
            <a:ext cx="118872" cy="118872"/>
          </a:xfrm>
          <a:prstGeom prst="ellipse">
            <a:avLst/>
          </a:prstGeom>
          <a:solidFill>
            <a:srgbClr val="FBF9F4"/>
          </a:solidFill>
          <a:ln w="15875">
            <a:solidFill>
              <a:srgbClr val="1F4A3A"/>
            </a:solidFill>
            <a:prstDash val="solid"/>
          </a:ln>
        </p:spPr>
      </p:sp>
      <p:sp>
        <p:nvSpPr>
          <p:cNvPr id="41" name="Text 38"/>
          <p:cNvSpPr txBox="1"/>
          <p:nvPr/>
        </p:nvSpPr>
        <p:spPr>
          <a:xfrm>
            <a:off x="9957816" y="5248656"/>
            <a:ext cx="594360" cy="201168"/>
          </a:xfrm>
          <a:prstGeom prst="rect">
            <a:avLst/>
          </a:prstGeom>
          <a:noFill/>
          <a:ln/>
        </p:spPr>
        <p:txBody>
          <a:bodyPr wrap="square" lIns="0" tIns="0" rIns="0" bIns="0" rtlCol="0" anchor="t"/>
          <a:lstStyle/>
          <a:p>
            <a:pPr algn="ctr" indent="0" marL="0">
              <a:buNone/>
            </a:pPr>
            <a:r>
              <a:rPr lang="en-US" sz="900" dirty="0">
                <a:solidFill>
                  <a:srgbClr val="767A71"/>
                </a:solidFill>
                <a:latin typeface="Consolas" pitchFamily="34" charset="0"/>
                <a:ea typeface="Consolas" pitchFamily="34" charset="-122"/>
                <a:cs typeface="Consolas" pitchFamily="34" charset="-120"/>
              </a:rPr>
              <a:t>2024</a:t>
            </a:r>
            <a:endParaRPr lang="en-US" sz="900" dirty="0"/>
          </a:p>
        </p:txBody>
      </p:sp>
      <p:sp>
        <p:nvSpPr>
          <p:cNvPr id="42" name="Shape 39"/>
          <p:cNvSpPr/>
          <p:nvPr/>
        </p:nvSpPr>
        <p:spPr>
          <a:xfrm>
            <a:off x="11055096" y="5056632"/>
            <a:ext cx="118872" cy="118872"/>
          </a:xfrm>
          <a:prstGeom prst="ellipse">
            <a:avLst/>
          </a:prstGeom>
          <a:solidFill>
            <a:srgbClr val="1F4A3A"/>
          </a:solidFill>
          <a:ln w="15875">
            <a:solidFill>
              <a:srgbClr val="1F4A3A"/>
            </a:solidFill>
            <a:prstDash val="solid"/>
          </a:ln>
        </p:spPr>
      </p:sp>
      <p:sp>
        <p:nvSpPr>
          <p:cNvPr id="43" name="Text 40"/>
          <p:cNvSpPr txBox="1"/>
          <p:nvPr/>
        </p:nvSpPr>
        <p:spPr>
          <a:xfrm>
            <a:off x="10826496" y="5248656"/>
            <a:ext cx="594360" cy="201168"/>
          </a:xfrm>
          <a:prstGeom prst="rect">
            <a:avLst/>
          </a:prstGeom>
          <a:noFill/>
          <a:ln/>
        </p:spPr>
        <p:txBody>
          <a:bodyPr wrap="square" lIns="0" tIns="0" rIns="0" bIns="0" rtlCol="0" anchor="t"/>
          <a:lstStyle/>
          <a:p>
            <a:pPr algn="ctr" indent="0" marL="0">
              <a:buNone/>
            </a:pPr>
            <a:r>
              <a:rPr lang="en-US" sz="900" dirty="0">
                <a:solidFill>
                  <a:srgbClr val="767A71"/>
                </a:solidFill>
                <a:latin typeface="Consolas" pitchFamily="34" charset="0"/>
                <a:ea typeface="Consolas" pitchFamily="34" charset="-122"/>
                <a:cs typeface="Consolas" pitchFamily="34" charset="-120"/>
              </a:rPr>
              <a:t>2026</a:t>
            </a:r>
            <a:endParaRPr lang="en-US" sz="900" dirty="0"/>
          </a:p>
        </p:txBody>
      </p:sp>
      <p:sp>
        <p:nvSpPr>
          <p:cNvPr id="44" name="Text 41"/>
          <p:cNvSpPr txBox="1"/>
          <p:nvPr/>
        </p:nvSpPr>
        <p:spPr>
          <a:xfrm>
            <a:off x="548640" y="5943600"/>
            <a:ext cx="10058400" cy="320040"/>
          </a:xfrm>
          <a:prstGeom prst="rect">
            <a:avLst/>
          </a:prstGeom>
          <a:noFill/>
          <a:ln/>
        </p:spPr>
        <p:txBody>
          <a:bodyPr wrap="square" lIns="0" tIns="0" rIns="0" bIns="0" rtlCol="0" anchor="t"/>
          <a:lstStyle/>
          <a:p>
            <a:pPr indent="0" marL="0">
              <a:buNone/>
            </a:pPr>
            <a:r>
              <a:rPr lang="en-US" sz="1300" i="1" dirty="0">
                <a:solidFill>
                  <a:srgbClr val="767A71"/>
                </a:solidFill>
                <a:latin typeface="Georgia" pitchFamily="34" charset="0"/>
                <a:ea typeface="Georgia" pitchFamily="34" charset="-122"/>
                <a:cs typeface="Georgia" pitchFamily="34" charset="-120"/>
              </a:rPr>
              <a:t>« Contrairement à une simple gestion de stock, ce projet porte sur le suivi du cycle de vie du matériel. »  — sujet du mini-projet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EFE6"/>
        </a:solidFill>
      </p:bgPr>
    </p:bg>
    <p:spTree>
      <p:nvGrpSpPr>
        <p:cNvPr id="1" name=""/>
        <p:cNvGrpSpPr/>
        <p:nvPr/>
      </p:nvGrpSpPr>
      <p:grpSpPr>
        <a:xfrm>
          <a:off x="0" y="0"/>
          <a:ext cx="0" cy="0"/>
          <a:chOff x="0" y="0"/>
          <a:chExt cx="0" cy="0"/>
        </a:xfrm>
      </p:grpSpPr>
      <p:sp>
        <p:nvSpPr>
          <p:cNvPr id="2" name="Shape 0"/>
          <p:cNvSpPr/>
          <p:nvPr/>
        </p:nvSpPr>
        <p:spPr>
          <a:xfrm>
            <a:off x="548640" y="384048"/>
            <a:ext cx="1481328" cy="274320"/>
          </a:xfrm>
          <a:prstGeom prst="roundRect">
            <a:avLst>
              <a:gd name="adj" fmla="val 16667"/>
            </a:avLst>
          </a:prstGeom>
          <a:solidFill>
            <a:srgbClr val="FFFDF7"/>
          </a:solidFill>
          <a:ln w="9525">
            <a:solidFill>
              <a:srgbClr val="CBC2AD"/>
            </a:solidFill>
            <a:prstDash val="solid"/>
          </a:ln>
        </p:spPr>
      </p:sp>
      <p:sp>
        <p:nvSpPr>
          <p:cNvPr id="3" name="Shape 1"/>
          <p:cNvSpPr/>
          <p:nvPr/>
        </p:nvSpPr>
        <p:spPr>
          <a:xfrm>
            <a:off x="640080" y="489204"/>
            <a:ext cx="64008" cy="64008"/>
          </a:xfrm>
          <a:prstGeom prst="ellipse">
            <a:avLst/>
          </a:prstGeom>
          <a:solidFill>
            <a:srgbClr val="F3EFE6"/>
          </a:solidFill>
          <a:ln w="9525">
            <a:solidFill>
              <a:srgbClr val="CBC2AD"/>
            </a:solidFill>
            <a:prstDash val="solid"/>
          </a:ln>
        </p:spPr>
      </p:sp>
      <p:sp>
        <p:nvSpPr>
          <p:cNvPr id="4" name="Text 2"/>
          <p:cNvSpPr txBox="1"/>
          <p:nvPr/>
        </p:nvSpPr>
        <p:spPr>
          <a:xfrm>
            <a:off x="768096" y="384048"/>
            <a:ext cx="1243584" cy="274320"/>
          </a:xfrm>
          <a:prstGeom prst="rect">
            <a:avLst/>
          </a:prstGeom>
          <a:noFill/>
          <a:ln/>
        </p:spPr>
        <p:txBody>
          <a:bodyPr wrap="none" lIns="0" tIns="0" rIns="0" bIns="0" rtlCol="0" anchor="ctr"/>
          <a:lstStyle/>
          <a:p>
            <a:pPr indent="0" marL="0">
              <a:buNone/>
            </a:pPr>
            <a:r>
              <a:rPr lang="en-US" sz="1000" spc="100" kern="0" dirty="0">
                <a:solidFill>
                  <a:srgbClr val="17211C"/>
                </a:solidFill>
                <a:latin typeface="Consolas" pitchFamily="34" charset="0"/>
                <a:ea typeface="Consolas" pitchFamily="34" charset="-122"/>
                <a:cs typeface="Consolas" pitchFamily="34" charset="-120"/>
              </a:rPr>
              <a:t>02 · ANALYSE</a:t>
            </a:r>
            <a:endParaRPr lang="en-US" sz="1000" dirty="0"/>
          </a:p>
        </p:txBody>
      </p:sp>
      <p:sp>
        <p:nvSpPr>
          <p:cNvPr id="5" name="Text 3"/>
          <p:cNvSpPr txBox="1"/>
          <p:nvPr/>
        </p:nvSpPr>
        <p:spPr>
          <a:xfrm>
            <a:off x="548640" y="786384"/>
            <a:ext cx="11094415" cy="731520"/>
          </a:xfrm>
          <a:prstGeom prst="rect">
            <a:avLst/>
          </a:prstGeom>
          <a:noFill/>
          <a:ln/>
        </p:spPr>
        <p:txBody>
          <a:bodyPr wrap="square" lIns="0" tIns="0" rIns="0" bIns="0" rtlCol="0" anchor="ctr"/>
          <a:lstStyle/>
          <a:p>
            <a:pPr indent="0" marL="0">
              <a:buNone/>
            </a:pPr>
            <a:r>
              <a:rPr lang="en-US" sz="3200" dirty="0">
                <a:solidFill>
                  <a:srgbClr val="17211C"/>
                </a:solidFill>
                <a:latin typeface="Georgia" pitchFamily="34" charset="0"/>
                <a:ea typeface="Georgia" pitchFamily="34" charset="-122"/>
                <a:cs typeface="Georgia" pitchFamily="34" charset="-120"/>
              </a:rPr>
              <a:t>Le cycle de vie d'un matériel</a:t>
            </a:r>
            <a:endParaRPr lang="en-US" sz="3200" dirty="0"/>
          </a:p>
        </p:txBody>
      </p:sp>
      <p:sp>
        <p:nvSpPr>
          <p:cNvPr id="7" name="Text 4"/>
          <p:cNvSpPr txBox="1"/>
          <p:nvPr/>
        </p:nvSpPr>
        <p:spPr>
          <a:xfrm>
            <a:off x="10545775" y="6473952"/>
            <a:ext cx="1097280" cy="228600"/>
          </a:xfrm>
          <a:prstGeom prst="rect">
            <a:avLst/>
          </a:prstGeom>
          <a:noFill/>
          <a:ln/>
        </p:spPr>
        <p:txBody>
          <a:bodyPr wrap="square" lIns="0" tIns="0" rIns="0" bIns="0" rtlCol="0" anchor="t"/>
          <a:lstStyle/>
          <a:p>
            <a:pPr algn="r" indent="0" marL="0">
              <a:buNone/>
            </a:pPr>
            <a:r>
              <a:rPr lang="en-US" sz="900" dirty="0">
                <a:solidFill>
                  <a:srgbClr val="767A71"/>
                </a:solidFill>
                <a:latin typeface="Consolas" pitchFamily="34" charset="0"/>
                <a:ea typeface="Consolas" pitchFamily="34" charset="-122"/>
                <a:cs typeface="Consolas" pitchFamily="34" charset="-120"/>
              </a:rPr>
              <a:t>03 / 17</a:t>
            </a:r>
            <a:endParaRPr lang="en-US" sz="900" dirty="0"/>
          </a:p>
        </p:txBody>
      </p:sp>
      <p:sp>
        <p:nvSpPr>
          <p:cNvPr id="8" name="Text 5"/>
          <p:cNvSpPr txBox="1"/>
          <p:nvPr/>
        </p:nvSpPr>
        <p:spPr>
          <a:xfrm>
            <a:off x="548640" y="6473952"/>
            <a:ext cx="1828800" cy="228600"/>
          </a:xfrm>
          <a:prstGeom prst="rect">
            <a:avLst/>
          </a:prstGeom>
          <a:noFill/>
          <a:ln/>
        </p:spPr>
        <p:txBody>
          <a:bodyPr wrap="square" lIns="0" tIns="0" rIns="0" bIns="0" rtlCol="0" anchor="t"/>
          <a:lstStyle/>
          <a:p>
            <a:pPr indent="0" marL="0">
              <a:buNone/>
            </a:pPr>
            <a:r>
              <a:rPr lang="en-US" sz="1000" i="1" dirty="0">
                <a:solidFill>
                  <a:srgbClr val="767A71"/>
                </a:solidFill>
                <a:latin typeface="Georgia" pitchFamily="34" charset="0"/>
                <a:ea typeface="Georgia" pitchFamily="34" charset="-122"/>
                <a:cs typeface="Georgia" pitchFamily="34" charset="-120"/>
              </a:rPr>
              <a:t>Patrimo</a:t>
            </a:r>
            <a:endParaRPr lang="en-US" sz="1000" dirty="0"/>
          </a:p>
        </p:txBody>
      </p:sp>
      <p:sp>
        <p:nvSpPr>
          <p:cNvPr id="9" name="Text 6"/>
          <p:cNvSpPr txBox="1"/>
          <p:nvPr/>
        </p:nvSpPr>
        <p:spPr>
          <a:xfrm>
            <a:off x="548640" y="1691640"/>
            <a:ext cx="2743200" cy="228600"/>
          </a:xfrm>
          <a:prstGeom prst="rect">
            <a:avLst/>
          </a:prstGeom>
          <a:noFill/>
          <a:ln/>
        </p:spPr>
        <p:txBody>
          <a:bodyPr wrap="square" lIns="0" tIns="0" rIns="0" bIns="0" rtlCol="0" anchor="t"/>
          <a:lstStyle/>
          <a:p>
            <a:pPr indent="0" marL="0">
              <a:buNone/>
            </a:pPr>
            <a:r>
              <a:rPr lang="en-US" sz="1000" b="1" spc="200" kern="0" dirty="0">
                <a:solidFill>
                  <a:srgbClr val="1F4A3A"/>
                </a:solidFill>
                <a:latin typeface="Consolas" pitchFamily="34" charset="0"/>
                <a:ea typeface="Consolas" pitchFamily="34" charset="-122"/>
                <a:cs typeface="Consolas" pitchFamily="34" charset="-120"/>
              </a:rPr>
              <a:t>LOCALISATION</a:t>
            </a:r>
            <a:endParaRPr lang="en-US" sz="1000" dirty="0"/>
          </a:p>
        </p:txBody>
      </p:sp>
      <p:sp>
        <p:nvSpPr>
          <p:cNvPr id="10" name="Shape 7"/>
          <p:cNvSpPr/>
          <p:nvPr/>
        </p:nvSpPr>
        <p:spPr>
          <a:xfrm>
            <a:off x="548640" y="2011680"/>
            <a:ext cx="1920240" cy="777240"/>
          </a:xfrm>
          <a:prstGeom prst="roundRect">
            <a:avLst>
              <a:gd name="adj" fmla="val 7059"/>
            </a:avLst>
          </a:prstGeom>
          <a:solidFill>
            <a:srgbClr val="FBF9F4"/>
          </a:solidFill>
          <a:ln w="12700">
            <a:solidFill>
              <a:srgbClr val="CBC2AD"/>
            </a:solidFill>
            <a:prstDash val="solid"/>
          </a:ln>
        </p:spPr>
      </p:sp>
      <p:sp>
        <p:nvSpPr>
          <p:cNvPr id="11" name="Text 8"/>
          <p:cNvSpPr txBox="1"/>
          <p:nvPr/>
        </p:nvSpPr>
        <p:spPr>
          <a:xfrm>
            <a:off x="548640" y="2139696"/>
            <a:ext cx="1920240" cy="320040"/>
          </a:xfrm>
          <a:prstGeom prst="rect">
            <a:avLst/>
          </a:prstGeom>
          <a:noFill/>
          <a:ln/>
        </p:spPr>
        <p:txBody>
          <a:bodyPr wrap="square" lIns="0" tIns="0" rIns="0" bIns="0" rtlCol="0" anchor="t"/>
          <a:lstStyle/>
          <a:p>
            <a:pPr algn="ctr" indent="0" marL="0">
              <a:buNone/>
            </a:pPr>
            <a:r>
              <a:rPr lang="en-US" sz="1500" b="1" dirty="0">
                <a:solidFill>
                  <a:srgbClr val="17211C"/>
                </a:solidFill>
                <a:latin typeface="Calibri" pitchFamily="34" charset="0"/>
                <a:ea typeface="Calibri" pitchFamily="34" charset="-122"/>
                <a:cs typeface="Calibri" pitchFamily="34" charset="-120"/>
              </a:rPr>
              <a:t>Réception</a:t>
            </a:r>
            <a:endParaRPr lang="en-US" sz="1500" dirty="0"/>
          </a:p>
        </p:txBody>
      </p:sp>
      <p:sp>
        <p:nvSpPr>
          <p:cNvPr id="12" name="Text 9"/>
          <p:cNvSpPr txBox="1"/>
          <p:nvPr/>
        </p:nvSpPr>
        <p:spPr>
          <a:xfrm>
            <a:off x="548640" y="2450592"/>
            <a:ext cx="1920240" cy="228600"/>
          </a:xfrm>
          <a:prstGeom prst="rect">
            <a:avLst/>
          </a:prstGeom>
          <a:noFill/>
          <a:ln/>
        </p:spPr>
        <p:txBody>
          <a:bodyPr wrap="square" lIns="0" tIns="0" rIns="0" bIns="0" rtlCol="0" anchor="t"/>
          <a:lstStyle/>
          <a:p>
            <a:pPr algn="ctr" indent="0" marL="0">
              <a:buNone/>
            </a:pPr>
            <a:r>
              <a:rPr lang="en-US" sz="1100" dirty="0">
                <a:solidFill>
                  <a:srgbClr val="767A71"/>
                </a:solidFill>
                <a:latin typeface="Calibri" pitchFamily="34" charset="0"/>
                <a:ea typeface="Calibri" pitchFamily="34" charset="-122"/>
                <a:cs typeface="Calibri" pitchFamily="34" charset="-120"/>
              </a:rPr>
              <a:t>bon de livraison</a:t>
            </a:r>
            <a:endParaRPr lang="en-US" sz="1100" dirty="0"/>
          </a:p>
        </p:txBody>
      </p:sp>
      <p:sp>
        <p:nvSpPr>
          <p:cNvPr id="13" name="Shape 10"/>
          <p:cNvSpPr/>
          <p:nvPr/>
        </p:nvSpPr>
        <p:spPr>
          <a:xfrm>
            <a:off x="3337560" y="2011680"/>
            <a:ext cx="1920240" cy="777240"/>
          </a:xfrm>
          <a:prstGeom prst="roundRect">
            <a:avLst>
              <a:gd name="adj" fmla="val 7059"/>
            </a:avLst>
          </a:prstGeom>
          <a:solidFill>
            <a:srgbClr val="FBF9F4"/>
          </a:solidFill>
          <a:ln w="12700">
            <a:solidFill>
              <a:srgbClr val="CBC2AD"/>
            </a:solidFill>
            <a:prstDash val="solid"/>
          </a:ln>
        </p:spPr>
      </p:sp>
      <p:sp>
        <p:nvSpPr>
          <p:cNvPr id="14" name="Text 11"/>
          <p:cNvSpPr txBox="1"/>
          <p:nvPr/>
        </p:nvSpPr>
        <p:spPr>
          <a:xfrm>
            <a:off x="3337560" y="2139696"/>
            <a:ext cx="1920240" cy="320040"/>
          </a:xfrm>
          <a:prstGeom prst="rect">
            <a:avLst/>
          </a:prstGeom>
          <a:noFill/>
          <a:ln/>
        </p:spPr>
        <p:txBody>
          <a:bodyPr wrap="square" lIns="0" tIns="0" rIns="0" bIns="0" rtlCol="0" anchor="t"/>
          <a:lstStyle/>
          <a:p>
            <a:pPr algn="ctr" indent="0" marL="0">
              <a:buNone/>
            </a:pPr>
            <a:r>
              <a:rPr lang="en-US" sz="1500" b="1" dirty="0">
                <a:solidFill>
                  <a:srgbClr val="17211C"/>
                </a:solidFill>
                <a:latin typeface="Calibri" pitchFamily="34" charset="0"/>
                <a:ea typeface="Calibri" pitchFamily="34" charset="-122"/>
                <a:cs typeface="Calibri" pitchFamily="34" charset="-120"/>
              </a:rPr>
              <a:t>Magasin central</a:t>
            </a:r>
            <a:endParaRPr lang="en-US" sz="1500" dirty="0"/>
          </a:p>
        </p:txBody>
      </p:sp>
      <p:sp>
        <p:nvSpPr>
          <p:cNvPr id="15" name="Text 12"/>
          <p:cNvSpPr txBox="1"/>
          <p:nvPr/>
        </p:nvSpPr>
        <p:spPr>
          <a:xfrm>
            <a:off x="3337560" y="2450592"/>
            <a:ext cx="1920240" cy="228600"/>
          </a:xfrm>
          <a:prstGeom prst="rect">
            <a:avLst/>
          </a:prstGeom>
          <a:noFill/>
          <a:ln/>
        </p:spPr>
        <p:txBody>
          <a:bodyPr wrap="square" lIns="0" tIns="0" rIns="0" bIns="0" rtlCol="0" anchor="t"/>
          <a:lstStyle/>
          <a:p>
            <a:pPr algn="ctr" indent="0" marL="0">
              <a:buNone/>
            </a:pPr>
            <a:r>
              <a:rPr lang="en-US" sz="1100" dirty="0">
                <a:solidFill>
                  <a:srgbClr val="767A71"/>
                </a:solidFill>
                <a:latin typeface="Calibri" pitchFamily="34" charset="0"/>
                <a:ea typeface="Calibri" pitchFamily="34" charset="-122"/>
                <a:cs typeface="Calibri" pitchFamily="34" charset="-120"/>
              </a:rPr>
              <a:t>non affecté</a:t>
            </a:r>
            <a:endParaRPr lang="en-US" sz="1100" dirty="0"/>
          </a:p>
        </p:txBody>
      </p:sp>
      <p:sp>
        <p:nvSpPr>
          <p:cNvPr id="16" name="Shape 13"/>
          <p:cNvSpPr/>
          <p:nvPr/>
        </p:nvSpPr>
        <p:spPr>
          <a:xfrm>
            <a:off x="6126480" y="2011680"/>
            <a:ext cx="1920240" cy="777240"/>
          </a:xfrm>
          <a:prstGeom prst="roundRect">
            <a:avLst>
              <a:gd name="adj" fmla="val 7059"/>
            </a:avLst>
          </a:prstGeom>
          <a:solidFill>
            <a:srgbClr val="FBF9F4"/>
          </a:solidFill>
          <a:ln w="12700">
            <a:solidFill>
              <a:srgbClr val="CBC2AD"/>
            </a:solidFill>
            <a:prstDash val="solid"/>
          </a:ln>
        </p:spPr>
      </p:sp>
      <p:sp>
        <p:nvSpPr>
          <p:cNvPr id="17" name="Text 14"/>
          <p:cNvSpPr txBox="1"/>
          <p:nvPr/>
        </p:nvSpPr>
        <p:spPr>
          <a:xfrm>
            <a:off x="6126480" y="2139696"/>
            <a:ext cx="1920240" cy="320040"/>
          </a:xfrm>
          <a:prstGeom prst="rect">
            <a:avLst/>
          </a:prstGeom>
          <a:noFill/>
          <a:ln/>
        </p:spPr>
        <p:txBody>
          <a:bodyPr wrap="square" lIns="0" tIns="0" rIns="0" bIns="0" rtlCol="0" anchor="t"/>
          <a:lstStyle/>
          <a:p>
            <a:pPr algn="ctr" indent="0" marL="0">
              <a:buNone/>
            </a:pPr>
            <a:r>
              <a:rPr lang="en-US" sz="1500" b="1" dirty="0">
                <a:solidFill>
                  <a:srgbClr val="17211C"/>
                </a:solidFill>
                <a:latin typeface="Calibri" pitchFamily="34" charset="0"/>
                <a:ea typeface="Calibri" pitchFamily="34" charset="-122"/>
                <a:cs typeface="Calibri" pitchFamily="34" charset="-120"/>
              </a:rPr>
              <a:t>Direction A</a:t>
            </a:r>
            <a:endParaRPr lang="en-US" sz="1500" dirty="0"/>
          </a:p>
        </p:txBody>
      </p:sp>
      <p:sp>
        <p:nvSpPr>
          <p:cNvPr id="18" name="Text 15"/>
          <p:cNvSpPr txBox="1"/>
          <p:nvPr/>
        </p:nvSpPr>
        <p:spPr>
          <a:xfrm>
            <a:off x="6126480" y="2450592"/>
            <a:ext cx="1920240" cy="228600"/>
          </a:xfrm>
          <a:prstGeom prst="rect">
            <a:avLst/>
          </a:prstGeom>
          <a:noFill/>
          <a:ln/>
        </p:spPr>
        <p:txBody>
          <a:bodyPr wrap="square" lIns="0" tIns="0" rIns="0" bIns="0" rtlCol="0" anchor="t"/>
          <a:lstStyle/>
          <a:p>
            <a:pPr algn="ctr" indent="0" marL="0">
              <a:buNone/>
            </a:pPr>
            <a:r>
              <a:rPr lang="en-US" sz="1100" dirty="0">
                <a:solidFill>
                  <a:srgbClr val="767A71"/>
                </a:solidFill>
                <a:latin typeface="Calibri" pitchFamily="34" charset="0"/>
                <a:ea typeface="Calibri" pitchFamily="34" charset="-122"/>
                <a:cs typeface="Calibri" pitchFamily="34" charset="-120"/>
              </a:rPr>
              <a:t>ex. DSI</a:t>
            </a:r>
            <a:endParaRPr lang="en-US" sz="1100" dirty="0"/>
          </a:p>
        </p:txBody>
      </p:sp>
      <p:sp>
        <p:nvSpPr>
          <p:cNvPr id="19" name="Shape 16"/>
          <p:cNvSpPr/>
          <p:nvPr/>
        </p:nvSpPr>
        <p:spPr>
          <a:xfrm>
            <a:off x="9171432" y="2011680"/>
            <a:ext cx="1920240" cy="777240"/>
          </a:xfrm>
          <a:prstGeom prst="roundRect">
            <a:avLst>
              <a:gd name="adj" fmla="val 7059"/>
            </a:avLst>
          </a:prstGeom>
          <a:solidFill>
            <a:srgbClr val="FBF9F4"/>
          </a:solidFill>
          <a:ln w="12700">
            <a:solidFill>
              <a:srgbClr val="CBC2AD"/>
            </a:solidFill>
            <a:prstDash val="solid"/>
          </a:ln>
        </p:spPr>
      </p:sp>
      <p:sp>
        <p:nvSpPr>
          <p:cNvPr id="20" name="Text 17"/>
          <p:cNvSpPr txBox="1"/>
          <p:nvPr/>
        </p:nvSpPr>
        <p:spPr>
          <a:xfrm>
            <a:off x="9171432" y="2139696"/>
            <a:ext cx="1920240" cy="320040"/>
          </a:xfrm>
          <a:prstGeom prst="rect">
            <a:avLst/>
          </a:prstGeom>
          <a:noFill/>
          <a:ln/>
        </p:spPr>
        <p:txBody>
          <a:bodyPr wrap="square" lIns="0" tIns="0" rIns="0" bIns="0" rtlCol="0" anchor="t"/>
          <a:lstStyle/>
          <a:p>
            <a:pPr algn="ctr" indent="0" marL="0">
              <a:buNone/>
            </a:pPr>
            <a:r>
              <a:rPr lang="en-US" sz="1500" b="1" dirty="0">
                <a:solidFill>
                  <a:srgbClr val="17211C"/>
                </a:solidFill>
                <a:latin typeface="Calibri" pitchFamily="34" charset="0"/>
                <a:ea typeface="Calibri" pitchFamily="34" charset="-122"/>
                <a:cs typeface="Calibri" pitchFamily="34" charset="-120"/>
              </a:rPr>
              <a:t>Direction B</a:t>
            </a:r>
            <a:endParaRPr lang="en-US" sz="1500" dirty="0"/>
          </a:p>
        </p:txBody>
      </p:sp>
      <p:sp>
        <p:nvSpPr>
          <p:cNvPr id="21" name="Text 18"/>
          <p:cNvSpPr txBox="1"/>
          <p:nvPr/>
        </p:nvSpPr>
        <p:spPr>
          <a:xfrm>
            <a:off x="9171432" y="2450592"/>
            <a:ext cx="1920240" cy="228600"/>
          </a:xfrm>
          <a:prstGeom prst="rect">
            <a:avLst/>
          </a:prstGeom>
          <a:noFill/>
          <a:ln/>
        </p:spPr>
        <p:txBody>
          <a:bodyPr wrap="square" lIns="0" tIns="0" rIns="0" bIns="0" rtlCol="0" anchor="t"/>
          <a:lstStyle/>
          <a:p>
            <a:pPr algn="ctr" indent="0" marL="0">
              <a:buNone/>
            </a:pPr>
            <a:r>
              <a:rPr lang="en-US" sz="1100" dirty="0">
                <a:solidFill>
                  <a:srgbClr val="767A71"/>
                </a:solidFill>
                <a:latin typeface="Calibri" pitchFamily="34" charset="0"/>
                <a:ea typeface="Calibri" pitchFamily="34" charset="-122"/>
                <a:cs typeface="Calibri" pitchFamily="34" charset="-120"/>
              </a:rPr>
              <a:t>ex. SCA</a:t>
            </a:r>
            <a:endParaRPr lang="en-US" sz="1100" dirty="0"/>
          </a:p>
        </p:txBody>
      </p:sp>
      <p:sp>
        <p:nvSpPr>
          <p:cNvPr id="22" name="Shape 19"/>
          <p:cNvSpPr/>
          <p:nvPr/>
        </p:nvSpPr>
        <p:spPr>
          <a:xfrm>
            <a:off x="2523744" y="2400300"/>
            <a:ext cx="758952" cy="914"/>
          </a:xfrm>
          <a:prstGeom prst="line">
            <a:avLst/>
          </a:prstGeom>
          <a:noFill/>
          <a:ln w="15875">
            <a:solidFill>
              <a:srgbClr val="3F4842"/>
            </a:solidFill>
            <a:prstDash val="solid"/>
            <a:tailEnd type="triangle"/>
          </a:ln>
        </p:spPr>
      </p:sp>
      <p:sp>
        <p:nvSpPr>
          <p:cNvPr id="23" name="Text 20"/>
          <p:cNvSpPr txBox="1"/>
          <p:nvPr/>
        </p:nvSpPr>
        <p:spPr>
          <a:xfrm>
            <a:off x="2331720" y="2057400"/>
            <a:ext cx="1143000" cy="228600"/>
          </a:xfrm>
          <a:prstGeom prst="rect">
            <a:avLst/>
          </a:prstGeom>
          <a:noFill/>
          <a:ln/>
        </p:spPr>
        <p:txBody>
          <a:bodyPr wrap="square" lIns="0" tIns="0" rIns="0" bIns="0" rtlCol="0" anchor="t"/>
          <a:lstStyle/>
          <a:p>
            <a:pPr algn="ctr" indent="0" marL="0">
              <a:buNone/>
            </a:pPr>
            <a:r>
              <a:rPr lang="en-US" sz="1050" i="1" dirty="0">
                <a:solidFill>
                  <a:srgbClr val="767A71"/>
                </a:solidFill>
                <a:latin typeface="Calibri" pitchFamily="34" charset="0"/>
                <a:ea typeface="Calibri" pitchFamily="34" charset="-122"/>
                <a:cs typeface="Calibri" pitchFamily="34" charset="-120"/>
              </a:rPr>
              <a:t>enregistrement</a:t>
            </a:r>
            <a:endParaRPr lang="en-US" sz="1050" dirty="0"/>
          </a:p>
        </p:txBody>
      </p:sp>
      <p:sp>
        <p:nvSpPr>
          <p:cNvPr id="24" name="Shape 21"/>
          <p:cNvSpPr/>
          <p:nvPr/>
        </p:nvSpPr>
        <p:spPr>
          <a:xfrm>
            <a:off x="5312664" y="2400300"/>
            <a:ext cx="758952" cy="914"/>
          </a:xfrm>
          <a:prstGeom prst="line">
            <a:avLst/>
          </a:prstGeom>
          <a:noFill/>
          <a:ln w="15875">
            <a:solidFill>
              <a:srgbClr val="3F4842"/>
            </a:solidFill>
            <a:prstDash val="solid"/>
            <a:tailEnd type="triangle"/>
          </a:ln>
        </p:spPr>
      </p:sp>
      <p:sp>
        <p:nvSpPr>
          <p:cNvPr id="25" name="Text 22"/>
          <p:cNvSpPr txBox="1"/>
          <p:nvPr/>
        </p:nvSpPr>
        <p:spPr>
          <a:xfrm>
            <a:off x="5120640" y="2057400"/>
            <a:ext cx="1143000" cy="228600"/>
          </a:xfrm>
          <a:prstGeom prst="rect">
            <a:avLst/>
          </a:prstGeom>
          <a:noFill/>
          <a:ln/>
        </p:spPr>
        <p:txBody>
          <a:bodyPr wrap="square" lIns="0" tIns="0" rIns="0" bIns="0" rtlCol="0" anchor="t"/>
          <a:lstStyle/>
          <a:p>
            <a:pPr algn="ctr" indent="0" marL="0">
              <a:buNone/>
            </a:pPr>
            <a:r>
              <a:rPr lang="en-US" sz="1050" i="1" dirty="0">
                <a:solidFill>
                  <a:srgbClr val="767A71"/>
                </a:solidFill>
                <a:latin typeface="Calibri" pitchFamily="34" charset="0"/>
                <a:ea typeface="Calibri" pitchFamily="34" charset="-122"/>
                <a:cs typeface="Calibri" pitchFamily="34" charset="-120"/>
              </a:rPr>
              <a:t>affectation</a:t>
            </a:r>
            <a:endParaRPr lang="en-US" sz="1050" dirty="0"/>
          </a:p>
        </p:txBody>
      </p:sp>
      <p:sp>
        <p:nvSpPr>
          <p:cNvPr id="26" name="Shape 23"/>
          <p:cNvSpPr/>
          <p:nvPr/>
        </p:nvSpPr>
        <p:spPr>
          <a:xfrm>
            <a:off x="8101584" y="2400300"/>
            <a:ext cx="1014984" cy="914"/>
          </a:xfrm>
          <a:prstGeom prst="line">
            <a:avLst/>
          </a:prstGeom>
          <a:noFill/>
          <a:ln w="22225">
            <a:solidFill>
              <a:srgbClr val="1F4A3A"/>
            </a:solidFill>
            <a:prstDash val="solid"/>
            <a:headEnd type="triangle"/>
            <a:tailEnd type="triangle"/>
          </a:ln>
        </p:spPr>
      </p:sp>
      <p:sp>
        <p:nvSpPr>
          <p:cNvPr id="27" name="Text 24"/>
          <p:cNvSpPr txBox="1"/>
          <p:nvPr/>
        </p:nvSpPr>
        <p:spPr>
          <a:xfrm>
            <a:off x="7955280" y="2057400"/>
            <a:ext cx="1307592" cy="228600"/>
          </a:xfrm>
          <a:prstGeom prst="rect">
            <a:avLst/>
          </a:prstGeom>
          <a:noFill/>
          <a:ln/>
        </p:spPr>
        <p:txBody>
          <a:bodyPr wrap="square" lIns="0" tIns="0" rIns="0" bIns="0" rtlCol="0" anchor="t"/>
          <a:lstStyle/>
          <a:p>
            <a:pPr algn="ctr" indent="0" marL="0">
              <a:buNone/>
            </a:pPr>
            <a:r>
              <a:rPr lang="en-US" sz="1050" b="1" i="1" dirty="0">
                <a:solidFill>
                  <a:srgbClr val="1F4A3A"/>
                </a:solidFill>
                <a:latin typeface="Calibri" pitchFamily="34" charset="0"/>
                <a:ea typeface="Calibri" pitchFamily="34" charset="-122"/>
                <a:cs typeface="Calibri" pitchFamily="34" charset="-120"/>
              </a:rPr>
              <a:t>transfert</a:t>
            </a:r>
            <a:endParaRPr lang="en-US" sz="1050" dirty="0"/>
          </a:p>
        </p:txBody>
      </p:sp>
      <p:sp>
        <p:nvSpPr>
          <p:cNvPr id="28" name="Text 25"/>
          <p:cNvSpPr txBox="1"/>
          <p:nvPr/>
        </p:nvSpPr>
        <p:spPr>
          <a:xfrm>
            <a:off x="6126480" y="2880360"/>
            <a:ext cx="4965192" cy="228600"/>
          </a:xfrm>
          <a:prstGeom prst="rect">
            <a:avLst/>
          </a:prstGeom>
          <a:noFill/>
          <a:ln/>
        </p:spPr>
        <p:txBody>
          <a:bodyPr wrap="square" lIns="0" tIns="0" rIns="0" bIns="0" rtlCol="0" anchor="t"/>
          <a:lstStyle/>
          <a:p>
            <a:pPr algn="ctr" indent="0" marL="0">
              <a:buNone/>
            </a:pPr>
            <a:r>
              <a:rPr lang="en-US" sz="1050" i="1" dirty="0">
                <a:solidFill>
                  <a:srgbClr val="1F4A3A"/>
                </a:solidFill>
                <a:latin typeface="Calibri" pitchFamily="34" charset="0"/>
                <a:ea typeface="Calibri" pitchFamily="34" charset="-122"/>
                <a:cs typeface="Calibri" pitchFamily="34" charset="-120"/>
              </a:rPr>
              <a:t>seulement après validation des deux responsables</a:t>
            </a:r>
            <a:endParaRPr lang="en-US" sz="1050" dirty="0"/>
          </a:p>
        </p:txBody>
      </p:sp>
      <p:sp>
        <p:nvSpPr>
          <p:cNvPr id="29" name="Text 26"/>
          <p:cNvSpPr txBox="1"/>
          <p:nvPr/>
        </p:nvSpPr>
        <p:spPr>
          <a:xfrm>
            <a:off x="548640" y="3310128"/>
            <a:ext cx="2743200" cy="228600"/>
          </a:xfrm>
          <a:prstGeom prst="rect">
            <a:avLst/>
          </a:prstGeom>
          <a:noFill/>
          <a:ln/>
        </p:spPr>
        <p:txBody>
          <a:bodyPr wrap="square" lIns="0" tIns="0" rIns="0" bIns="0" rtlCol="0" anchor="t"/>
          <a:lstStyle/>
          <a:p>
            <a:pPr indent="0" marL="0">
              <a:buNone/>
            </a:pPr>
            <a:r>
              <a:rPr lang="en-US" sz="1000" b="1" spc="200" kern="0" dirty="0">
                <a:solidFill>
                  <a:srgbClr val="1F4A3A"/>
                </a:solidFill>
                <a:latin typeface="Consolas" pitchFamily="34" charset="0"/>
                <a:ea typeface="Consolas" pitchFamily="34" charset="-122"/>
                <a:cs typeface="Consolas" pitchFamily="34" charset="-120"/>
              </a:rPr>
              <a:t>ÉTAT</a:t>
            </a:r>
            <a:endParaRPr lang="en-US" sz="1000" dirty="0"/>
          </a:p>
        </p:txBody>
      </p:sp>
      <p:sp>
        <p:nvSpPr>
          <p:cNvPr id="30" name="Shape 27"/>
          <p:cNvSpPr/>
          <p:nvPr/>
        </p:nvSpPr>
        <p:spPr>
          <a:xfrm>
            <a:off x="640080" y="4526280"/>
            <a:ext cx="2011680" cy="566928"/>
          </a:xfrm>
          <a:prstGeom prst="rect">
            <a:avLst/>
          </a:prstGeom>
          <a:solidFill>
            <a:srgbClr val="FBF9F4"/>
          </a:solidFill>
          <a:ln w="25400">
            <a:solidFill>
              <a:srgbClr val="2E7250"/>
            </a:solidFill>
            <a:prstDash val="solid"/>
          </a:ln>
        </p:spPr>
      </p:sp>
      <p:sp>
        <p:nvSpPr>
          <p:cNvPr id="31" name="Shape 28"/>
          <p:cNvSpPr/>
          <p:nvPr/>
        </p:nvSpPr>
        <p:spPr>
          <a:xfrm>
            <a:off x="685800" y="4572000"/>
            <a:ext cx="1920240" cy="475488"/>
          </a:xfrm>
          <a:prstGeom prst="rect">
            <a:avLst/>
          </a:prstGeom>
          <a:solidFill>
            <a:srgbClr val="FBF9F4"/>
          </a:solidFill>
          <a:ln w="9525">
            <a:solidFill>
              <a:srgbClr val="2E7250"/>
            </a:solidFill>
            <a:prstDash val="solid"/>
          </a:ln>
        </p:spPr>
      </p:sp>
      <p:sp>
        <p:nvSpPr>
          <p:cNvPr id="32" name="Text 29"/>
          <p:cNvSpPr txBox="1"/>
          <p:nvPr/>
        </p:nvSpPr>
        <p:spPr>
          <a:xfrm>
            <a:off x="640080" y="4526280"/>
            <a:ext cx="2011680" cy="566928"/>
          </a:xfrm>
          <a:prstGeom prst="rect">
            <a:avLst/>
          </a:prstGeom>
          <a:noFill/>
          <a:ln/>
        </p:spPr>
        <p:txBody>
          <a:bodyPr wrap="square" lIns="0" tIns="0" rIns="0" bIns="0" rtlCol="0" anchor="ctr"/>
          <a:lstStyle/>
          <a:p>
            <a:pPr algn="ctr" indent="0" marL="0">
              <a:buNone/>
            </a:pPr>
            <a:r>
              <a:rPr lang="en-US" sz="1300" b="1" spc="200" kern="0" dirty="0">
                <a:solidFill>
                  <a:srgbClr val="2E7250"/>
                </a:solidFill>
                <a:latin typeface="Consolas" pitchFamily="34" charset="0"/>
                <a:ea typeface="Consolas" pitchFamily="34" charset="-122"/>
                <a:cs typeface="Consolas" pitchFamily="34" charset="-120"/>
              </a:rPr>
              <a:t>EN SERVICE</a:t>
            </a:r>
            <a:endParaRPr lang="en-US" sz="1300" dirty="0"/>
          </a:p>
        </p:txBody>
      </p:sp>
      <p:sp>
        <p:nvSpPr>
          <p:cNvPr id="33" name="Shape 30"/>
          <p:cNvSpPr/>
          <p:nvPr/>
        </p:nvSpPr>
        <p:spPr>
          <a:xfrm>
            <a:off x="3840480" y="3703320"/>
            <a:ext cx="2011680" cy="566928"/>
          </a:xfrm>
          <a:prstGeom prst="rect">
            <a:avLst/>
          </a:prstGeom>
          <a:solidFill>
            <a:srgbClr val="FBF9F4"/>
          </a:solidFill>
          <a:ln w="25400">
            <a:solidFill>
              <a:srgbClr val="B23A2A"/>
            </a:solidFill>
            <a:prstDash val="solid"/>
          </a:ln>
        </p:spPr>
      </p:sp>
      <p:sp>
        <p:nvSpPr>
          <p:cNvPr id="34" name="Shape 31"/>
          <p:cNvSpPr/>
          <p:nvPr/>
        </p:nvSpPr>
        <p:spPr>
          <a:xfrm>
            <a:off x="3886200" y="3749040"/>
            <a:ext cx="1920240" cy="475488"/>
          </a:xfrm>
          <a:prstGeom prst="rect">
            <a:avLst/>
          </a:prstGeom>
          <a:solidFill>
            <a:srgbClr val="FBF9F4"/>
          </a:solidFill>
          <a:ln w="9525">
            <a:solidFill>
              <a:srgbClr val="B23A2A"/>
            </a:solidFill>
            <a:prstDash val="solid"/>
          </a:ln>
        </p:spPr>
      </p:sp>
      <p:sp>
        <p:nvSpPr>
          <p:cNvPr id="35" name="Text 32"/>
          <p:cNvSpPr txBox="1"/>
          <p:nvPr/>
        </p:nvSpPr>
        <p:spPr>
          <a:xfrm>
            <a:off x="3840480" y="3703320"/>
            <a:ext cx="2011680" cy="566928"/>
          </a:xfrm>
          <a:prstGeom prst="rect">
            <a:avLst/>
          </a:prstGeom>
          <a:noFill/>
          <a:ln/>
        </p:spPr>
        <p:txBody>
          <a:bodyPr wrap="square" lIns="0" tIns="0" rIns="0" bIns="0" rtlCol="0" anchor="ctr"/>
          <a:lstStyle/>
          <a:p>
            <a:pPr algn="ctr" indent="0" marL="0">
              <a:buNone/>
            </a:pPr>
            <a:r>
              <a:rPr lang="en-US" sz="1300" b="1" spc="200" kern="0" dirty="0">
                <a:solidFill>
                  <a:srgbClr val="B23A2A"/>
                </a:solidFill>
                <a:latin typeface="Consolas" pitchFamily="34" charset="0"/>
                <a:ea typeface="Consolas" pitchFamily="34" charset="-122"/>
                <a:cs typeface="Consolas" pitchFamily="34" charset="-120"/>
              </a:rPr>
              <a:t>EN PANNE</a:t>
            </a:r>
            <a:endParaRPr lang="en-US" sz="1300" dirty="0"/>
          </a:p>
        </p:txBody>
      </p:sp>
      <p:sp>
        <p:nvSpPr>
          <p:cNvPr id="36" name="Shape 33"/>
          <p:cNvSpPr/>
          <p:nvPr/>
        </p:nvSpPr>
        <p:spPr>
          <a:xfrm>
            <a:off x="3840480" y="5349240"/>
            <a:ext cx="2286000" cy="566928"/>
          </a:xfrm>
          <a:prstGeom prst="rect">
            <a:avLst/>
          </a:prstGeom>
          <a:solidFill>
            <a:srgbClr val="FBF9F4"/>
          </a:solidFill>
          <a:ln w="25400">
            <a:solidFill>
              <a:srgbClr val="B27416"/>
            </a:solidFill>
            <a:prstDash val="solid"/>
          </a:ln>
        </p:spPr>
      </p:sp>
      <p:sp>
        <p:nvSpPr>
          <p:cNvPr id="37" name="Shape 34"/>
          <p:cNvSpPr/>
          <p:nvPr/>
        </p:nvSpPr>
        <p:spPr>
          <a:xfrm>
            <a:off x="3886200" y="5394960"/>
            <a:ext cx="2194560" cy="475488"/>
          </a:xfrm>
          <a:prstGeom prst="rect">
            <a:avLst/>
          </a:prstGeom>
          <a:solidFill>
            <a:srgbClr val="FBF9F4"/>
          </a:solidFill>
          <a:ln w="9525">
            <a:solidFill>
              <a:srgbClr val="B27416"/>
            </a:solidFill>
            <a:prstDash val="solid"/>
          </a:ln>
        </p:spPr>
      </p:sp>
      <p:sp>
        <p:nvSpPr>
          <p:cNvPr id="38" name="Text 35"/>
          <p:cNvSpPr txBox="1"/>
          <p:nvPr/>
        </p:nvSpPr>
        <p:spPr>
          <a:xfrm>
            <a:off x="3840480" y="5349240"/>
            <a:ext cx="2286000" cy="566928"/>
          </a:xfrm>
          <a:prstGeom prst="rect">
            <a:avLst/>
          </a:prstGeom>
          <a:noFill/>
          <a:ln/>
        </p:spPr>
        <p:txBody>
          <a:bodyPr wrap="square" lIns="0" tIns="0" rIns="0" bIns="0" rtlCol="0" anchor="ctr"/>
          <a:lstStyle/>
          <a:p>
            <a:pPr algn="ctr" indent="0" marL="0">
              <a:buNone/>
            </a:pPr>
            <a:r>
              <a:rPr lang="en-US" sz="1300" b="1" spc="200" kern="0" dirty="0">
                <a:solidFill>
                  <a:srgbClr val="B27416"/>
                </a:solidFill>
                <a:latin typeface="Consolas" pitchFamily="34" charset="0"/>
                <a:ea typeface="Consolas" pitchFamily="34" charset="-122"/>
                <a:cs typeface="Consolas" pitchFamily="34" charset="-120"/>
              </a:rPr>
              <a:t>EN RÉPARATION</a:t>
            </a:r>
            <a:endParaRPr lang="en-US" sz="1300" dirty="0"/>
          </a:p>
        </p:txBody>
      </p:sp>
      <p:sp>
        <p:nvSpPr>
          <p:cNvPr id="39" name="Shape 36"/>
          <p:cNvSpPr/>
          <p:nvPr/>
        </p:nvSpPr>
        <p:spPr>
          <a:xfrm>
            <a:off x="7132320" y="3703320"/>
            <a:ext cx="2011680" cy="566928"/>
          </a:xfrm>
          <a:prstGeom prst="rect">
            <a:avLst/>
          </a:prstGeom>
          <a:solidFill>
            <a:srgbClr val="FBF9F4"/>
          </a:solidFill>
          <a:ln w="25400">
            <a:solidFill>
              <a:srgbClr val="6E6D66"/>
            </a:solidFill>
            <a:prstDash val="solid"/>
          </a:ln>
        </p:spPr>
      </p:sp>
      <p:sp>
        <p:nvSpPr>
          <p:cNvPr id="40" name="Shape 37"/>
          <p:cNvSpPr/>
          <p:nvPr/>
        </p:nvSpPr>
        <p:spPr>
          <a:xfrm>
            <a:off x="7178040" y="3749040"/>
            <a:ext cx="1920240" cy="475488"/>
          </a:xfrm>
          <a:prstGeom prst="rect">
            <a:avLst/>
          </a:prstGeom>
          <a:solidFill>
            <a:srgbClr val="FBF9F4"/>
          </a:solidFill>
          <a:ln w="9525">
            <a:solidFill>
              <a:srgbClr val="6E6D66"/>
            </a:solidFill>
            <a:prstDash val="solid"/>
          </a:ln>
        </p:spPr>
      </p:sp>
      <p:sp>
        <p:nvSpPr>
          <p:cNvPr id="41" name="Text 38"/>
          <p:cNvSpPr txBox="1"/>
          <p:nvPr/>
        </p:nvSpPr>
        <p:spPr>
          <a:xfrm>
            <a:off x="7132320" y="3703320"/>
            <a:ext cx="2011680" cy="566928"/>
          </a:xfrm>
          <a:prstGeom prst="rect">
            <a:avLst/>
          </a:prstGeom>
          <a:noFill/>
          <a:ln/>
        </p:spPr>
        <p:txBody>
          <a:bodyPr wrap="square" lIns="0" tIns="0" rIns="0" bIns="0" rtlCol="0" anchor="ctr"/>
          <a:lstStyle/>
          <a:p>
            <a:pPr algn="ctr" indent="0" marL="0">
              <a:buNone/>
            </a:pPr>
            <a:r>
              <a:rPr lang="en-US" sz="1300" b="1" spc="200" kern="0" dirty="0">
                <a:solidFill>
                  <a:srgbClr val="6E6D66"/>
                </a:solidFill>
                <a:latin typeface="Consolas" pitchFamily="34" charset="0"/>
                <a:ea typeface="Consolas" pitchFamily="34" charset="-122"/>
                <a:cs typeface="Consolas" pitchFamily="34" charset="-120"/>
              </a:rPr>
              <a:t>RÉFORMÉ</a:t>
            </a:r>
            <a:endParaRPr lang="en-US" sz="1300" dirty="0"/>
          </a:p>
        </p:txBody>
      </p:sp>
      <p:sp>
        <p:nvSpPr>
          <p:cNvPr id="42" name="Shape 39"/>
          <p:cNvSpPr/>
          <p:nvPr/>
        </p:nvSpPr>
        <p:spPr>
          <a:xfrm flipV="1">
            <a:off x="2697480" y="4087368"/>
            <a:ext cx="1069848" cy="548640"/>
          </a:xfrm>
          <a:prstGeom prst="line">
            <a:avLst/>
          </a:prstGeom>
          <a:noFill/>
          <a:ln w="15875">
            <a:solidFill>
              <a:srgbClr val="3F4842"/>
            </a:solidFill>
            <a:prstDash val="solid"/>
            <a:tailEnd type="triangle"/>
          </a:ln>
        </p:spPr>
      </p:sp>
      <p:sp>
        <p:nvSpPr>
          <p:cNvPr id="43" name="Text 40"/>
          <p:cNvSpPr txBox="1"/>
          <p:nvPr/>
        </p:nvSpPr>
        <p:spPr>
          <a:xfrm>
            <a:off x="2331720" y="3794760"/>
            <a:ext cx="1280160" cy="228600"/>
          </a:xfrm>
          <a:prstGeom prst="rect">
            <a:avLst/>
          </a:prstGeom>
          <a:noFill/>
          <a:ln/>
        </p:spPr>
        <p:txBody>
          <a:bodyPr wrap="square" lIns="0" tIns="0" rIns="0" bIns="0" rtlCol="0" anchor="t"/>
          <a:lstStyle/>
          <a:p>
            <a:pPr indent="0" marL="0">
              <a:buNone/>
            </a:pPr>
            <a:r>
              <a:rPr lang="en-US" sz="1050" i="1" dirty="0">
                <a:solidFill>
                  <a:srgbClr val="767A71"/>
                </a:solidFill>
                <a:latin typeface="Calibri" pitchFamily="34" charset="0"/>
                <a:ea typeface="Calibri" pitchFamily="34" charset="-122"/>
                <a:cs typeface="Calibri" pitchFamily="34" charset="-120"/>
              </a:rPr>
              <a:t>signalement</a:t>
            </a:r>
            <a:endParaRPr lang="en-US" sz="1050" dirty="0"/>
          </a:p>
        </p:txBody>
      </p:sp>
      <p:sp>
        <p:nvSpPr>
          <p:cNvPr id="44" name="Shape 41"/>
          <p:cNvSpPr/>
          <p:nvPr/>
        </p:nvSpPr>
        <p:spPr>
          <a:xfrm>
            <a:off x="4846320" y="4325112"/>
            <a:ext cx="914" cy="969264"/>
          </a:xfrm>
          <a:prstGeom prst="line">
            <a:avLst/>
          </a:prstGeom>
          <a:noFill/>
          <a:ln w="15875">
            <a:solidFill>
              <a:srgbClr val="3F4842"/>
            </a:solidFill>
            <a:prstDash val="solid"/>
            <a:tailEnd type="triangle"/>
          </a:ln>
        </p:spPr>
      </p:sp>
      <p:sp>
        <p:nvSpPr>
          <p:cNvPr id="45" name="Text 42"/>
          <p:cNvSpPr txBox="1"/>
          <p:nvPr/>
        </p:nvSpPr>
        <p:spPr>
          <a:xfrm>
            <a:off x="4983480" y="4754880"/>
            <a:ext cx="1463040" cy="228600"/>
          </a:xfrm>
          <a:prstGeom prst="rect">
            <a:avLst/>
          </a:prstGeom>
          <a:noFill/>
          <a:ln/>
        </p:spPr>
        <p:txBody>
          <a:bodyPr wrap="square" lIns="0" tIns="0" rIns="0" bIns="0" rtlCol="0" anchor="t"/>
          <a:lstStyle/>
          <a:p>
            <a:pPr indent="0" marL="0">
              <a:buNone/>
            </a:pPr>
            <a:r>
              <a:rPr lang="en-US" sz="1050" i="1" dirty="0">
                <a:solidFill>
                  <a:srgbClr val="767A71"/>
                </a:solidFill>
                <a:latin typeface="Calibri" pitchFamily="34" charset="0"/>
                <a:ea typeface="Calibri" pitchFamily="34" charset="-122"/>
                <a:cs typeface="Calibri" pitchFamily="34" charset="-120"/>
              </a:rPr>
              <a:t>prise en charge</a:t>
            </a:r>
            <a:endParaRPr lang="en-US" sz="1050" dirty="0"/>
          </a:p>
        </p:txBody>
      </p:sp>
      <p:sp>
        <p:nvSpPr>
          <p:cNvPr id="46" name="Shape 43"/>
          <p:cNvSpPr/>
          <p:nvPr/>
        </p:nvSpPr>
        <p:spPr>
          <a:xfrm flipH="1" flipV="1">
            <a:off x="2697480" y="4983480"/>
            <a:ext cx="1069848" cy="548640"/>
          </a:xfrm>
          <a:prstGeom prst="line">
            <a:avLst/>
          </a:prstGeom>
          <a:noFill/>
          <a:ln w="15875">
            <a:solidFill>
              <a:srgbClr val="3F4842"/>
            </a:solidFill>
            <a:prstDash val="solid"/>
            <a:tailEnd type="triangle"/>
          </a:ln>
        </p:spPr>
      </p:sp>
      <p:sp>
        <p:nvSpPr>
          <p:cNvPr id="47" name="Text 44"/>
          <p:cNvSpPr txBox="1"/>
          <p:nvPr/>
        </p:nvSpPr>
        <p:spPr>
          <a:xfrm>
            <a:off x="2514600" y="5440680"/>
            <a:ext cx="914400" cy="228600"/>
          </a:xfrm>
          <a:prstGeom prst="rect">
            <a:avLst/>
          </a:prstGeom>
          <a:noFill/>
          <a:ln/>
        </p:spPr>
        <p:txBody>
          <a:bodyPr wrap="square" lIns="0" tIns="0" rIns="0" bIns="0" rtlCol="0" anchor="t"/>
          <a:lstStyle/>
          <a:p>
            <a:pPr indent="0" marL="0">
              <a:buNone/>
            </a:pPr>
            <a:r>
              <a:rPr lang="en-US" sz="1050" i="1" dirty="0">
                <a:solidFill>
                  <a:srgbClr val="767A71"/>
                </a:solidFill>
                <a:latin typeface="Calibri" pitchFamily="34" charset="0"/>
                <a:ea typeface="Calibri" pitchFamily="34" charset="-122"/>
                <a:cs typeface="Calibri" pitchFamily="34" charset="-120"/>
              </a:rPr>
              <a:t>retour</a:t>
            </a:r>
            <a:endParaRPr lang="en-US" sz="1050" dirty="0"/>
          </a:p>
        </p:txBody>
      </p:sp>
      <p:sp>
        <p:nvSpPr>
          <p:cNvPr id="48" name="Shape 45"/>
          <p:cNvSpPr/>
          <p:nvPr/>
        </p:nvSpPr>
        <p:spPr>
          <a:xfrm>
            <a:off x="5907024" y="3986784"/>
            <a:ext cx="1170432" cy="914"/>
          </a:xfrm>
          <a:prstGeom prst="line">
            <a:avLst/>
          </a:prstGeom>
          <a:noFill/>
          <a:ln w="15875">
            <a:solidFill>
              <a:srgbClr val="6E6D66"/>
            </a:solidFill>
            <a:prstDash val="solid"/>
            <a:tailEnd type="triangle"/>
          </a:ln>
        </p:spPr>
      </p:sp>
      <p:sp>
        <p:nvSpPr>
          <p:cNvPr id="49" name="Text 46"/>
          <p:cNvSpPr txBox="1"/>
          <p:nvPr/>
        </p:nvSpPr>
        <p:spPr>
          <a:xfrm>
            <a:off x="5897880" y="3721608"/>
            <a:ext cx="1280160" cy="228600"/>
          </a:xfrm>
          <a:prstGeom prst="rect">
            <a:avLst/>
          </a:prstGeom>
          <a:noFill/>
          <a:ln/>
        </p:spPr>
        <p:txBody>
          <a:bodyPr wrap="square" lIns="0" tIns="0" rIns="0" bIns="0" rtlCol="0" anchor="t"/>
          <a:lstStyle/>
          <a:p>
            <a:pPr algn="ctr" indent="0" marL="0">
              <a:buNone/>
            </a:pPr>
            <a:r>
              <a:rPr lang="en-US" sz="1050" i="1" dirty="0">
                <a:solidFill>
                  <a:srgbClr val="767A71"/>
                </a:solidFill>
                <a:latin typeface="Calibri" pitchFamily="34" charset="0"/>
                <a:ea typeface="Calibri" pitchFamily="34" charset="-122"/>
                <a:cs typeface="Calibri" pitchFamily="34" charset="-120"/>
              </a:rPr>
              <a:t>réforme</a:t>
            </a:r>
            <a:endParaRPr lang="en-US" sz="1050" dirty="0"/>
          </a:p>
        </p:txBody>
      </p:sp>
      <p:sp>
        <p:nvSpPr>
          <p:cNvPr id="50" name="Text 47"/>
          <p:cNvSpPr txBox="1"/>
          <p:nvPr/>
        </p:nvSpPr>
        <p:spPr>
          <a:xfrm>
            <a:off x="7132320" y="4343400"/>
            <a:ext cx="2011680" cy="228600"/>
          </a:xfrm>
          <a:prstGeom prst="rect">
            <a:avLst/>
          </a:prstGeom>
          <a:noFill/>
          <a:ln/>
        </p:spPr>
        <p:txBody>
          <a:bodyPr wrap="square" lIns="0" tIns="0" rIns="0" bIns="0" rtlCol="0" anchor="t"/>
          <a:lstStyle/>
          <a:p>
            <a:pPr algn="ctr" indent="0" marL="0">
              <a:buNone/>
            </a:pPr>
            <a:r>
              <a:rPr lang="en-US" sz="1050" i="1" dirty="0">
                <a:solidFill>
                  <a:srgbClr val="6E6D66"/>
                </a:solidFill>
                <a:latin typeface="Calibri" pitchFamily="34" charset="0"/>
                <a:ea typeface="Calibri" pitchFamily="34" charset="-122"/>
                <a:cs typeface="Calibri" pitchFamily="34" charset="-120"/>
              </a:rPr>
              <a:t>définitif</a:t>
            </a:r>
            <a:endParaRPr lang="en-US" sz="1050" dirty="0"/>
          </a:p>
        </p:txBody>
      </p:sp>
      <p:sp>
        <p:nvSpPr>
          <p:cNvPr id="51" name="Shape 48"/>
          <p:cNvSpPr/>
          <p:nvPr/>
        </p:nvSpPr>
        <p:spPr>
          <a:xfrm>
            <a:off x="9464040" y="3611880"/>
            <a:ext cx="2179015" cy="2331720"/>
          </a:xfrm>
          <a:prstGeom prst="rect">
            <a:avLst/>
          </a:prstGeom>
          <a:solidFill>
            <a:srgbClr val="FFFDF7"/>
          </a:solidFill>
          <a:ln w="9525">
            <a:solidFill>
              <a:srgbClr val="DCD5C6"/>
            </a:solidFill>
            <a:prstDash val="solid"/>
          </a:ln>
          <a:effectLst>
            <a:outerShdw sx="100000" sy="100000" kx="0" ky="0" algn="bl" rotWithShape="0" blurRad="76200" dist="19050" dir="5400000">
              <a:srgbClr val="1A2E25">
                <a:alpha val="8000"/>
              </a:srgbClr>
            </a:outerShdw>
          </a:effectLst>
        </p:spPr>
      </p:sp>
      <p:sp>
        <p:nvSpPr>
          <p:cNvPr id="52" name="Text 49"/>
          <p:cNvSpPr txBox="1"/>
          <p:nvPr/>
        </p:nvSpPr>
        <p:spPr>
          <a:xfrm>
            <a:off x="9692640" y="3794760"/>
            <a:ext cx="1783080" cy="731520"/>
          </a:xfrm>
          <a:prstGeom prst="rect">
            <a:avLst/>
          </a:prstGeom>
          <a:noFill/>
          <a:ln/>
        </p:spPr>
        <p:txBody>
          <a:bodyPr wrap="square" lIns="0" tIns="0" rIns="0" bIns="0" rtlCol="0" anchor="t"/>
          <a:lstStyle/>
          <a:p>
            <a:pPr indent="0" marL="0">
              <a:buNone/>
            </a:pPr>
            <a:r>
              <a:rPr lang="en-US" sz="1400" dirty="0">
                <a:solidFill>
                  <a:srgbClr val="17211C"/>
                </a:solidFill>
                <a:latin typeface="Georgia" pitchFamily="34" charset="0"/>
                <a:ea typeface="Georgia" pitchFamily="34" charset="-122"/>
                <a:cs typeface="Georgia" pitchFamily="34" charset="-120"/>
              </a:rPr>
              <a:t>Chaque flèche = une ligne dans la table mouvements</a:t>
            </a:r>
            <a:endParaRPr lang="en-US" sz="1400" dirty="0"/>
          </a:p>
        </p:txBody>
      </p:sp>
      <p:sp>
        <p:nvSpPr>
          <p:cNvPr id="53" name="Text 50"/>
          <p:cNvSpPr txBox="1"/>
          <p:nvPr/>
        </p:nvSpPr>
        <p:spPr>
          <a:xfrm>
            <a:off x="9692640" y="4572000"/>
            <a:ext cx="1783080" cy="1188720"/>
          </a:xfrm>
          <a:prstGeom prst="rect">
            <a:avLst/>
          </a:prstGeom>
          <a:noFill/>
          <a:ln/>
        </p:spPr>
        <p:txBody>
          <a:bodyPr wrap="square" lIns="0" tIns="0" rIns="0" bIns="0" rtlCol="0" anchor="t"/>
          <a:lstStyle/>
          <a:p>
            <a:pPr indent="0" marL="0">
              <a:buNone/>
            </a:pPr>
            <a:r>
              <a:rPr lang="en-US" sz="950" dirty="0">
                <a:solidFill>
                  <a:srgbClr val="3F4842"/>
                </a:solidFill>
                <a:latin typeface="Consolas" pitchFamily="34" charset="0"/>
                <a:ea typeface="Consolas" pitchFamily="34" charset="-122"/>
                <a:cs typeface="Consolas" pitchFamily="34" charset="-120"/>
              </a:rPr>
              <a:t>date · matériel · direction de départ · direction d'arrivée · état avant / après · observation · auteur</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EFE6"/>
        </a:solidFill>
      </p:bgPr>
    </p:bg>
    <p:spTree>
      <p:nvGrpSpPr>
        <p:cNvPr id="1" name=""/>
        <p:cNvGrpSpPr/>
        <p:nvPr/>
      </p:nvGrpSpPr>
      <p:grpSpPr>
        <a:xfrm>
          <a:off x="0" y="0"/>
          <a:ext cx="0" cy="0"/>
          <a:chOff x="0" y="0"/>
          <a:chExt cx="0" cy="0"/>
        </a:xfrm>
      </p:grpSpPr>
      <p:sp>
        <p:nvSpPr>
          <p:cNvPr id="2" name="Shape 0"/>
          <p:cNvSpPr/>
          <p:nvPr/>
        </p:nvSpPr>
        <p:spPr>
          <a:xfrm>
            <a:off x="548640" y="384048"/>
            <a:ext cx="2487168" cy="274320"/>
          </a:xfrm>
          <a:prstGeom prst="roundRect">
            <a:avLst>
              <a:gd name="adj" fmla="val 16667"/>
            </a:avLst>
          </a:prstGeom>
          <a:solidFill>
            <a:srgbClr val="FFFDF7"/>
          </a:solidFill>
          <a:ln w="9525">
            <a:solidFill>
              <a:srgbClr val="CBC2AD"/>
            </a:solidFill>
            <a:prstDash val="solid"/>
          </a:ln>
        </p:spPr>
      </p:sp>
      <p:sp>
        <p:nvSpPr>
          <p:cNvPr id="3" name="Shape 1"/>
          <p:cNvSpPr/>
          <p:nvPr/>
        </p:nvSpPr>
        <p:spPr>
          <a:xfrm>
            <a:off x="640080" y="489204"/>
            <a:ext cx="64008" cy="64008"/>
          </a:xfrm>
          <a:prstGeom prst="ellipse">
            <a:avLst/>
          </a:prstGeom>
          <a:solidFill>
            <a:srgbClr val="F3EFE6"/>
          </a:solidFill>
          <a:ln w="9525">
            <a:solidFill>
              <a:srgbClr val="CBC2AD"/>
            </a:solidFill>
            <a:prstDash val="solid"/>
          </a:ln>
        </p:spPr>
      </p:sp>
      <p:sp>
        <p:nvSpPr>
          <p:cNvPr id="4" name="Text 2"/>
          <p:cNvSpPr txBox="1"/>
          <p:nvPr/>
        </p:nvSpPr>
        <p:spPr>
          <a:xfrm>
            <a:off x="768096" y="384048"/>
            <a:ext cx="2249424" cy="274320"/>
          </a:xfrm>
          <a:prstGeom prst="rect">
            <a:avLst/>
          </a:prstGeom>
          <a:noFill/>
          <a:ln/>
        </p:spPr>
        <p:txBody>
          <a:bodyPr wrap="none" lIns="0" tIns="0" rIns="0" bIns="0" rtlCol="0" anchor="ctr"/>
          <a:lstStyle/>
          <a:p>
            <a:pPr indent="0" marL="0">
              <a:buNone/>
            </a:pPr>
            <a:r>
              <a:rPr lang="en-US" sz="1000" spc="100" kern="0" dirty="0">
                <a:solidFill>
                  <a:srgbClr val="17211C"/>
                </a:solidFill>
                <a:latin typeface="Consolas" pitchFamily="34" charset="0"/>
                <a:ea typeface="Consolas" pitchFamily="34" charset="-122"/>
                <a:cs typeface="Consolas" pitchFamily="34" charset="-120"/>
              </a:rPr>
              <a:t>03 · CAHIER DES CHARGES</a:t>
            </a:r>
            <a:endParaRPr lang="en-US" sz="1000" dirty="0"/>
          </a:p>
        </p:txBody>
      </p:sp>
      <p:sp>
        <p:nvSpPr>
          <p:cNvPr id="5" name="Text 3"/>
          <p:cNvSpPr txBox="1"/>
          <p:nvPr/>
        </p:nvSpPr>
        <p:spPr>
          <a:xfrm>
            <a:off x="548640" y="786384"/>
            <a:ext cx="11094415" cy="731520"/>
          </a:xfrm>
          <a:prstGeom prst="rect">
            <a:avLst/>
          </a:prstGeom>
          <a:noFill/>
          <a:ln/>
        </p:spPr>
        <p:txBody>
          <a:bodyPr wrap="square" lIns="0" tIns="0" rIns="0" bIns="0" rtlCol="0" anchor="ctr"/>
          <a:lstStyle/>
          <a:p>
            <a:pPr indent="0" marL="0">
              <a:buNone/>
            </a:pPr>
            <a:r>
              <a:rPr lang="en-US" sz="3200" dirty="0">
                <a:solidFill>
                  <a:srgbClr val="17211C"/>
                </a:solidFill>
                <a:latin typeface="Georgia" pitchFamily="34" charset="0"/>
                <a:ea typeface="Georgia" pitchFamily="34" charset="-122"/>
                <a:cs typeface="Georgia" pitchFamily="34" charset="-120"/>
              </a:rPr>
              <a:t>Chaque demande du sujet, et sa réponse</a:t>
            </a:r>
            <a:endParaRPr lang="en-US" sz="3200" dirty="0"/>
          </a:p>
        </p:txBody>
      </p:sp>
      <p:sp>
        <p:nvSpPr>
          <p:cNvPr id="7" name="Text 4"/>
          <p:cNvSpPr txBox="1"/>
          <p:nvPr/>
        </p:nvSpPr>
        <p:spPr>
          <a:xfrm>
            <a:off x="10545775" y="6473952"/>
            <a:ext cx="1097280" cy="228600"/>
          </a:xfrm>
          <a:prstGeom prst="rect">
            <a:avLst/>
          </a:prstGeom>
          <a:noFill/>
          <a:ln/>
        </p:spPr>
        <p:txBody>
          <a:bodyPr wrap="square" lIns="0" tIns="0" rIns="0" bIns="0" rtlCol="0" anchor="t"/>
          <a:lstStyle/>
          <a:p>
            <a:pPr algn="r" indent="0" marL="0">
              <a:buNone/>
            </a:pPr>
            <a:r>
              <a:rPr lang="en-US" sz="900" dirty="0">
                <a:solidFill>
                  <a:srgbClr val="767A71"/>
                </a:solidFill>
                <a:latin typeface="Consolas" pitchFamily="34" charset="0"/>
                <a:ea typeface="Consolas" pitchFamily="34" charset="-122"/>
                <a:cs typeface="Consolas" pitchFamily="34" charset="-120"/>
              </a:rPr>
              <a:t>04 / 17</a:t>
            </a:r>
            <a:endParaRPr lang="en-US" sz="900" dirty="0"/>
          </a:p>
        </p:txBody>
      </p:sp>
      <p:sp>
        <p:nvSpPr>
          <p:cNvPr id="8" name="Text 5"/>
          <p:cNvSpPr txBox="1"/>
          <p:nvPr/>
        </p:nvSpPr>
        <p:spPr>
          <a:xfrm>
            <a:off x="548640" y="6473952"/>
            <a:ext cx="1828800" cy="228600"/>
          </a:xfrm>
          <a:prstGeom prst="rect">
            <a:avLst/>
          </a:prstGeom>
          <a:noFill/>
          <a:ln/>
        </p:spPr>
        <p:txBody>
          <a:bodyPr wrap="square" lIns="0" tIns="0" rIns="0" bIns="0" rtlCol="0" anchor="t"/>
          <a:lstStyle/>
          <a:p>
            <a:pPr indent="0" marL="0">
              <a:buNone/>
            </a:pPr>
            <a:r>
              <a:rPr lang="en-US" sz="1000" i="1" dirty="0">
                <a:solidFill>
                  <a:srgbClr val="767A71"/>
                </a:solidFill>
                <a:latin typeface="Georgia" pitchFamily="34" charset="0"/>
                <a:ea typeface="Georgia" pitchFamily="34" charset="-122"/>
                <a:cs typeface="Georgia" pitchFamily="34" charset="-120"/>
              </a:rPr>
              <a:t>Patrimo</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2743200"/>
                <a:gridCol w="5989320"/>
                <a:gridCol w="1783080"/>
                <a:gridCol w="576072"/>
              </a:tblGrid>
              <a:tr h="457200">
                <a:tc>
                  <a:txBody>
                    <a:bodyPr/>
                    <a:lstStyle/>
                    <a:p>
                      <a:pPr indent="0" marL="0">
                        <a:buNone/>
                      </a:pPr>
                      <a:r>
                        <a:rPr lang="en-US" sz="950" b="1" spc="100" kern="0" dirty="0">
                          <a:solidFill>
                            <a:srgbClr val="767A71"/>
                          </a:solidFill>
                          <a:latin typeface="Consolas" pitchFamily="34" charset="0"/>
                          <a:ea typeface="Consolas" pitchFamily="34" charset="-122"/>
                          <a:cs typeface="Consolas" pitchFamily="34" charset="-120"/>
                        </a:rPr>
                        <a:t>DEMANDÉ PAR LE SUJET</a:t>
                      </a:r>
                      <a:endParaRPr lang="en-US" sz="950" dirty="0">
                        <a:latin typeface="Consolas" charset="0"/>
                        <a:ea typeface="Consolas" charset="0"/>
                        <a:cs typeface="Consolas" charset="0"/>
                      </a:endParaRPr>
                    </a:p>
                  </a:txBody>
                  <a:tcPr marL="109728" marR="109728" marT="36576" marB="36576" anchor="ctr">
                    <a:lnL w="9525" cap="flat" cmpd="sng" algn="ctr">
                      <a:solidFill>
                        <a:srgbClr val="DCD5C6"/>
                      </a:solidFill>
                      <a:prstDash val="solid"/>
                      <a:round/>
                      <a:headEnd type="none" w="med" len="med"/>
                      <a:tailEnd type="none" w="med" len="med"/>
                    </a:lnL>
                    <a:lnR w="9525" cap="flat" cmpd="sng" algn="ctr">
                      <a:solidFill>
                        <a:srgbClr val="DCD5C6"/>
                      </a:solidFill>
                      <a:prstDash val="solid"/>
                      <a:round/>
                      <a:headEnd type="none" w="med" len="med"/>
                      <a:tailEnd type="none" w="med" len="med"/>
                    </a:lnR>
                    <a:lnT w="9525" cap="flat" cmpd="sng" algn="ctr">
                      <a:solidFill>
                        <a:srgbClr val="DCD5C6"/>
                      </a:solidFill>
                      <a:prstDash val="solid"/>
                      <a:round/>
                      <a:headEnd type="none" w="med" len="med"/>
                      <a:tailEnd type="none" w="med" len="med"/>
                    </a:lnT>
                    <a:lnB w="9525" cap="flat" cmpd="sng" algn="ctr">
                      <a:solidFill>
                        <a:srgbClr val="DCD5C6"/>
                      </a:solidFill>
                      <a:prstDash val="solid"/>
                      <a:round/>
                      <a:headEnd type="none" w="med" len="med"/>
                      <a:tailEnd type="none" w="med" len="med"/>
                    </a:lnB>
                    <a:solidFill>
                      <a:srgbClr val="ECE6D8"/>
                    </a:solidFill>
                  </a:tcPr>
                </a:tc>
                <a:tc>
                  <a:txBody>
                    <a:bodyPr/>
                    <a:lstStyle/>
                    <a:p>
                      <a:pPr indent="0" marL="0">
                        <a:buNone/>
                      </a:pPr>
                      <a:r>
                        <a:rPr lang="en-US" sz="950" b="1" spc="100" kern="0" dirty="0">
                          <a:solidFill>
                            <a:srgbClr val="767A71"/>
                          </a:solidFill>
                          <a:latin typeface="Consolas" pitchFamily="34" charset="0"/>
                          <a:ea typeface="Consolas" pitchFamily="34" charset="-122"/>
                          <a:cs typeface="Consolas" pitchFamily="34" charset="-120"/>
                        </a:rPr>
                        <a:t>RÉPONSE DANS PATRIMO</a:t>
                      </a:r>
                      <a:endParaRPr lang="en-US" sz="950" dirty="0">
                        <a:latin typeface="Consolas" charset="0"/>
                        <a:ea typeface="Consolas" charset="0"/>
                        <a:cs typeface="Consolas" charset="0"/>
                      </a:endParaRPr>
                    </a:p>
                  </a:txBody>
                  <a:tcPr marL="109728" marR="109728" marT="36576" marB="36576" anchor="ctr">
                    <a:lnL w="9525" cap="flat" cmpd="sng" algn="ctr">
                      <a:solidFill>
                        <a:srgbClr val="DCD5C6"/>
                      </a:solidFill>
                      <a:prstDash val="solid"/>
                      <a:round/>
                      <a:headEnd type="none" w="med" len="med"/>
                      <a:tailEnd type="none" w="med" len="med"/>
                    </a:lnL>
                    <a:lnR w="9525" cap="flat" cmpd="sng" algn="ctr">
                      <a:solidFill>
                        <a:srgbClr val="DCD5C6"/>
                      </a:solidFill>
                      <a:prstDash val="solid"/>
                      <a:round/>
                      <a:headEnd type="none" w="med" len="med"/>
                      <a:tailEnd type="none" w="med" len="med"/>
                    </a:lnR>
                    <a:lnT w="9525" cap="flat" cmpd="sng" algn="ctr">
                      <a:solidFill>
                        <a:srgbClr val="DCD5C6"/>
                      </a:solidFill>
                      <a:prstDash val="solid"/>
                      <a:round/>
                      <a:headEnd type="none" w="med" len="med"/>
                      <a:tailEnd type="none" w="med" len="med"/>
                    </a:lnT>
                    <a:lnB w="9525" cap="flat" cmpd="sng" algn="ctr">
                      <a:solidFill>
                        <a:srgbClr val="DCD5C6"/>
                      </a:solidFill>
                      <a:prstDash val="solid"/>
                      <a:round/>
                      <a:headEnd type="none" w="med" len="med"/>
                      <a:tailEnd type="none" w="med" len="med"/>
                    </a:lnB>
                    <a:solidFill>
                      <a:srgbClr val="ECE6D8"/>
                    </a:solidFill>
                  </a:tcPr>
                </a:tc>
                <a:tc>
                  <a:txBody>
                    <a:bodyPr/>
                    <a:lstStyle/>
                    <a:p>
                      <a:pPr indent="0" marL="0">
                        <a:buNone/>
                      </a:pPr>
                      <a:r>
                        <a:rPr lang="en-US" sz="950" b="1" spc="100" kern="0" dirty="0">
                          <a:solidFill>
                            <a:srgbClr val="767A71"/>
                          </a:solidFill>
                          <a:latin typeface="Consolas" pitchFamily="34" charset="0"/>
                          <a:ea typeface="Consolas" pitchFamily="34" charset="-122"/>
                          <a:cs typeface="Consolas" pitchFamily="34" charset="-120"/>
                        </a:rPr>
                        <a:t>PAGE</a:t>
                      </a:r>
                      <a:endParaRPr lang="en-US" sz="950" dirty="0">
                        <a:latin typeface="Consolas" charset="0"/>
                        <a:ea typeface="Consolas" charset="0"/>
                        <a:cs typeface="Consolas" charset="0"/>
                      </a:endParaRPr>
                    </a:p>
                  </a:txBody>
                  <a:tcPr marL="109728" marR="109728" marT="36576" marB="36576" anchor="ctr">
                    <a:lnL w="9525" cap="flat" cmpd="sng" algn="ctr">
                      <a:solidFill>
                        <a:srgbClr val="DCD5C6"/>
                      </a:solidFill>
                      <a:prstDash val="solid"/>
                      <a:round/>
                      <a:headEnd type="none" w="med" len="med"/>
                      <a:tailEnd type="none" w="med" len="med"/>
                    </a:lnL>
                    <a:lnR w="9525" cap="flat" cmpd="sng" algn="ctr">
                      <a:solidFill>
                        <a:srgbClr val="DCD5C6"/>
                      </a:solidFill>
                      <a:prstDash val="solid"/>
                      <a:round/>
                      <a:headEnd type="none" w="med" len="med"/>
                      <a:tailEnd type="none" w="med" len="med"/>
                    </a:lnR>
                    <a:lnT w="9525" cap="flat" cmpd="sng" algn="ctr">
                      <a:solidFill>
                        <a:srgbClr val="DCD5C6"/>
                      </a:solidFill>
                      <a:prstDash val="solid"/>
                      <a:round/>
                      <a:headEnd type="none" w="med" len="med"/>
                      <a:tailEnd type="none" w="med" len="med"/>
                    </a:lnT>
                    <a:lnB w="9525" cap="flat" cmpd="sng" algn="ctr">
                      <a:solidFill>
                        <a:srgbClr val="DCD5C6"/>
                      </a:solidFill>
                      <a:prstDash val="solid"/>
                      <a:round/>
                      <a:headEnd type="none" w="med" len="med"/>
                      <a:tailEnd type="none" w="med" len="med"/>
                    </a:lnB>
                    <a:solidFill>
                      <a:srgbClr val="ECE6D8"/>
                    </a:solidFill>
                  </a:tcPr>
                </a:tc>
                <a:tc>
                  <a:txBody>
                    <a:bodyPr/>
                    <a:lstStyle/>
                    <a:p>
                      <a:pPr indent="0" marL="0">
                        <a:buNone/>
                      </a:pPr>
                      <a:endParaRPr lang="en-US" sz="950" dirty="0">
                        <a:latin typeface="Consolas" charset="0"/>
                        <a:ea typeface="Consolas" charset="0"/>
                        <a:cs typeface="Consolas" charset="0"/>
                      </a:endParaRPr>
                    </a:p>
                  </a:txBody>
                  <a:tcPr marL="109728" marR="109728" marT="36576" marB="36576" anchor="ctr">
                    <a:lnL w="9525" cap="flat" cmpd="sng" algn="ctr">
                      <a:solidFill>
                        <a:srgbClr val="DCD5C6"/>
                      </a:solidFill>
                      <a:prstDash val="solid"/>
                      <a:round/>
                      <a:headEnd type="none" w="med" len="med"/>
                      <a:tailEnd type="none" w="med" len="med"/>
                    </a:lnL>
                    <a:lnR w="9525" cap="flat" cmpd="sng" algn="ctr">
                      <a:solidFill>
                        <a:srgbClr val="DCD5C6"/>
                      </a:solidFill>
                      <a:prstDash val="solid"/>
                      <a:round/>
                      <a:headEnd type="none" w="med" len="med"/>
                      <a:tailEnd type="none" w="med" len="med"/>
                    </a:lnR>
                    <a:lnT w="9525" cap="flat" cmpd="sng" algn="ctr">
                      <a:solidFill>
                        <a:srgbClr val="DCD5C6"/>
                      </a:solidFill>
                      <a:prstDash val="solid"/>
                      <a:round/>
                      <a:headEnd type="none" w="med" len="med"/>
                      <a:tailEnd type="none" w="med" len="med"/>
                    </a:lnT>
                    <a:lnB w="9525" cap="flat" cmpd="sng" algn="ctr">
                      <a:solidFill>
                        <a:srgbClr val="DCD5C6"/>
                      </a:solidFill>
                      <a:prstDash val="solid"/>
                      <a:round/>
                      <a:headEnd type="none" w="med" len="med"/>
                      <a:tailEnd type="none" w="med" len="med"/>
                    </a:lnB>
                    <a:solidFill>
                      <a:srgbClr val="ECE6D8"/>
                    </a:solidFill>
                  </a:tcPr>
                </a:tc>
              </a:tr>
              <a:tr h="457200">
                <a:tc>
                  <a:txBody>
                    <a:bodyPr/>
                    <a:lstStyle/>
                    <a:p>
                      <a:pPr indent="0" marL="0">
                        <a:buNone/>
                      </a:pPr>
                      <a:r>
                        <a:rPr lang="en-US" sz="1200" b="1" dirty="0">
                          <a:solidFill>
                            <a:srgbClr val="17211C"/>
                          </a:solidFill>
                          <a:latin typeface="Calibri" pitchFamily="34" charset="0"/>
                          <a:ea typeface="Calibri" pitchFamily="34" charset="-122"/>
                          <a:cs typeface="Calibri" pitchFamily="34" charset="-120"/>
                        </a:rPr>
                        <a:t>Authentification</a:t>
                      </a:r>
                      <a:endParaRPr lang="en-US" sz="1200" dirty="0">
                        <a:latin typeface="Calibri" charset="0"/>
                        <a:ea typeface="Calibri" charset="0"/>
                        <a:cs typeface="Calibri" charset="0"/>
                      </a:endParaRPr>
                    </a:p>
                  </a:txBody>
                  <a:tcPr marL="109728" marR="109728" marT="36576" marB="36576" anchor="ctr">
                    <a:lnL w="9525" cap="flat" cmpd="sng" algn="ctr">
                      <a:solidFill>
                        <a:srgbClr val="DCD5C6"/>
                      </a:solidFill>
                      <a:prstDash val="solid"/>
                      <a:round/>
                      <a:headEnd type="none" w="med" len="med"/>
                      <a:tailEnd type="none" w="med" len="med"/>
                    </a:lnL>
                    <a:lnR w="9525" cap="flat" cmpd="sng" algn="ctr">
                      <a:solidFill>
                        <a:srgbClr val="DCD5C6"/>
                      </a:solidFill>
                      <a:prstDash val="solid"/>
                      <a:round/>
                      <a:headEnd type="none" w="med" len="med"/>
                      <a:tailEnd type="none" w="med" len="med"/>
                    </a:lnR>
                    <a:lnT w="9525" cap="flat" cmpd="sng" algn="ctr">
                      <a:solidFill>
                        <a:srgbClr val="DCD5C6"/>
                      </a:solidFill>
                      <a:prstDash val="solid"/>
                      <a:round/>
                      <a:headEnd type="none" w="med" len="med"/>
                      <a:tailEnd type="none" w="med" len="med"/>
                    </a:lnT>
                    <a:lnB w="9525" cap="flat" cmpd="sng" algn="ctr">
                      <a:solidFill>
                        <a:srgbClr val="DCD5C6"/>
                      </a:solidFill>
                      <a:prstDash val="solid"/>
                      <a:round/>
                      <a:headEnd type="none" w="med" len="med"/>
                      <a:tailEnd type="none" w="med" len="med"/>
                    </a:lnB>
                    <a:solidFill>
                      <a:srgbClr val="FBF9F4"/>
                    </a:solidFill>
                  </a:tcPr>
                </a:tc>
                <a:tc>
                  <a:txBody>
                    <a:bodyPr/>
                    <a:lstStyle/>
                    <a:p>
                      <a:pPr indent="0" marL="0">
                        <a:buNone/>
                      </a:pPr>
                      <a:r>
                        <a:rPr lang="en-US" sz="1150" dirty="0">
                          <a:solidFill>
                            <a:srgbClr val="3F4842"/>
                          </a:solidFill>
                          <a:latin typeface="Calibri" pitchFamily="34" charset="0"/>
                          <a:ea typeface="Calibri" pitchFamily="34" charset="-122"/>
                          <a:cs typeface="Calibri" pitchFamily="34" charset="-120"/>
                        </a:rPr>
                        <a:t>Connexion, déconnexion, mots de passe hachés, 2 rôles, session fermée après 45 min d'inactivité</a:t>
                      </a:r>
                      <a:endParaRPr lang="en-US" sz="1150" dirty="0">
                        <a:latin typeface="Calibri" charset="0"/>
                        <a:ea typeface="Calibri" charset="0"/>
                        <a:cs typeface="Calibri" charset="0"/>
                      </a:endParaRPr>
                    </a:p>
                  </a:txBody>
                  <a:tcPr marL="109728" marR="109728" marT="36576" marB="36576" anchor="ctr">
                    <a:lnL w="9525" cap="flat" cmpd="sng" algn="ctr">
                      <a:solidFill>
                        <a:srgbClr val="DCD5C6"/>
                      </a:solidFill>
                      <a:prstDash val="solid"/>
                      <a:round/>
                      <a:headEnd type="none" w="med" len="med"/>
                      <a:tailEnd type="none" w="med" len="med"/>
                    </a:lnL>
                    <a:lnR w="9525" cap="flat" cmpd="sng" algn="ctr">
                      <a:solidFill>
                        <a:srgbClr val="DCD5C6"/>
                      </a:solidFill>
                      <a:prstDash val="solid"/>
                      <a:round/>
                      <a:headEnd type="none" w="med" len="med"/>
                      <a:tailEnd type="none" w="med" len="med"/>
                    </a:lnR>
                    <a:lnT w="9525" cap="flat" cmpd="sng" algn="ctr">
                      <a:solidFill>
                        <a:srgbClr val="DCD5C6"/>
                      </a:solidFill>
                      <a:prstDash val="solid"/>
                      <a:round/>
                      <a:headEnd type="none" w="med" len="med"/>
                      <a:tailEnd type="none" w="med" len="med"/>
                    </a:lnT>
                    <a:lnB w="9525" cap="flat" cmpd="sng" algn="ctr">
                      <a:solidFill>
                        <a:srgbClr val="DCD5C6"/>
                      </a:solidFill>
                      <a:prstDash val="solid"/>
                      <a:round/>
                      <a:headEnd type="none" w="med" len="med"/>
                      <a:tailEnd type="none" w="med" len="med"/>
                    </a:lnB>
                    <a:solidFill>
                      <a:srgbClr val="FBF9F4"/>
                    </a:solidFill>
                  </a:tcPr>
                </a:tc>
                <a:tc>
                  <a:txBody>
                    <a:bodyPr/>
                    <a:lstStyle/>
                    <a:p>
                      <a:pPr indent="0" marL="0">
                        <a:buNone/>
                      </a:pPr>
                      <a:r>
                        <a:rPr lang="en-US" sz="950" dirty="0">
                          <a:solidFill>
                            <a:srgbClr val="1F4A3A"/>
                          </a:solidFill>
                          <a:latin typeface="Consolas" pitchFamily="34" charset="0"/>
                          <a:ea typeface="Consolas" pitchFamily="34" charset="-122"/>
                          <a:cs typeface="Consolas" pitchFamily="34" charset="-120"/>
                        </a:rPr>
                        <a:t>connexion.php</a:t>
                      </a:r>
                      <a:endParaRPr lang="en-US" sz="950" dirty="0">
                        <a:latin typeface="Consolas" charset="0"/>
                        <a:ea typeface="Consolas" charset="0"/>
                        <a:cs typeface="Consolas" charset="0"/>
                      </a:endParaRPr>
                    </a:p>
                  </a:txBody>
                  <a:tcPr marL="109728" marR="109728" marT="36576" marB="36576" anchor="ctr">
                    <a:lnL w="9525" cap="flat" cmpd="sng" algn="ctr">
                      <a:solidFill>
                        <a:srgbClr val="DCD5C6"/>
                      </a:solidFill>
                      <a:prstDash val="solid"/>
                      <a:round/>
                      <a:headEnd type="none" w="med" len="med"/>
                      <a:tailEnd type="none" w="med" len="med"/>
                    </a:lnL>
                    <a:lnR w="9525" cap="flat" cmpd="sng" algn="ctr">
                      <a:solidFill>
                        <a:srgbClr val="DCD5C6"/>
                      </a:solidFill>
                      <a:prstDash val="solid"/>
                      <a:round/>
                      <a:headEnd type="none" w="med" len="med"/>
                      <a:tailEnd type="none" w="med" len="med"/>
                    </a:lnR>
                    <a:lnT w="9525" cap="flat" cmpd="sng" algn="ctr">
                      <a:solidFill>
                        <a:srgbClr val="DCD5C6"/>
                      </a:solidFill>
                      <a:prstDash val="solid"/>
                      <a:round/>
                      <a:headEnd type="none" w="med" len="med"/>
                      <a:tailEnd type="none" w="med" len="med"/>
                    </a:lnT>
                    <a:lnB w="9525" cap="flat" cmpd="sng" algn="ctr">
                      <a:solidFill>
                        <a:srgbClr val="DCD5C6"/>
                      </a:solidFill>
                      <a:prstDash val="solid"/>
                      <a:round/>
                      <a:headEnd type="none" w="med" len="med"/>
                      <a:tailEnd type="none" w="med" len="med"/>
                    </a:lnB>
                    <a:solidFill>
                      <a:srgbClr val="FBF9F4"/>
                    </a:solidFill>
                  </a:tcPr>
                </a:tc>
                <a:tc>
                  <a:txBody>
                    <a:bodyPr/>
                    <a:lstStyle/>
                    <a:p>
                      <a:pPr algn="ctr" indent="0" marL="0">
                        <a:buNone/>
                      </a:pPr>
                      <a:r>
                        <a:rPr lang="en-US" sz="1500" b="1" dirty="0">
                          <a:solidFill>
                            <a:srgbClr val="2E7250"/>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9728" marR="109728" marT="36576" marB="36576" anchor="ctr">
                    <a:lnL w="9525" cap="flat" cmpd="sng" algn="ctr">
                      <a:solidFill>
                        <a:srgbClr val="DCD5C6"/>
                      </a:solidFill>
                      <a:prstDash val="solid"/>
                      <a:round/>
                      <a:headEnd type="none" w="med" len="med"/>
                      <a:tailEnd type="none" w="med" len="med"/>
                    </a:lnL>
                    <a:lnR w="9525" cap="flat" cmpd="sng" algn="ctr">
                      <a:solidFill>
                        <a:srgbClr val="DCD5C6"/>
                      </a:solidFill>
                      <a:prstDash val="solid"/>
                      <a:round/>
                      <a:headEnd type="none" w="med" len="med"/>
                      <a:tailEnd type="none" w="med" len="med"/>
                    </a:lnR>
                    <a:lnT w="9525" cap="flat" cmpd="sng" algn="ctr">
                      <a:solidFill>
                        <a:srgbClr val="DCD5C6"/>
                      </a:solidFill>
                      <a:prstDash val="solid"/>
                      <a:round/>
                      <a:headEnd type="none" w="med" len="med"/>
                      <a:tailEnd type="none" w="med" len="med"/>
                    </a:lnT>
                    <a:lnB w="9525" cap="flat" cmpd="sng" algn="ctr">
                      <a:solidFill>
                        <a:srgbClr val="DCD5C6"/>
                      </a:solidFill>
                      <a:prstDash val="solid"/>
                      <a:round/>
                      <a:headEnd type="none" w="med" len="med"/>
                      <a:tailEnd type="none" w="med" len="med"/>
                    </a:lnB>
                    <a:solidFill>
                      <a:srgbClr val="FBF9F4"/>
                    </a:solidFill>
                  </a:tcPr>
                </a:tc>
              </a:tr>
              <a:tr h="457200">
                <a:tc>
                  <a:txBody>
                    <a:bodyPr/>
                    <a:lstStyle/>
                    <a:p>
                      <a:pPr indent="0" marL="0">
                        <a:buNone/>
                      </a:pPr>
                      <a:r>
                        <a:rPr lang="en-US" sz="1200" b="1" dirty="0">
                          <a:solidFill>
                            <a:srgbClr val="17211C"/>
                          </a:solidFill>
                          <a:latin typeface="Calibri" pitchFamily="34" charset="0"/>
                          <a:ea typeface="Calibri" pitchFamily="34" charset="-122"/>
                          <a:cs typeface="Calibri" pitchFamily="34" charset="-120"/>
                        </a:rPr>
                        <a:t>Gestion des directions</a:t>
                      </a:r>
                      <a:endParaRPr lang="en-US" sz="1200" dirty="0">
                        <a:latin typeface="Calibri" charset="0"/>
                        <a:ea typeface="Calibri" charset="0"/>
                        <a:cs typeface="Calibri" charset="0"/>
                      </a:endParaRPr>
                    </a:p>
                  </a:txBody>
                  <a:tcPr marL="109728" marR="109728" marT="36576" marB="36576" anchor="ctr">
                    <a:lnL w="9525" cap="flat" cmpd="sng" algn="ctr">
                      <a:solidFill>
                        <a:srgbClr val="DCD5C6"/>
                      </a:solidFill>
                      <a:prstDash val="solid"/>
                      <a:round/>
                      <a:headEnd type="none" w="med" len="med"/>
                      <a:tailEnd type="none" w="med" len="med"/>
                    </a:lnL>
                    <a:lnR w="9525" cap="flat" cmpd="sng" algn="ctr">
                      <a:solidFill>
                        <a:srgbClr val="DCD5C6"/>
                      </a:solidFill>
                      <a:prstDash val="solid"/>
                      <a:round/>
                      <a:headEnd type="none" w="med" len="med"/>
                      <a:tailEnd type="none" w="med" len="med"/>
                    </a:lnR>
                    <a:lnT w="9525" cap="flat" cmpd="sng" algn="ctr">
                      <a:solidFill>
                        <a:srgbClr val="DCD5C6"/>
                      </a:solidFill>
                      <a:prstDash val="solid"/>
                      <a:round/>
                      <a:headEnd type="none" w="med" len="med"/>
                      <a:tailEnd type="none" w="med" len="med"/>
                    </a:lnT>
                    <a:lnB w="9525" cap="flat" cmpd="sng" algn="ctr">
                      <a:solidFill>
                        <a:srgbClr val="DCD5C6"/>
                      </a:solidFill>
                      <a:prstDash val="solid"/>
                      <a:round/>
                      <a:headEnd type="none" w="med" len="med"/>
                      <a:tailEnd type="none" w="med" len="med"/>
                    </a:lnB>
                    <a:solidFill>
                      <a:srgbClr val="F7F4EC"/>
                    </a:solidFill>
                  </a:tcPr>
                </a:tc>
                <a:tc>
                  <a:txBody>
                    <a:bodyPr/>
                    <a:lstStyle/>
                    <a:p>
                      <a:pPr indent="0" marL="0">
                        <a:buNone/>
                      </a:pPr>
                      <a:r>
                        <a:rPr lang="en-US" sz="1150" dirty="0">
                          <a:solidFill>
                            <a:srgbClr val="3F4842"/>
                          </a:solidFill>
                          <a:latin typeface="Calibri" pitchFamily="34" charset="0"/>
                          <a:ea typeface="Calibri" pitchFamily="34" charset="-122"/>
                          <a:cs typeface="Calibri" pitchFamily="34" charset="-120"/>
                        </a:rPr>
                        <a:t>Ajouter, modifier, supprimer, consulter — suppression refusée tant que du matériel y est affecté</a:t>
                      </a:r>
                      <a:endParaRPr lang="en-US" sz="1150" dirty="0">
                        <a:latin typeface="Calibri" charset="0"/>
                        <a:ea typeface="Calibri" charset="0"/>
                        <a:cs typeface="Calibri" charset="0"/>
                      </a:endParaRPr>
                    </a:p>
                  </a:txBody>
                  <a:tcPr marL="109728" marR="109728" marT="36576" marB="36576" anchor="ctr">
                    <a:lnL w="9525" cap="flat" cmpd="sng" algn="ctr">
                      <a:solidFill>
                        <a:srgbClr val="DCD5C6"/>
                      </a:solidFill>
                      <a:prstDash val="solid"/>
                      <a:round/>
                      <a:headEnd type="none" w="med" len="med"/>
                      <a:tailEnd type="none" w="med" len="med"/>
                    </a:lnL>
                    <a:lnR w="9525" cap="flat" cmpd="sng" algn="ctr">
                      <a:solidFill>
                        <a:srgbClr val="DCD5C6"/>
                      </a:solidFill>
                      <a:prstDash val="solid"/>
                      <a:round/>
                      <a:headEnd type="none" w="med" len="med"/>
                      <a:tailEnd type="none" w="med" len="med"/>
                    </a:lnR>
                    <a:lnT w="9525" cap="flat" cmpd="sng" algn="ctr">
                      <a:solidFill>
                        <a:srgbClr val="DCD5C6"/>
                      </a:solidFill>
                      <a:prstDash val="solid"/>
                      <a:round/>
                      <a:headEnd type="none" w="med" len="med"/>
                      <a:tailEnd type="none" w="med" len="med"/>
                    </a:lnT>
                    <a:lnB w="9525" cap="flat" cmpd="sng" algn="ctr">
                      <a:solidFill>
                        <a:srgbClr val="DCD5C6"/>
                      </a:solidFill>
                      <a:prstDash val="solid"/>
                      <a:round/>
                      <a:headEnd type="none" w="med" len="med"/>
                      <a:tailEnd type="none" w="med" len="med"/>
                    </a:lnB>
                    <a:solidFill>
                      <a:srgbClr val="F7F4EC"/>
                    </a:solidFill>
                  </a:tcPr>
                </a:tc>
                <a:tc>
                  <a:txBody>
                    <a:bodyPr/>
                    <a:lstStyle/>
                    <a:p>
                      <a:pPr indent="0" marL="0">
                        <a:buNone/>
                      </a:pPr>
                      <a:r>
                        <a:rPr lang="en-US" sz="950" dirty="0">
                          <a:solidFill>
                            <a:srgbClr val="1F4A3A"/>
                          </a:solidFill>
                          <a:latin typeface="Consolas" pitchFamily="34" charset="0"/>
                          <a:ea typeface="Consolas" pitchFamily="34" charset="-122"/>
                          <a:cs typeface="Consolas" pitchFamily="34" charset="-120"/>
                        </a:rPr>
                        <a:t>directions.php</a:t>
                      </a:r>
                      <a:endParaRPr lang="en-US" sz="950" dirty="0">
                        <a:latin typeface="Consolas" charset="0"/>
                        <a:ea typeface="Consolas" charset="0"/>
                        <a:cs typeface="Consolas" charset="0"/>
                      </a:endParaRPr>
                    </a:p>
                  </a:txBody>
                  <a:tcPr marL="109728" marR="109728" marT="36576" marB="36576" anchor="ctr">
                    <a:lnL w="9525" cap="flat" cmpd="sng" algn="ctr">
                      <a:solidFill>
                        <a:srgbClr val="DCD5C6"/>
                      </a:solidFill>
                      <a:prstDash val="solid"/>
                      <a:round/>
                      <a:headEnd type="none" w="med" len="med"/>
                      <a:tailEnd type="none" w="med" len="med"/>
                    </a:lnL>
                    <a:lnR w="9525" cap="flat" cmpd="sng" algn="ctr">
                      <a:solidFill>
                        <a:srgbClr val="DCD5C6"/>
                      </a:solidFill>
                      <a:prstDash val="solid"/>
                      <a:round/>
                      <a:headEnd type="none" w="med" len="med"/>
                      <a:tailEnd type="none" w="med" len="med"/>
                    </a:lnR>
                    <a:lnT w="9525" cap="flat" cmpd="sng" algn="ctr">
                      <a:solidFill>
                        <a:srgbClr val="DCD5C6"/>
                      </a:solidFill>
                      <a:prstDash val="solid"/>
                      <a:round/>
                      <a:headEnd type="none" w="med" len="med"/>
                      <a:tailEnd type="none" w="med" len="med"/>
                    </a:lnT>
                    <a:lnB w="9525" cap="flat" cmpd="sng" algn="ctr">
                      <a:solidFill>
                        <a:srgbClr val="DCD5C6"/>
                      </a:solidFill>
                      <a:prstDash val="solid"/>
                      <a:round/>
                      <a:headEnd type="none" w="med" len="med"/>
                      <a:tailEnd type="none" w="med" len="med"/>
                    </a:lnB>
                    <a:solidFill>
                      <a:srgbClr val="F7F4EC"/>
                    </a:solidFill>
                  </a:tcPr>
                </a:tc>
                <a:tc>
                  <a:txBody>
                    <a:bodyPr/>
                    <a:lstStyle/>
                    <a:p>
                      <a:pPr algn="ctr" indent="0" marL="0">
                        <a:buNone/>
                      </a:pPr>
                      <a:r>
                        <a:rPr lang="en-US" sz="1500" b="1" dirty="0">
                          <a:solidFill>
                            <a:srgbClr val="2E7250"/>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9728" marR="109728" marT="36576" marB="36576" anchor="ctr">
                    <a:lnL w="9525" cap="flat" cmpd="sng" algn="ctr">
                      <a:solidFill>
                        <a:srgbClr val="DCD5C6"/>
                      </a:solidFill>
                      <a:prstDash val="solid"/>
                      <a:round/>
                      <a:headEnd type="none" w="med" len="med"/>
                      <a:tailEnd type="none" w="med" len="med"/>
                    </a:lnL>
                    <a:lnR w="9525" cap="flat" cmpd="sng" algn="ctr">
                      <a:solidFill>
                        <a:srgbClr val="DCD5C6"/>
                      </a:solidFill>
                      <a:prstDash val="solid"/>
                      <a:round/>
                      <a:headEnd type="none" w="med" len="med"/>
                      <a:tailEnd type="none" w="med" len="med"/>
                    </a:lnR>
                    <a:lnT w="9525" cap="flat" cmpd="sng" algn="ctr">
                      <a:solidFill>
                        <a:srgbClr val="DCD5C6"/>
                      </a:solidFill>
                      <a:prstDash val="solid"/>
                      <a:round/>
                      <a:headEnd type="none" w="med" len="med"/>
                      <a:tailEnd type="none" w="med" len="med"/>
                    </a:lnT>
                    <a:lnB w="9525" cap="flat" cmpd="sng" algn="ctr">
                      <a:solidFill>
                        <a:srgbClr val="DCD5C6"/>
                      </a:solidFill>
                      <a:prstDash val="solid"/>
                      <a:round/>
                      <a:headEnd type="none" w="med" len="med"/>
                      <a:tailEnd type="none" w="med" len="med"/>
                    </a:lnB>
                    <a:solidFill>
                      <a:srgbClr val="F7F4EC"/>
                    </a:solidFill>
                  </a:tcPr>
                </a:tc>
              </a:tr>
              <a:tr h="457200">
                <a:tc>
                  <a:txBody>
                    <a:bodyPr/>
                    <a:lstStyle/>
                    <a:p>
                      <a:pPr indent="0" marL="0">
                        <a:buNone/>
                      </a:pPr>
                      <a:r>
                        <a:rPr lang="en-US" sz="1200" b="1" dirty="0">
                          <a:solidFill>
                            <a:srgbClr val="17211C"/>
                          </a:solidFill>
                          <a:latin typeface="Calibri" pitchFamily="34" charset="0"/>
                          <a:ea typeface="Calibri" pitchFamily="34" charset="-122"/>
                          <a:cs typeface="Calibri" pitchFamily="34" charset="-120"/>
                        </a:rPr>
                        <a:t>Gestion des catégories</a:t>
                      </a:r>
                      <a:endParaRPr lang="en-US" sz="1200" dirty="0">
                        <a:latin typeface="Calibri" charset="0"/>
                        <a:ea typeface="Calibri" charset="0"/>
                        <a:cs typeface="Calibri" charset="0"/>
                      </a:endParaRPr>
                    </a:p>
                  </a:txBody>
                  <a:tcPr marL="109728" marR="109728" marT="36576" marB="36576" anchor="ctr">
                    <a:lnL w="9525" cap="flat" cmpd="sng" algn="ctr">
                      <a:solidFill>
                        <a:srgbClr val="DCD5C6"/>
                      </a:solidFill>
                      <a:prstDash val="solid"/>
                      <a:round/>
                      <a:headEnd type="none" w="med" len="med"/>
                      <a:tailEnd type="none" w="med" len="med"/>
                    </a:lnL>
                    <a:lnR w="9525" cap="flat" cmpd="sng" algn="ctr">
                      <a:solidFill>
                        <a:srgbClr val="DCD5C6"/>
                      </a:solidFill>
                      <a:prstDash val="solid"/>
                      <a:round/>
                      <a:headEnd type="none" w="med" len="med"/>
                      <a:tailEnd type="none" w="med" len="med"/>
                    </a:lnR>
                    <a:lnT w="9525" cap="flat" cmpd="sng" algn="ctr">
                      <a:solidFill>
                        <a:srgbClr val="DCD5C6"/>
                      </a:solidFill>
                      <a:prstDash val="solid"/>
                      <a:round/>
                      <a:headEnd type="none" w="med" len="med"/>
                      <a:tailEnd type="none" w="med" len="med"/>
                    </a:lnT>
                    <a:lnB w="9525" cap="flat" cmpd="sng" algn="ctr">
                      <a:solidFill>
                        <a:srgbClr val="DCD5C6"/>
                      </a:solidFill>
                      <a:prstDash val="solid"/>
                      <a:round/>
                      <a:headEnd type="none" w="med" len="med"/>
                      <a:tailEnd type="none" w="med" len="med"/>
                    </a:lnB>
                    <a:solidFill>
                      <a:srgbClr val="FBF9F4"/>
                    </a:solidFill>
                  </a:tcPr>
                </a:tc>
                <a:tc>
                  <a:txBody>
                    <a:bodyPr/>
                    <a:lstStyle/>
                    <a:p>
                      <a:pPr indent="0" marL="0">
                        <a:buNone/>
                      </a:pPr>
                      <a:r>
                        <a:rPr lang="en-US" sz="1150" dirty="0">
                          <a:solidFill>
                            <a:srgbClr val="3F4842"/>
                          </a:solidFill>
                          <a:latin typeface="Calibri" pitchFamily="34" charset="0"/>
                          <a:ea typeface="Calibri" pitchFamily="34" charset="-122"/>
                          <a:cs typeface="Calibri" pitchFamily="34" charset="-120"/>
                        </a:rPr>
                        <a:t>Informatique, Mobilier, Réseau… avec un préfixe (INF, MOB, RES) qui construit le n° d'inventaire</a:t>
                      </a:r>
                      <a:endParaRPr lang="en-US" sz="1150" dirty="0">
                        <a:latin typeface="Calibri" charset="0"/>
                        <a:ea typeface="Calibri" charset="0"/>
                        <a:cs typeface="Calibri" charset="0"/>
                      </a:endParaRPr>
                    </a:p>
                  </a:txBody>
                  <a:tcPr marL="109728" marR="109728" marT="36576" marB="36576" anchor="ctr">
                    <a:lnL w="9525" cap="flat" cmpd="sng" algn="ctr">
                      <a:solidFill>
                        <a:srgbClr val="DCD5C6"/>
                      </a:solidFill>
                      <a:prstDash val="solid"/>
                      <a:round/>
                      <a:headEnd type="none" w="med" len="med"/>
                      <a:tailEnd type="none" w="med" len="med"/>
                    </a:lnL>
                    <a:lnR w="9525" cap="flat" cmpd="sng" algn="ctr">
                      <a:solidFill>
                        <a:srgbClr val="DCD5C6"/>
                      </a:solidFill>
                      <a:prstDash val="solid"/>
                      <a:round/>
                      <a:headEnd type="none" w="med" len="med"/>
                      <a:tailEnd type="none" w="med" len="med"/>
                    </a:lnR>
                    <a:lnT w="9525" cap="flat" cmpd="sng" algn="ctr">
                      <a:solidFill>
                        <a:srgbClr val="DCD5C6"/>
                      </a:solidFill>
                      <a:prstDash val="solid"/>
                      <a:round/>
                      <a:headEnd type="none" w="med" len="med"/>
                      <a:tailEnd type="none" w="med" len="med"/>
                    </a:lnT>
                    <a:lnB w="9525" cap="flat" cmpd="sng" algn="ctr">
                      <a:solidFill>
                        <a:srgbClr val="DCD5C6"/>
                      </a:solidFill>
                      <a:prstDash val="solid"/>
                      <a:round/>
                      <a:headEnd type="none" w="med" len="med"/>
                      <a:tailEnd type="none" w="med" len="med"/>
                    </a:lnB>
                    <a:solidFill>
                      <a:srgbClr val="FBF9F4"/>
                    </a:solidFill>
                  </a:tcPr>
                </a:tc>
                <a:tc>
                  <a:txBody>
                    <a:bodyPr/>
                    <a:lstStyle/>
                    <a:p>
                      <a:pPr indent="0" marL="0">
                        <a:buNone/>
                      </a:pPr>
                      <a:r>
                        <a:rPr lang="en-US" sz="950" dirty="0">
                          <a:solidFill>
                            <a:srgbClr val="1F4A3A"/>
                          </a:solidFill>
                          <a:latin typeface="Consolas" pitchFamily="34" charset="0"/>
                          <a:ea typeface="Consolas" pitchFamily="34" charset="-122"/>
                          <a:cs typeface="Consolas" pitchFamily="34" charset="-120"/>
                        </a:rPr>
                        <a:t>categories.php</a:t>
                      </a:r>
                      <a:endParaRPr lang="en-US" sz="950" dirty="0">
                        <a:latin typeface="Consolas" charset="0"/>
                        <a:ea typeface="Consolas" charset="0"/>
                        <a:cs typeface="Consolas" charset="0"/>
                      </a:endParaRPr>
                    </a:p>
                  </a:txBody>
                  <a:tcPr marL="109728" marR="109728" marT="36576" marB="36576" anchor="ctr">
                    <a:lnL w="9525" cap="flat" cmpd="sng" algn="ctr">
                      <a:solidFill>
                        <a:srgbClr val="DCD5C6"/>
                      </a:solidFill>
                      <a:prstDash val="solid"/>
                      <a:round/>
                      <a:headEnd type="none" w="med" len="med"/>
                      <a:tailEnd type="none" w="med" len="med"/>
                    </a:lnL>
                    <a:lnR w="9525" cap="flat" cmpd="sng" algn="ctr">
                      <a:solidFill>
                        <a:srgbClr val="DCD5C6"/>
                      </a:solidFill>
                      <a:prstDash val="solid"/>
                      <a:round/>
                      <a:headEnd type="none" w="med" len="med"/>
                      <a:tailEnd type="none" w="med" len="med"/>
                    </a:lnR>
                    <a:lnT w="9525" cap="flat" cmpd="sng" algn="ctr">
                      <a:solidFill>
                        <a:srgbClr val="DCD5C6"/>
                      </a:solidFill>
                      <a:prstDash val="solid"/>
                      <a:round/>
                      <a:headEnd type="none" w="med" len="med"/>
                      <a:tailEnd type="none" w="med" len="med"/>
                    </a:lnT>
                    <a:lnB w="9525" cap="flat" cmpd="sng" algn="ctr">
                      <a:solidFill>
                        <a:srgbClr val="DCD5C6"/>
                      </a:solidFill>
                      <a:prstDash val="solid"/>
                      <a:round/>
                      <a:headEnd type="none" w="med" len="med"/>
                      <a:tailEnd type="none" w="med" len="med"/>
                    </a:lnB>
                    <a:solidFill>
                      <a:srgbClr val="FBF9F4"/>
                    </a:solidFill>
                  </a:tcPr>
                </a:tc>
                <a:tc>
                  <a:txBody>
                    <a:bodyPr/>
                    <a:lstStyle/>
                    <a:p>
                      <a:pPr algn="ctr" indent="0" marL="0">
                        <a:buNone/>
                      </a:pPr>
                      <a:r>
                        <a:rPr lang="en-US" sz="1500" b="1" dirty="0">
                          <a:solidFill>
                            <a:srgbClr val="2E7250"/>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9728" marR="109728" marT="36576" marB="36576" anchor="ctr">
                    <a:lnL w="9525" cap="flat" cmpd="sng" algn="ctr">
                      <a:solidFill>
                        <a:srgbClr val="DCD5C6"/>
                      </a:solidFill>
                      <a:prstDash val="solid"/>
                      <a:round/>
                      <a:headEnd type="none" w="med" len="med"/>
                      <a:tailEnd type="none" w="med" len="med"/>
                    </a:lnL>
                    <a:lnR w="9525" cap="flat" cmpd="sng" algn="ctr">
                      <a:solidFill>
                        <a:srgbClr val="DCD5C6"/>
                      </a:solidFill>
                      <a:prstDash val="solid"/>
                      <a:round/>
                      <a:headEnd type="none" w="med" len="med"/>
                      <a:tailEnd type="none" w="med" len="med"/>
                    </a:lnR>
                    <a:lnT w="9525" cap="flat" cmpd="sng" algn="ctr">
                      <a:solidFill>
                        <a:srgbClr val="DCD5C6"/>
                      </a:solidFill>
                      <a:prstDash val="solid"/>
                      <a:round/>
                      <a:headEnd type="none" w="med" len="med"/>
                      <a:tailEnd type="none" w="med" len="med"/>
                    </a:lnT>
                    <a:lnB w="9525" cap="flat" cmpd="sng" algn="ctr">
                      <a:solidFill>
                        <a:srgbClr val="DCD5C6"/>
                      </a:solidFill>
                      <a:prstDash val="solid"/>
                      <a:round/>
                      <a:headEnd type="none" w="med" len="med"/>
                      <a:tailEnd type="none" w="med" len="med"/>
                    </a:lnB>
                    <a:solidFill>
                      <a:srgbClr val="FBF9F4"/>
                    </a:solidFill>
                  </a:tcPr>
                </a:tc>
              </a:tr>
              <a:tr h="457200">
                <a:tc>
                  <a:txBody>
                    <a:bodyPr/>
                    <a:lstStyle/>
                    <a:p>
                      <a:pPr indent="0" marL="0">
                        <a:buNone/>
                      </a:pPr>
                      <a:r>
                        <a:rPr lang="en-US" sz="1200" b="1" dirty="0">
                          <a:solidFill>
                            <a:srgbClr val="17211C"/>
                          </a:solidFill>
                          <a:latin typeface="Calibri" pitchFamily="34" charset="0"/>
                          <a:ea typeface="Calibri" pitchFamily="34" charset="-122"/>
                          <a:cs typeface="Calibri" pitchFamily="34" charset="-120"/>
                        </a:rPr>
                        <a:t>Gestion des matériels</a:t>
                      </a:r>
                      <a:endParaRPr lang="en-US" sz="1200" dirty="0">
                        <a:latin typeface="Calibri" charset="0"/>
                        <a:ea typeface="Calibri" charset="0"/>
                        <a:cs typeface="Calibri" charset="0"/>
                      </a:endParaRPr>
                    </a:p>
                  </a:txBody>
                  <a:tcPr marL="109728" marR="109728" marT="36576" marB="36576" anchor="ctr">
                    <a:lnL w="9525" cap="flat" cmpd="sng" algn="ctr">
                      <a:solidFill>
                        <a:srgbClr val="DCD5C6"/>
                      </a:solidFill>
                      <a:prstDash val="solid"/>
                      <a:round/>
                      <a:headEnd type="none" w="med" len="med"/>
                      <a:tailEnd type="none" w="med" len="med"/>
                    </a:lnL>
                    <a:lnR w="9525" cap="flat" cmpd="sng" algn="ctr">
                      <a:solidFill>
                        <a:srgbClr val="DCD5C6"/>
                      </a:solidFill>
                      <a:prstDash val="solid"/>
                      <a:round/>
                      <a:headEnd type="none" w="med" len="med"/>
                      <a:tailEnd type="none" w="med" len="med"/>
                    </a:lnR>
                    <a:lnT w="9525" cap="flat" cmpd="sng" algn="ctr">
                      <a:solidFill>
                        <a:srgbClr val="DCD5C6"/>
                      </a:solidFill>
                      <a:prstDash val="solid"/>
                      <a:round/>
                      <a:headEnd type="none" w="med" len="med"/>
                      <a:tailEnd type="none" w="med" len="med"/>
                    </a:lnT>
                    <a:lnB w="9525" cap="flat" cmpd="sng" algn="ctr">
                      <a:solidFill>
                        <a:srgbClr val="DCD5C6"/>
                      </a:solidFill>
                      <a:prstDash val="solid"/>
                      <a:round/>
                      <a:headEnd type="none" w="med" len="med"/>
                      <a:tailEnd type="none" w="med" len="med"/>
                    </a:lnB>
                    <a:solidFill>
                      <a:srgbClr val="F7F4EC"/>
                    </a:solidFill>
                  </a:tcPr>
                </a:tc>
                <a:tc>
                  <a:txBody>
                    <a:bodyPr/>
                    <a:lstStyle/>
                    <a:p>
                      <a:pPr indent="0" marL="0">
                        <a:buNone/>
                      </a:pPr>
                      <a:r>
                        <a:rPr lang="en-US" sz="1150" dirty="0">
                          <a:solidFill>
                            <a:srgbClr val="3F4842"/>
                          </a:solidFill>
                          <a:latin typeface="Calibri" pitchFamily="34" charset="0"/>
                          <a:ea typeface="Calibri" pitchFamily="34" charset="-122"/>
                          <a:cs typeface="Calibri" pitchFamily="34" charset="-120"/>
                        </a:rPr>
                        <a:t>Les 9 champs demandés, numéro unique proposé automatiquement, fiche, modification, suppression</a:t>
                      </a:r>
                      <a:endParaRPr lang="en-US" sz="1150" dirty="0">
                        <a:latin typeface="Calibri" charset="0"/>
                        <a:ea typeface="Calibri" charset="0"/>
                        <a:cs typeface="Calibri" charset="0"/>
                      </a:endParaRPr>
                    </a:p>
                  </a:txBody>
                  <a:tcPr marL="109728" marR="109728" marT="36576" marB="36576" anchor="ctr">
                    <a:lnL w="9525" cap="flat" cmpd="sng" algn="ctr">
                      <a:solidFill>
                        <a:srgbClr val="DCD5C6"/>
                      </a:solidFill>
                      <a:prstDash val="solid"/>
                      <a:round/>
                      <a:headEnd type="none" w="med" len="med"/>
                      <a:tailEnd type="none" w="med" len="med"/>
                    </a:lnL>
                    <a:lnR w="9525" cap="flat" cmpd="sng" algn="ctr">
                      <a:solidFill>
                        <a:srgbClr val="DCD5C6"/>
                      </a:solidFill>
                      <a:prstDash val="solid"/>
                      <a:round/>
                      <a:headEnd type="none" w="med" len="med"/>
                      <a:tailEnd type="none" w="med" len="med"/>
                    </a:lnR>
                    <a:lnT w="9525" cap="flat" cmpd="sng" algn="ctr">
                      <a:solidFill>
                        <a:srgbClr val="DCD5C6"/>
                      </a:solidFill>
                      <a:prstDash val="solid"/>
                      <a:round/>
                      <a:headEnd type="none" w="med" len="med"/>
                      <a:tailEnd type="none" w="med" len="med"/>
                    </a:lnT>
                    <a:lnB w="9525" cap="flat" cmpd="sng" algn="ctr">
                      <a:solidFill>
                        <a:srgbClr val="DCD5C6"/>
                      </a:solidFill>
                      <a:prstDash val="solid"/>
                      <a:round/>
                      <a:headEnd type="none" w="med" len="med"/>
                      <a:tailEnd type="none" w="med" len="med"/>
                    </a:lnB>
                    <a:solidFill>
                      <a:srgbClr val="F7F4EC"/>
                    </a:solidFill>
                  </a:tcPr>
                </a:tc>
                <a:tc>
                  <a:txBody>
                    <a:bodyPr/>
                    <a:lstStyle/>
                    <a:p>
                      <a:pPr indent="0" marL="0">
                        <a:buNone/>
                      </a:pPr>
                      <a:r>
                        <a:rPr lang="en-US" sz="950" dirty="0">
                          <a:solidFill>
                            <a:srgbClr val="1F4A3A"/>
                          </a:solidFill>
                          <a:latin typeface="Consolas" pitchFamily="34" charset="0"/>
                          <a:ea typeface="Consolas" pitchFamily="34" charset="-122"/>
                          <a:cs typeface="Consolas" pitchFamily="34" charset="-120"/>
                        </a:rPr>
                        <a:t>materiel_form.php</a:t>
                      </a:r>
                      <a:endParaRPr lang="en-US" sz="950" dirty="0">
                        <a:latin typeface="Consolas" charset="0"/>
                        <a:ea typeface="Consolas" charset="0"/>
                        <a:cs typeface="Consolas" charset="0"/>
                      </a:endParaRPr>
                    </a:p>
                  </a:txBody>
                  <a:tcPr marL="109728" marR="109728" marT="36576" marB="36576" anchor="ctr">
                    <a:lnL w="9525" cap="flat" cmpd="sng" algn="ctr">
                      <a:solidFill>
                        <a:srgbClr val="DCD5C6"/>
                      </a:solidFill>
                      <a:prstDash val="solid"/>
                      <a:round/>
                      <a:headEnd type="none" w="med" len="med"/>
                      <a:tailEnd type="none" w="med" len="med"/>
                    </a:lnL>
                    <a:lnR w="9525" cap="flat" cmpd="sng" algn="ctr">
                      <a:solidFill>
                        <a:srgbClr val="DCD5C6"/>
                      </a:solidFill>
                      <a:prstDash val="solid"/>
                      <a:round/>
                      <a:headEnd type="none" w="med" len="med"/>
                      <a:tailEnd type="none" w="med" len="med"/>
                    </a:lnR>
                    <a:lnT w="9525" cap="flat" cmpd="sng" algn="ctr">
                      <a:solidFill>
                        <a:srgbClr val="DCD5C6"/>
                      </a:solidFill>
                      <a:prstDash val="solid"/>
                      <a:round/>
                      <a:headEnd type="none" w="med" len="med"/>
                      <a:tailEnd type="none" w="med" len="med"/>
                    </a:lnT>
                    <a:lnB w="9525" cap="flat" cmpd="sng" algn="ctr">
                      <a:solidFill>
                        <a:srgbClr val="DCD5C6"/>
                      </a:solidFill>
                      <a:prstDash val="solid"/>
                      <a:round/>
                      <a:headEnd type="none" w="med" len="med"/>
                      <a:tailEnd type="none" w="med" len="med"/>
                    </a:lnB>
                    <a:solidFill>
                      <a:srgbClr val="F7F4EC"/>
                    </a:solidFill>
                  </a:tcPr>
                </a:tc>
                <a:tc>
                  <a:txBody>
                    <a:bodyPr/>
                    <a:lstStyle/>
                    <a:p>
                      <a:pPr algn="ctr" indent="0" marL="0">
                        <a:buNone/>
                      </a:pPr>
                      <a:r>
                        <a:rPr lang="en-US" sz="1500" b="1" dirty="0">
                          <a:solidFill>
                            <a:srgbClr val="2E7250"/>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9728" marR="109728" marT="36576" marB="36576" anchor="ctr">
                    <a:lnL w="9525" cap="flat" cmpd="sng" algn="ctr">
                      <a:solidFill>
                        <a:srgbClr val="DCD5C6"/>
                      </a:solidFill>
                      <a:prstDash val="solid"/>
                      <a:round/>
                      <a:headEnd type="none" w="med" len="med"/>
                      <a:tailEnd type="none" w="med" len="med"/>
                    </a:lnL>
                    <a:lnR w="9525" cap="flat" cmpd="sng" algn="ctr">
                      <a:solidFill>
                        <a:srgbClr val="DCD5C6"/>
                      </a:solidFill>
                      <a:prstDash val="solid"/>
                      <a:round/>
                      <a:headEnd type="none" w="med" len="med"/>
                      <a:tailEnd type="none" w="med" len="med"/>
                    </a:lnR>
                    <a:lnT w="9525" cap="flat" cmpd="sng" algn="ctr">
                      <a:solidFill>
                        <a:srgbClr val="DCD5C6"/>
                      </a:solidFill>
                      <a:prstDash val="solid"/>
                      <a:round/>
                      <a:headEnd type="none" w="med" len="med"/>
                      <a:tailEnd type="none" w="med" len="med"/>
                    </a:lnT>
                    <a:lnB w="9525" cap="flat" cmpd="sng" algn="ctr">
                      <a:solidFill>
                        <a:srgbClr val="DCD5C6"/>
                      </a:solidFill>
                      <a:prstDash val="solid"/>
                      <a:round/>
                      <a:headEnd type="none" w="med" len="med"/>
                      <a:tailEnd type="none" w="med" len="med"/>
                    </a:lnB>
                    <a:solidFill>
                      <a:srgbClr val="F7F4EC"/>
                    </a:solidFill>
                  </a:tcPr>
                </a:tc>
              </a:tr>
              <a:tr h="457200">
                <a:tc>
                  <a:txBody>
                    <a:bodyPr/>
                    <a:lstStyle/>
                    <a:p>
                      <a:pPr indent="0" marL="0">
                        <a:buNone/>
                      </a:pPr>
                      <a:r>
                        <a:rPr lang="en-US" sz="1200" b="1" dirty="0">
                          <a:solidFill>
                            <a:srgbClr val="17211C"/>
                          </a:solidFill>
                          <a:latin typeface="Calibri" pitchFamily="34" charset="0"/>
                          <a:ea typeface="Calibri" pitchFamily="34" charset="-122"/>
                          <a:cs typeface="Calibri" pitchFamily="34" charset="-120"/>
                        </a:rPr>
                        <a:t>Affectation et transfert</a:t>
                      </a:r>
                      <a:endParaRPr lang="en-US" sz="1200" dirty="0">
                        <a:latin typeface="Calibri" charset="0"/>
                        <a:ea typeface="Calibri" charset="0"/>
                        <a:cs typeface="Calibri" charset="0"/>
                      </a:endParaRPr>
                    </a:p>
                  </a:txBody>
                  <a:tcPr marL="109728" marR="109728" marT="36576" marB="36576" anchor="ctr">
                    <a:lnL w="9525" cap="flat" cmpd="sng" algn="ctr">
                      <a:solidFill>
                        <a:srgbClr val="DCD5C6"/>
                      </a:solidFill>
                      <a:prstDash val="solid"/>
                      <a:round/>
                      <a:headEnd type="none" w="med" len="med"/>
                      <a:tailEnd type="none" w="med" len="med"/>
                    </a:lnL>
                    <a:lnR w="9525" cap="flat" cmpd="sng" algn="ctr">
                      <a:solidFill>
                        <a:srgbClr val="DCD5C6"/>
                      </a:solidFill>
                      <a:prstDash val="solid"/>
                      <a:round/>
                      <a:headEnd type="none" w="med" len="med"/>
                      <a:tailEnd type="none" w="med" len="med"/>
                    </a:lnR>
                    <a:lnT w="9525" cap="flat" cmpd="sng" algn="ctr">
                      <a:solidFill>
                        <a:srgbClr val="DCD5C6"/>
                      </a:solidFill>
                      <a:prstDash val="solid"/>
                      <a:round/>
                      <a:headEnd type="none" w="med" len="med"/>
                      <a:tailEnd type="none" w="med" len="med"/>
                    </a:lnT>
                    <a:lnB w="9525" cap="flat" cmpd="sng" algn="ctr">
                      <a:solidFill>
                        <a:srgbClr val="DCD5C6"/>
                      </a:solidFill>
                      <a:prstDash val="solid"/>
                      <a:round/>
                      <a:headEnd type="none" w="med" len="med"/>
                      <a:tailEnd type="none" w="med" len="med"/>
                    </a:lnB>
                    <a:solidFill>
                      <a:srgbClr val="FBF9F4"/>
                    </a:solidFill>
                  </a:tcPr>
                </a:tc>
                <a:tc>
                  <a:txBody>
                    <a:bodyPr/>
                    <a:lstStyle/>
                    <a:p>
                      <a:pPr indent="0" marL="0">
                        <a:buNone/>
                      </a:pPr>
                      <a:r>
                        <a:rPr lang="en-US" sz="1150" dirty="0">
                          <a:solidFill>
                            <a:srgbClr val="3F4842"/>
                          </a:solidFill>
                          <a:latin typeface="Calibri" pitchFamily="34" charset="0"/>
                          <a:ea typeface="Calibri" pitchFamily="34" charset="-122"/>
                          <a:cs typeface="Calibri" pitchFamily="34" charset="-120"/>
                        </a:rPr>
                        <a:t>Affectation depuis le magasin ; transfert effectif seulement après validation départ + arrivée</a:t>
                      </a:r>
                      <a:endParaRPr lang="en-US" sz="1150" dirty="0">
                        <a:latin typeface="Calibri" charset="0"/>
                        <a:ea typeface="Calibri" charset="0"/>
                        <a:cs typeface="Calibri" charset="0"/>
                      </a:endParaRPr>
                    </a:p>
                  </a:txBody>
                  <a:tcPr marL="109728" marR="109728" marT="36576" marB="36576" anchor="ctr">
                    <a:lnL w="9525" cap="flat" cmpd="sng" algn="ctr">
                      <a:solidFill>
                        <a:srgbClr val="DCD5C6"/>
                      </a:solidFill>
                      <a:prstDash val="solid"/>
                      <a:round/>
                      <a:headEnd type="none" w="med" len="med"/>
                      <a:tailEnd type="none" w="med" len="med"/>
                    </a:lnL>
                    <a:lnR w="9525" cap="flat" cmpd="sng" algn="ctr">
                      <a:solidFill>
                        <a:srgbClr val="DCD5C6"/>
                      </a:solidFill>
                      <a:prstDash val="solid"/>
                      <a:round/>
                      <a:headEnd type="none" w="med" len="med"/>
                      <a:tailEnd type="none" w="med" len="med"/>
                    </a:lnR>
                    <a:lnT w="9525" cap="flat" cmpd="sng" algn="ctr">
                      <a:solidFill>
                        <a:srgbClr val="DCD5C6"/>
                      </a:solidFill>
                      <a:prstDash val="solid"/>
                      <a:round/>
                      <a:headEnd type="none" w="med" len="med"/>
                      <a:tailEnd type="none" w="med" len="med"/>
                    </a:lnT>
                    <a:lnB w="9525" cap="flat" cmpd="sng" algn="ctr">
                      <a:solidFill>
                        <a:srgbClr val="DCD5C6"/>
                      </a:solidFill>
                      <a:prstDash val="solid"/>
                      <a:round/>
                      <a:headEnd type="none" w="med" len="med"/>
                      <a:tailEnd type="none" w="med" len="med"/>
                    </a:lnB>
                    <a:solidFill>
                      <a:srgbClr val="FBF9F4"/>
                    </a:solidFill>
                  </a:tcPr>
                </a:tc>
                <a:tc>
                  <a:txBody>
                    <a:bodyPr/>
                    <a:lstStyle/>
                    <a:p>
                      <a:pPr indent="0" marL="0">
                        <a:buNone/>
                      </a:pPr>
                      <a:r>
                        <a:rPr lang="en-US" sz="950" dirty="0">
                          <a:solidFill>
                            <a:srgbClr val="1F4A3A"/>
                          </a:solidFill>
                          <a:latin typeface="Consolas" pitchFamily="34" charset="0"/>
                          <a:ea typeface="Consolas" pitchFamily="34" charset="-122"/>
                          <a:cs typeface="Consolas" pitchFamily="34" charset="-120"/>
                        </a:rPr>
                        <a:t>transferts.php</a:t>
                      </a:r>
                      <a:endParaRPr lang="en-US" sz="950" dirty="0">
                        <a:latin typeface="Consolas" charset="0"/>
                        <a:ea typeface="Consolas" charset="0"/>
                        <a:cs typeface="Consolas" charset="0"/>
                      </a:endParaRPr>
                    </a:p>
                  </a:txBody>
                  <a:tcPr marL="109728" marR="109728" marT="36576" marB="36576" anchor="ctr">
                    <a:lnL w="9525" cap="flat" cmpd="sng" algn="ctr">
                      <a:solidFill>
                        <a:srgbClr val="DCD5C6"/>
                      </a:solidFill>
                      <a:prstDash val="solid"/>
                      <a:round/>
                      <a:headEnd type="none" w="med" len="med"/>
                      <a:tailEnd type="none" w="med" len="med"/>
                    </a:lnL>
                    <a:lnR w="9525" cap="flat" cmpd="sng" algn="ctr">
                      <a:solidFill>
                        <a:srgbClr val="DCD5C6"/>
                      </a:solidFill>
                      <a:prstDash val="solid"/>
                      <a:round/>
                      <a:headEnd type="none" w="med" len="med"/>
                      <a:tailEnd type="none" w="med" len="med"/>
                    </a:lnR>
                    <a:lnT w="9525" cap="flat" cmpd="sng" algn="ctr">
                      <a:solidFill>
                        <a:srgbClr val="DCD5C6"/>
                      </a:solidFill>
                      <a:prstDash val="solid"/>
                      <a:round/>
                      <a:headEnd type="none" w="med" len="med"/>
                      <a:tailEnd type="none" w="med" len="med"/>
                    </a:lnT>
                    <a:lnB w="9525" cap="flat" cmpd="sng" algn="ctr">
                      <a:solidFill>
                        <a:srgbClr val="DCD5C6"/>
                      </a:solidFill>
                      <a:prstDash val="solid"/>
                      <a:round/>
                      <a:headEnd type="none" w="med" len="med"/>
                      <a:tailEnd type="none" w="med" len="med"/>
                    </a:lnB>
                    <a:solidFill>
                      <a:srgbClr val="FBF9F4"/>
                    </a:solidFill>
                  </a:tcPr>
                </a:tc>
                <a:tc>
                  <a:txBody>
                    <a:bodyPr/>
                    <a:lstStyle/>
                    <a:p>
                      <a:pPr algn="ctr" indent="0" marL="0">
                        <a:buNone/>
                      </a:pPr>
                      <a:r>
                        <a:rPr lang="en-US" sz="1500" b="1" dirty="0">
                          <a:solidFill>
                            <a:srgbClr val="2E7250"/>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9728" marR="109728" marT="36576" marB="36576" anchor="ctr">
                    <a:lnL w="9525" cap="flat" cmpd="sng" algn="ctr">
                      <a:solidFill>
                        <a:srgbClr val="DCD5C6"/>
                      </a:solidFill>
                      <a:prstDash val="solid"/>
                      <a:round/>
                      <a:headEnd type="none" w="med" len="med"/>
                      <a:tailEnd type="none" w="med" len="med"/>
                    </a:lnL>
                    <a:lnR w="9525" cap="flat" cmpd="sng" algn="ctr">
                      <a:solidFill>
                        <a:srgbClr val="DCD5C6"/>
                      </a:solidFill>
                      <a:prstDash val="solid"/>
                      <a:round/>
                      <a:headEnd type="none" w="med" len="med"/>
                      <a:tailEnd type="none" w="med" len="med"/>
                    </a:lnR>
                    <a:lnT w="9525" cap="flat" cmpd="sng" algn="ctr">
                      <a:solidFill>
                        <a:srgbClr val="DCD5C6"/>
                      </a:solidFill>
                      <a:prstDash val="solid"/>
                      <a:round/>
                      <a:headEnd type="none" w="med" len="med"/>
                      <a:tailEnd type="none" w="med" len="med"/>
                    </a:lnT>
                    <a:lnB w="9525" cap="flat" cmpd="sng" algn="ctr">
                      <a:solidFill>
                        <a:srgbClr val="DCD5C6"/>
                      </a:solidFill>
                      <a:prstDash val="solid"/>
                      <a:round/>
                      <a:headEnd type="none" w="med" len="med"/>
                      <a:tailEnd type="none" w="med" len="med"/>
                    </a:lnB>
                    <a:solidFill>
                      <a:srgbClr val="FBF9F4"/>
                    </a:solidFill>
                  </a:tcPr>
                </a:tc>
              </a:tr>
              <a:tr h="457200">
                <a:tc>
                  <a:txBody>
                    <a:bodyPr/>
                    <a:lstStyle/>
                    <a:p>
                      <a:pPr indent="0" marL="0">
                        <a:buNone/>
                      </a:pPr>
                      <a:r>
                        <a:rPr lang="en-US" sz="1200" b="1" dirty="0">
                          <a:solidFill>
                            <a:srgbClr val="17211C"/>
                          </a:solidFill>
                          <a:latin typeface="Calibri" pitchFamily="34" charset="0"/>
                          <a:ea typeface="Calibri" pitchFamily="34" charset="-122"/>
                          <a:cs typeface="Calibri" pitchFamily="34" charset="-120"/>
                        </a:rPr>
                        <a:t>Suivi de l'état</a:t>
                      </a:r>
                      <a:endParaRPr lang="en-US" sz="1200" dirty="0">
                        <a:latin typeface="Calibri" charset="0"/>
                        <a:ea typeface="Calibri" charset="0"/>
                        <a:cs typeface="Calibri" charset="0"/>
                      </a:endParaRPr>
                    </a:p>
                  </a:txBody>
                  <a:tcPr marL="109728" marR="109728" marT="36576" marB="36576" anchor="ctr">
                    <a:lnL w="9525" cap="flat" cmpd="sng" algn="ctr">
                      <a:solidFill>
                        <a:srgbClr val="DCD5C6"/>
                      </a:solidFill>
                      <a:prstDash val="solid"/>
                      <a:round/>
                      <a:headEnd type="none" w="med" len="med"/>
                      <a:tailEnd type="none" w="med" len="med"/>
                    </a:lnL>
                    <a:lnR w="9525" cap="flat" cmpd="sng" algn="ctr">
                      <a:solidFill>
                        <a:srgbClr val="DCD5C6"/>
                      </a:solidFill>
                      <a:prstDash val="solid"/>
                      <a:round/>
                      <a:headEnd type="none" w="med" len="med"/>
                      <a:tailEnd type="none" w="med" len="med"/>
                    </a:lnR>
                    <a:lnT w="9525" cap="flat" cmpd="sng" algn="ctr">
                      <a:solidFill>
                        <a:srgbClr val="DCD5C6"/>
                      </a:solidFill>
                      <a:prstDash val="solid"/>
                      <a:round/>
                      <a:headEnd type="none" w="med" len="med"/>
                      <a:tailEnd type="none" w="med" len="med"/>
                    </a:lnT>
                    <a:lnB w="9525" cap="flat" cmpd="sng" algn="ctr">
                      <a:solidFill>
                        <a:srgbClr val="DCD5C6"/>
                      </a:solidFill>
                      <a:prstDash val="solid"/>
                      <a:round/>
                      <a:headEnd type="none" w="med" len="med"/>
                      <a:tailEnd type="none" w="med" len="med"/>
                    </a:lnB>
                    <a:solidFill>
                      <a:srgbClr val="F7F4EC"/>
                    </a:solidFill>
                  </a:tcPr>
                </a:tc>
                <a:tc>
                  <a:txBody>
                    <a:bodyPr/>
                    <a:lstStyle/>
                    <a:p>
                      <a:pPr indent="0" marL="0">
                        <a:buNone/>
                      </a:pPr>
                      <a:r>
                        <a:rPr lang="en-US" sz="1150" dirty="0">
                          <a:solidFill>
                            <a:srgbClr val="3F4842"/>
                          </a:solidFill>
                          <a:latin typeface="Calibri" pitchFamily="34" charset="0"/>
                          <a:ea typeface="Calibri" pitchFamily="34" charset="-122"/>
                          <a:cs typeface="Calibri" pitchFamily="34" charset="-120"/>
                        </a:rPr>
                        <a:t>En service, en panne, en réparation, réformé — observation obligatoire, réforme définitive</a:t>
                      </a:r>
                      <a:endParaRPr lang="en-US" sz="1150" dirty="0">
                        <a:latin typeface="Calibri" charset="0"/>
                        <a:ea typeface="Calibri" charset="0"/>
                        <a:cs typeface="Calibri" charset="0"/>
                      </a:endParaRPr>
                    </a:p>
                  </a:txBody>
                  <a:tcPr marL="109728" marR="109728" marT="36576" marB="36576" anchor="ctr">
                    <a:lnL w="9525" cap="flat" cmpd="sng" algn="ctr">
                      <a:solidFill>
                        <a:srgbClr val="DCD5C6"/>
                      </a:solidFill>
                      <a:prstDash val="solid"/>
                      <a:round/>
                      <a:headEnd type="none" w="med" len="med"/>
                      <a:tailEnd type="none" w="med" len="med"/>
                    </a:lnL>
                    <a:lnR w="9525" cap="flat" cmpd="sng" algn="ctr">
                      <a:solidFill>
                        <a:srgbClr val="DCD5C6"/>
                      </a:solidFill>
                      <a:prstDash val="solid"/>
                      <a:round/>
                      <a:headEnd type="none" w="med" len="med"/>
                      <a:tailEnd type="none" w="med" len="med"/>
                    </a:lnR>
                    <a:lnT w="9525" cap="flat" cmpd="sng" algn="ctr">
                      <a:solidFill>
                        <a:srgbClr val="DCD5C6"/>
                      </a:solidFill>
                      <a:prstDash val="solid"/>
                      <a:round/>
                      <a:headEnd type="none" w="med" len="med"/>
                      <a:tailEnd type="none" w="med" len="med"/>
                    </a:lnT>
                    <a:lnB w="9525" cap="flat" cmpd="sng" algn="ctr">
                      <a:solidFill>
                        <a:srgbClr val="DCD5C6"/>
                      </a:solidFill>
                      <a:prstDash val="solid"/>
                      <a:round/>
                      <a:headEnd type="none" w="med" len="med"/>
                      <a:tailEnd type="none" w="med" len="med"/>
                    </a:lnB>
                    <a:solidFill>
                      <a:srgbClr val="F7F4EC"/>
                    </a:solidFill>
                  </a:tcPr>
                </a:tc>
                <a:tc>
                  <a:txBody>
                    <a:bodyPr/>
                    <a:lstStyle/>
                    <a:p>
                      <a:pPr indent="0" marL="0">
                        <a:buNone/>
                      </a:pPr>
                      <a:r>
                        <a:rPr lang="en-US" sz="950" dirty="0">
                          <a:solidFill>
                            <a:srgbClr val="1F4A3A"/>
                          </a:solidFill>
                          <a:latin typeface="Consolas" pitchFamily="34" charset="0"/>
                          <a:ea typeface="Consolas" pitchFamily="34" charset="-122"/>
                          <a:cs typeface="Consolas" pitchFamily="34" charset="-120"/>
                        </a:rPr>
                        <a:t>materiel.php</a:t>
                      </a:r>
                      <a:endParaRPr lang="en-US" sz="950" dirty="0">
                        <a:latin typeface="Consolas" charset="0"/>
                        <a:ea typeface="Consolas" charset="0"/>
                        <a:cs typeface="Consolas" charset="0"/>
                      </a:endParaRPr>
                    </a:p>
                  </a:txBody>
                  <a:tcPr marL="109728" marR="109728" marT="36576" marB="36576" anchor="ctr">
                    <a:lnL w="9525" cap="flat" cmpd="sng" algn="ctr">
                      <a:solidFill>
                        <a:srgbClr val="DCD5C6"/>
                      </a:solidFill>
                      <a:prstDash val="solid"/>
                      <a:round/>
                      <a:headEnd type="none" w="med" len="med"/>
                      <a:tailEnd type="none" w="med" len="med"/>
                    </a:lnL>
                    <a:lnR w="9525" cap="flat" cmpd="sng" algn="ctr">
                      <a:solidFill>
                        <a:srgbClr val="DCD5C6"/>
                      </a:solidFill>
                      <a:prstDash val="solid"/>
                      <a:round/>
                      <a:headEnd type="none" w="med" len="med"/>
                      <a:tailEnd type="none" w="med" len="med"/>
                    </a:lnR>
                    <a:lnT w="9525" cap="flat" cmpd="sng" algn="ctr">
                      <a:solidFill>
                        <a:srgbClr val="DCD5C6"/>
                      </a:solidFill>
                      <a:prstDash val="solid"/>
                      <a:round/>
                      <a:headEnd type="none" w="med" len="med"/>
                      <a:tailEnd type="none" w="med" len="med"/>
                    </a:lnT>
                    <a:lnB w="9525" cap="flat" cmpd="sng" algn="ctr">
                      <a:solidFill>
                        <a:srgbClr val="DCD5C6"/>
                      </a:solidFill>
                      <a:prstDash val="solid"/>
                      <a:round/>
                      <a:headEnd type="none" w="med" len="med"/>
                      <a:tailEnd type="none" w="med" len="med"/>
                    </a:lnB>
                    <a:solidFill>
                      <a:srgbClr val="F7F4EC"/>
                    </a:solidFill>
                  </a:tcPr>
                </a:tc>
                <a:tc>
                  <a:txBody>
                    <a:bodyPr/>
                    <a:lstStyle/>
                    <a:p>
                      <a:pPr algn="ctr" indent="0" marL="0">
                        <a:buNone/>
                      </a:pPr>
                      <a:r>
                        <a:rPr lang="en-US" sz="1500" b="1" dirty="0">
                          <a:solidFill>
                            <a:srgbClr val="2E7250"/>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9728" marR="109728" marT="36576" marB="36576" anchor="ctr">
                    <a:lnL w="9525" cap="flat" cmpd="sng" algn="ctr">
                      <a:solidFill>
                        <a:srgbClr val="DCD5C6"/>
                      </a:solidFill>
                      <a:prstDash val="solid"/>
                      <a:round/>
                      <a:headEnd type="none" w="med" len="med"/>
                      <a:tailEnd type="none" w="med" len="med"/>
                    </a:lnL>
                    <a:lnR w="9525" cap="flat" cmpd="sng" algn="ctr">
                      <a:solidFill>
                        <a:srgbClr val="DCD5C6"/>
                      </a:solidFill>
                      <a:prstDash val="solid"/>
                      <a:round/>
                      <a:headEnd type="none" w="med" len="med"/>
                      <a:tailEnd type="none" w="med" len="med"/>
                    </a:lnR>
                    <a:lnT w="9525" cap="flat" cmpd="sng" algn="ctr">
                      <a:solidFill>
                        <a:srgbClr val="DCD5C6"/>
                      </a:solidFill>
                      <a:prstDash val="solid"/>
                      <a:round/>
                      <a:headEnd type="none" w="med" len="med"/>
                      <a:tailEnd type="none" w="med" len="med"/>
                    </a:lnT>
                    <a:lnB w="9525" cap="flat" cmpd="sng" algn="ctr">
                      <a:solidFill>
                        <a:srgbClr val="DCD5C6"/>
                      </a:solidFill>
                      <a:prstDash val="solid"/>
                      <a:round/>
                      <a:headEnd type="none" w="med" len="med"/>
                      <a:tailEnd type="none" w="med" len="med"/>
                    </a:lnB>
                    <a:solidFill>
                      <a:srgbClr val="F7F4EC"/>
                    </a:solidFill>
                  </a:tcPr>
                </a:tc>
              </a:tr>
              <a:tr h="457200">
                <a:tc>
                  <a:txBody>
                    <a:bodyPr/>
                    <a:lstStyle/>
                    <a:p>
                      <a:pPr indent="0" marL="0">
                        <a:buNone/>
                      </a:pPr>
                      <a:r>
                        <a:rPr lang="en-US" sz="1200" b="1" dirty="0">
                          <a:solidFill>
                            <a:srgbClr val="17211C"/>
                          </a:solidFill>
                          <a:latin typeface="Calibri" pitchFamily="34" charset="0"/>
                          <a:ea typeface="Calibri" pitchFamily="34" charset="-122"/>
                          <a:cs typeface="Calibri" pitchFamily="34" charset="-120"/>
                        </a:rPr>
                        <a:t>Historique des mouvements</a:t>
                      </a:r>
                      <a:endParaRPr lang="en-US" sz="1200" dirty="0">
                        <a:latin typeface="Calibri" charset="0"/>
                        <a:ea typeface="Calibri" charset="0"/>
                        <a:cs typeface="Calibri" charset="0"/>
                      </a:endParaRPr>
                    </a:p>
                  </a:txBody>
                  <a:tcPr marL="109728" marR="109728" marT="36576" marB="36576" anchor="ctr">
                    <a:lnL w="9525" cap="flat" cmpd="sng" algn="ctr">
                      <a:solidFill>
                        <a:srgbClr val="DCD5C6"/>
                      </a:solidFill>
                      <a:prstDash val="solid"/>
                      <a:round/>
                      <a:headEnd type="none" w="med" len="med"/>
                      <a:tailEnd type="none" w="med" len="med"/>
                    </a:lnL>
                    <a:lnR w="9525" cap="flat" cmpd="sng" algn="ctr">
                      <a:solidFill>
                        <a:srgbClr val="DCD5C6"/>
                      </a:solidFill>
                      <a:prstDash val="solid"/>
                      <a:round/>
                      <a:headEnd type="none" w="med" len="med"/>
                      <a:tailEnd type="none" w="med" len="med"/>
                    </a:lnR>
                    <a:lnT w="9525" cap="flat" cmpd="sng" algn="ctr">
                      <a:solidFill>
                        <a:srgbClr val="DCD5C6"/>
                      </a:solidFill>
                      <a:prstDash val="solid"/>
                      <a:round/>
                      <a:headEnd type="none" w="med" len="med"/>
                      <a:tailEnd type="none" w="med" len="med"/>
                    </a:lnT>
                    <a:lnB w="9525" cap="flat" cmpd="sng" algn="ctr">
                      <a:solidFill>
                        <a:srgbClr val="DCD5C6"/>
                      </a:solidFill>
                      <a:prstDash val="solid"/>
                      <a:round/>
                      <a:headEnd type="none" w="med" len="med"/>
                      <a:tailEnd type="none" w="med" len="med"/>
                    </a:lnB>
                    <a:solidFill>
                      <a:srgbClr val="FBF9F4"/>
                    </a:solidFill>
                  </a:tcPr>
                </a:tc>
                <a:tc>
                  <a:txBody>
                    <a:bodyPr/>
                    <a:lstStyle/>
                    <a:p>
                      <a:pPr indent="0" marL="0">
                        <a:buNone/>
                      </a:pPr>
                      <a:r>
                        <a:rPr lang="en-US" sz="1150" dirty="0">
                          <a:solidFill>
                            <a:srgbClr val="3F4842"/>
                          </a:solidFill>
                          <a:latin typeface="Calibri" pitchFamily="34" charset="0"/>
                          <a:ea typeface="Calibri" pitchFamily="34" charset="-122"/>
                          <a:cs typeface="Calibri" pitchFamily="34" charset="-120"/>
                        </a:rPr>
                        <a:t>Date, matériel, direction de départ et d'arrivée, observation — filtres et export CSV</a:t>
                      </a:r>
                      <a:endParaRPr lang="en-US" sz="1150" dirty="0">
                        <a:latin typeface="Calibri" charset="0"/>
                        <a:ea typeface="Calibri" charset="0"/>
                        <a:cs typeface="Calibri" charset="0"/>
                      </a:endParaRPr>
                    </a:p>
                  </a:txBody>
                  <a:tcPr marL="109728" marR="109728" marT="36576" marB="36576" anchor="ctr">
                    <a:lnL w="9525" cap="flat" cmpd="sng" algn="ctr">
                      <a:solidFill>
                        <a:srgbClr val="DCD5C6"/>
                      </a:solidFill>
                      <a:prstDash val="solid"/>
                      <a:round/>
                      <a:headEnd type="none" w="med" len="med"/>
                      <a:tailEnd type="none" w="med" len="med"/>
                    </a:lnL>
                    <a:lnR w="9525" cap="flat" cmpd="sng" algn="ctr">
                      <a:solidFill>
                        <a:srgbClr val="DCD5C6"/>
                      </a:solidFill>
                      <a:prstDash val="solid"/>
                      <a:round/>
                      <a:headEnd type="none" w="med" len="med"/>
                      <a:tailEnd type="none" w="med" len="med"/>
                    </a:lnR>
                    <a:lnT w="9525" cap="flat" cmpd="sng" algn="ctr">
                      <a:solidFill>
                        <a:srgbClr val="DCD5C6"/>
                      </a:solidFill>
                      <a:prstDash val="solid"/>
                      <a:round/>
                      <a:headEnd type="none" w="med" len="med"/>
                      <a:tailEnd type="none" w="med" len="med"/>
                    </a:lnT>
                    <a:lnB w="9525" cap="flat" cmpd="sng" algn="ctr">
                      <a:solidFill>
                        <a:srgbClr val="DCD5C6"/>
                      </a:solidFill>
                      <a:prstDash val="solid"/>
                      <a:round/>
                      <a:headEnd type="none" w="med" len="med"/>
                      <a:tailEnd type="none" w="med" len="med"/>
                    </a:lnB>
                    <a:solidFill>
                      <a:srgbClr val="FBF9F4"/>
                    </a:solidFill>
                  </a:tcPr>
                </a:tc>
                <a:tc>
                  <a:txBody>
                    <a:bodyPr/>
                    <a:lstStyle/>
                    <a:p>
                      <a:pPr indent="0" marL="0">
                        <a:buNone/>
                      </a:pPr>
                      <a:r>
                        <a:rPr lang="en-US" sz="950" dirty="0">
                          <a:solidFill>
                            <a:srgbClr val="1F4A3A"/>
                          </a:solidFill>
                          <a:latin typeface="Consolas" pitchFamily="34" charset="0"/>
                          <a:ea typeface="Consolas" pitchFamily="34" charset="-122"/>
                          <a:cs typeface="Consolas" pitchFamily="34" charset="-120"/>
                        </a:rPr>
                        <a:t>mouvements.php</a:t>
                      </a:r>
                      <a:endParaRPr lang="en-US" sz="950" dirty="0">
                        <a:latin typeface="Consolas" charset="0"/>
                        <a:ea typeface="Consolas" charset="0"/>
                        <a:cs typeface="Consolas" charset="0"/>
                      </a:endParaRPr>
                    </a:p>
                  </a:txBody>
                  <a:tcPr marL="109728" marR="109728" marT="36576" marB="36576" anchor="ctr">
                    <a:lnL w="9525" cap="flat" cmpd="sng" algn="ctr">
                      <a:solidFill>
                        <a:srgbClr val="DCD5C6"/>
                      </a:solidFill>
                      <a:prstDash val="solid"/>
                      <a:round/>
                      <a:headEnd type="none" w="med" len="med"/>
                      <a:tailEnd type="none" w="med" len="med"/>
                    </a:lnL>
                    <a:lnR w="9525" cap="flat" cmpd="sng" algn="ctr">
                      <a:solidFill>
                        <a:srgbClr val="DCD5C6"/>
                      </a:solidFill>
                      <a:prstDash val="solid"/>
                      <a:round/>
                      <a:headEnd type="none" w="med" len="med"/>
                      <a:tailEnd type="none" w="med" len="med"/>
                    </a:lnR>
                    <a:lnT w="9525" cap="flat" cmpd="sng" algn="ctr">
                      <a:solidFill>
                        <a:srgbClr val="DCD5C6"/>
                      </a:solidFill>
                      <a:prstDash val="solid"/>
                      <a:round/>
                      <a:headEnd type="none" w="med" len="med"/>
                      <a:tailEnd type="none" w="med" len="med"/>
                    </a:lnT>
                    <a:lnB w="9525" cap="flat" cmpd="sng" algn="ctr">
                      <a:solidFill>
                        <a:srgbClr val="DCD5C6"/>
                      </a:solidFill>
                      <a:prstDash val="solid"/>
                      <a:round/>
                      <a:headEnd type="none" w="med" len="med"/>
                      <a:tailEnd type="none" w="med" len="med"/>
                    </a:lnB>
                    <a:solidFill>
                      <a:srgbClr val="FBF9F4"/>
                    </a:solidFill>
                  </a:tcPr>
                </a:tc>
                <a:tc>
                  <a:txBody>
                    <a:bodyPr/>
                    <a:lstStyle/>
                    <a:p>
                      <a:pPr algn="ctr" indent="0" marL="0">
                        <a:buNone/>
                      </a:pPr>
                      <a:r>
                        <a:rPr lang="en-US" sz="1500" b="1" dirty="0">
                          <a:solidFill>
                            <a:srgbClr val="2E7250"/>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9728" marR="109728" marT="36576" marB="36576" anchor="ctr">
                    <a:lnL w="9525" cap="flat" cmpd="sng" algn="ctr">
                      <a:solidFill>
                        <a:srgbClr val="DCD5C6"/>
                      </a:solidFill>
                      <a:prstDash val="solid"/>
                      <a:round/>
                      <a:headEnd type="none" w="med" len="med"/>
                      <a:tailEnd type="none" w="med" len="med"/>
                    </a:lnL>
                    <a:lnR w="9525" cap="flat" cmpd="sng" algn="ctr">
                      <a:solidFill>
                        <a:srgbClr val="DCD5C6"/>
                      </a:solidFill>
                      <a:prstDash val="solid"/>
                      <a:round/>
                      <a:headEnd type="none" w="med" len="med"/>
                      <a:tailEnd type="none" w="med" len="med"/>
                    </a:lnR>
                    <a:lnT w="9525" cap="flat" cmpd="sng" algn="ctr">
                      <a:solidFill>
                        <a:srgbClr val="DCD5C6"/>
                      </a:solidFill>
                      <a:prstDash val="solid"/>
                      <a:round/>
                      <a:headEnd type="none" w="med" len="med"/>
                      <a:tailEnd type="none" w="med" len="med"/>
                    </a:lnT>
                    <a:lnB w="9525" cap="flat" cmpd="sng" algn="ctr">
                      <a:solidFill>
                        <a:srgbClr val="DCD5C6"/>
                      </a:solidFill>
                      <a:prstDash val="solid"/>
                      <a:round/>
                      <a:headEnd type="none" w="med" len="med"/>
                      <a:tailEnd type="none" w="med" len="med"/>
                    </a:lnB>
                    <a:solidFill>
                      <a:srgbClr val="FBF9F4"/>
                    </a:solidFill>
                  </a:tcPr>
                </a:tc>
              </a:tr>
              <a:tr h="457200">
                <a:tc>
                  <a:txBody>
                    <a:bodyPr/>
                    <a:lstStyle/>
                    <a:p>
                      <a:pPr indent="0" marL="0">
                        <a:buNone/>
                      </a:pPr>
                      <a:r>
                        <a:rPr lang="en-US" sz="1200" b="1" dirty="0">
                          <a:solidFill>
                            <a:srgbClr val="17211C"/>
                          </a:solidFill>
                          <a:latin typeface="Calibri" pitchFamily="34" charset="0"/>
                          <a:ea typeface="Calibri" pitchFamily="34" charset="-122"/>
                          <a:cs typeface="Calibri" pitchFamily="34" charset="-120"/>
                        </a:rPr>
                        <a:t>Recherche et tableau de bord</a:t>
                      </a:r>
                      <a:endParaRPr lang="en-US" sz="1200" dirty="0">
                        <a:latin typeface="Calibri" charset="0"/>
                        <a:ea typeface="Calibri" charset="0"/>
                        <a:cs typeface="Calibri" charset="0"/>
                      </a:endParaRPr>
                    </a:p>
                  </a:txBody>
                  <a:tcPr marL="109728" marR="109728" marT="36576" marB="36576" anchor="ctr">
                    <a:lnL w="9525" cap="flat" cmpd="sng" algn="ctr">
                      <a:solidFill>
                        <a:srgbClr val="DCD5C6"/>
                      </a:solidFill>
                      <a:prstDash val="solid"/>
                      <a:round/>
                      <a:headEnd type="none" w="med" len="med"/>
                      <a:tailEnd type="none" w="med" len="med"/>
                    </a:lnL>
                    <a:lnR w="9525" cap="flat" cmpd="sng" algn="ctr">
                      <a:solidFill>
                        <a:srgbClr val="DCD5C6"/>
                      </a:solidFill>
                      <a:prstDash val="solid"/>
                      <a:round/>
                      <a:headEnd type="none" w="med" len="med"/>
                      <a:tailEnd type="none" w="med" len="med"/>
                    </a:lnR>
                    <a:lnT w="9525" cap="flat" cmpd="sng" algn="ctr">
                      <a:solidFill>
                        <a:srgbClr val="DCD5C6"/>
                      </a:solidFill>
                      <a:prstDash val="solid"/>
                      <a:round/>
                      <a:headEnd type="none" w="med" len="med"/>
                      <a:tailEnd type="none" w="med" len="med"/>
                    </a:lnT>
                    <a:lnB w="9525" cap="flat" cmpd="sng" algn="ctr">
                      <a:solidFill>
                        <a:srgbClr val="DCD5C6"/>
                      </a:solidFill>
                      <a:prstDash val="solid"/>
                      <a:round/>
                      <a:headEnd type="none" w="med" len="med"/>
                      <a:tailEnd type="none" w="med" len="med"/>
                    </a:lnB>
                    <a:solidFill>
                      <a:srgbClr val="F7F4EC"/>
                    </a:solidFill>
                  </a:tcPr>
                </a:tc>
                <a:tc>
                  <a:txBody>
                    <a:bodyPr/>
                    <a:lstStyle/>
                    <a:p>
                      <a:pPr indent="0" marL="0">
                        <a:buNone/>
                      </a:pPr>
                      <a:r>
                        <a:rPr lang="en-US" sz="1150" dirty="0">
                          <a:solidFill>
                            <a:srgbClr val="3F4842"/>
                          </a:solidFill>
                          <a:latin typeface="Calibri" pitchFamily="34" charset="0"/>
                          <a:ea typeface="Calibri" pitchFamily="34" charset="-122"/>
                          <a:cs typeface="Calibri" pitchFamily="34" charset="-120"/>
                        </a:rPr>
                        <a:t>Par n°, désignation ou direction ; total, par direction, en panne, réformés</a:t>
                      </a:r>
                      <a:endParaRPr lang="en-US" sz="1150" dirty="0">
                        <a:latin typeface="Calibri" charset="0"/>
                        <a:ea typeface="Calibri" charset="0"/>
                        <a:cs typeface="Calibri" charset="0"/>
                      </a:endParaRPr>
                    </a:p>
                  </a:txBody>
                  <a:tcPr marL="109728" marR="109728" marT="36576" marB="36576" anchor="ctr">
                    <a:lnL w="9525" cap="flat" cmpd="sng" algn="ctr">
                      <a:solidFill>
                        <a:srgbClr val="DCD5C6"/>
                      </a:solidFill>
                      <a:prstDash val="solid"/>
                      <a:round/>
                      <a:headEnd type="none" w="med" len="med"/>
                      <a:tailEnd type="none" w="med" len="med"/>
                    </a:lnL>
                    <a:lnR w="9525" cap="flat" cmpd="sng" algn="ctr">
                      <a:solidFill>
                        <a:srgbClr val="DCD5C6"/>
                      </a:solidFill>
                      <a:prstDash val="solid"/>
                      <a:round/>
                      <a:headEnd type="none" w="med" len="med"/>
                      <a:tailEnd type="none" w="med" len="med"/>
                    </a:lnR>
                    <a:lnT w="9525" cap="flat" cmpd="sng" algn="ctr">
                      <a:solidFill>
                        <a:srgbClr val="DCD5C6"/>
                      </a:solidFill>
                      <a:prstDash val="solid"/>
                      <a:round/>
                      <a:headEnd type="none" w="med" len="med"/>
                      <a:tailEnd type="none" w="med" len="med"/>
                    </a:lnT>
                    <a:lnB w="9525" cap="flat" cmpd="sng" algn="ctr">
                      <a:solidFill>
                        <a:srgbClr val="DCD5C6"/>
                      </a:solidFill>
                      <a:prstDash val="solid"/>
                      <a:round/>
                      <a:headEnd type="none" w="med" len="med"/>
                      <a:tailEnd type="none" w="med" len="med"/>
                    </a:lnB>
                    <a:solidFill>
                      <a:srgbClr val="F7F4EC"/>
                    </a:solidFill>
                  </a:tcPr>
                </a:tc>
                <a:tc>
                  <a:txBody>
                    <a:bodyPr/>
                    <a:lstStyle/>
                    <a:p>
                      <a:pPr indent="0" marL="0">
                        <a:buNone/>
                      </a:pPr>
                      <a:r>
                        <a:rPr lang="en-US" sz="950" dirty="0">
                          <a:solidFill>
                            <a:srgbClr val="1F4A3A"/>
                          </a:solidFill>
                          <a:latin typeface="Consolas" pitchFamily="34" charset="0"/>
                          <a:ea typeface="Consolas" pitchFamily="34" charset="-122"/>
                          <a:cs typeface="Consolas" pitchFamily="34" charset="-120"/>
                        </a:rPr>
                        <a:t>index.php</a:t>
                      </a:r>
                      <a:endParaRPr lang="en-US" sz="950" dirty="0">
                        <a:latin typeface="Consolas" charset="0"/>
                        <a:ea typeface="Consolas" charset="0"/>
                        <a:cs typeface="Consolas" charset="0"/>
                      </a:endParaRPr>
                    </a:p>
                  </a:txBody>
                  <a:tcPr marL="109728" marR="109728" marT="36576" marB="36576" anchor="ctr">
                    <a:lnL w="9525" cap="flat" cmpd="sng" algn="ctr">
                      <a:solidFill>
                        <a:srgbClr val="DCD5C6"/>
                      </a:solidFill>
                      <a:prstDash val="solid"/>
                      <a:round/>
                      <a:headEnd type="none" w="med" len="med"/>
                      <a:tailEnd type="none" w="med" len="med"/>
                    </a:lnL>
                    <a:lnR w="9525" cap="flat" cmpd="sng" algn="ctr">
                      <a:solidFill>
                        <a:srgbClr val="DCD5C6"/>
                      </a:solidFill>
                      <a:prstDash val="solid"/>
                      <a:round/>
                      <a:headEnd type="none" w="med" len="med"/>
                      <a:tailEnd type="none" w="med" len="med"/>
                    </a:lnR>
                    <a:lnT w="9525" cap="flat" cmpd="sng" algn="ctr">
                      <a:solidFill>
                        <a:srgbClr val="DCD5C6"/>
                      </a:solidFill>
                      <a:prstDash val="solid"/>
                      <a:round/>
                      <a:headEnd type="none" w="med" len="med"/>
                      <a:tailEnd type="none" w="med" len="med"/>
                    </a:lnT>
                    <a:lnB w="9525" cap="flat" cmpd="sng" algn="ctr">
                      <a:solidFill>
                        <a:srgbClr val="DCD5C6"/>
                      </a:solidFill>
                      <a:prstDash val="solid"/>
                      <a:round/>
                      <a:headEnd type="none" w="med" len="med"/>
                      <a:tailEnd type="none" w="med" len="med"/>
                    </a:lnB>
                    <a:solidFill>
                      <a:srgbClr val="F7F4EC"/>
                    </a:solidFill>
                  </a:tcPr>
                </a:tc>
                <a:tc>
                  <a:txBody>
                    <a:bodyPr/>
                    <a:lstStyle/>
                    <a:p>
                      <a:pPr algn="ctr" indent="0" marL="0">
                        <a:buNone/>
                      </a:pPr>
                      <a:r>
                        <a:rPr lang="en-US" sz="1500" b="1" dirty="0">
                          <a:solidFill>
                            <a:srgbClr val="2E7250"/>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109728" marR="109728" marT="36576" marB="36576" anchor="ctr">
                    <a:lnL w="9525" cap="flat" cmpd="sng" algn="ctr">
                      <a:solidFill>
                        <a:srgbClr val="DCD5C6"/>
                      </a:solidFill>
                      <a:prstDash val="solid"/>
                      <a:round/>
                      <a:headEnd type="none" w="med" len="med"/>
                      <a:tailEnd type="none" w="med" len="med"/>
                    </a:lnL>
                    <a:lnR w="9525" cap="flat" cmpd="sng" algn="ctr">
                      <a:solidFill>
                        <a:srgbClr val="DCD5C6"/>
                      </a:solidFill>
                      <a:prstDash val="solid"/>
                      <a:round/>
                      <a:headEnd type="none" w="med" len="med"/>
                      <a:tailEnd type="none" w="med" len="med"/>
                    </a:lnR>
                    <a:lnT w="9525" cap="flat" cmpd="sng" algn="ctr">
                      <a:solidFill>
                        <a:srgbClr val="DCD5C6"/>
                      </a:solidFill>
                      <a:prstDash val="solid"/>
                      <a:round/>
                      <a:headEnd type="none" w="med" len="med"/>
                      <a:tailEnd type="none" w="med" len="med"/>
                    </a:lnT>
                    <a:lnB w="9525" cap="flat" cmpd="sng" algn="ctr">
                      <a:solidFill>
                        <a:srgbClr val="DCD5C6"/>
                      </a:solidFill>
                      <a:prstDash val="solid"/>
                      <a:round/>
                      <a:headEnd type="none" w="med" len="med"/>
                      <a:tailEnd type="none" w="med" len="med"/>
                    </a:lnB>
                    <a:solidFill>
                      <a:srgbClr val="F7F4EC"/>
                    </a:solidFill>
                  </a:tcPr>
                </a:tc>
              </a:tr>
            </a:tbl>
          </a:graphicData>
        </a:graphic>
      </p:graphicFrame>
      <p:sp>
        <p:nvSpPr>
          <p:cNvPr id="10" name="Text 6"/>
          <p:cNvSpPr txBox="1"/>
          <p:nvPr/>
        </p:nvSpPr>
        <p:spPr>
          <a:xfrm>
            <a:off x="548640" y="5989320"/>
            <a:ext cx="9144000" cy="274320"/>
          </a:xfrm>
          <a:prstGeom prst="rect">
            <a:avLst/>
          </a:prstGeom>
          <a:noFill/>
          <a:ln/>
        </p:spPr>
        <p:txBody>
          <a:bodyPr wrap="square" lIns="0" tIns="0" rIns="0" bIns="0" rtlCol="0" anchor="t"/>
          <a:lstStyle/>
          <a:p>
            <a:pPr indent="0" marL="0">
              <a:buNone/>
            </a:pPr>
            <a:r>
              <a:rPr lang="en-US" sz="1200" i="1" dirty="0">
                <a:solidFill>
                  <a:srgbClr val="767A71"/>
                </a:solidFill>
                <a:latin typeface="Calibri" pitchFamily="34" charset="0"/>
                <a:ea typeface="Calibri" pitchFamily="34" charset="-122"/>
                <a:cs typeface="Calibri" pitchFamily="34" charset="-120"/>
              </a:rPr>
              <a:t>En plus : gestion des comptes utilisateurs · code-barres imprimable · export CSV · affichage mobile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EFE6"/>
        </a:solidFill>
      </p:bgPr>
    </p:bg>
    <p:spTree>
      <p:nvGrpSpPr>
        <p:cNvPr id="1" name=""/>
        <p:cNvGrpSpPr/>
        <p:nvPr/>
      </p:nvGrpSpPr>
      <p:grpSpPr>
        <a:xfrm>
          <a:off x="0" y="0"/>
          <a:ext cx="0" cy="0"/>
          <a:chOff x="0" y="0"/>
          <a:chExt cx="0" cy="0"/>
        </a:xfrm>
      </p:grpSpPr>
      <p:sp>
        <p:nvSpPr>
          <p:cNvPr id="2" name="Shape 0"/>
          <p:cNvSpPr/>
          <p:nvPr/>
        </p:nvSpPr>
        <p:spPr>
          <a:xfrm>
            <a:off x="548640" y="384048"/>
            <a:ext cx="1938528" cy="274320"/>
          </a:xfrm>
          <a:prstGeom prst="roundRect">
            <a:avLst>
              <a:gd name="adj" fmla="val 16667"/>
            </a:avLst>
          </a:prstGeom>
          <a:solidFill>
            <a:srgbClr val="FFFDF7"/>
          </a:solidFill>
          <a:ln w="9525">
            <a:solidFill>
              <a:srgbClr val="CBC2AD"/>
            </a:solidFill>
            <a:prstDash val="solid"/>
          </a:ln>
        </p:spPr>
      </p:sp>
      <p:sp>
        <p:nvSpPr>
          <p:cNvPr id="3" name="Shape 1"/>
          <p:cNvSpPr/>
          <p:nvPr/>
        </p:nvSpPr>
        <p:spPr>
          <a:xfrm>
            <a:off x="640080" y="489204"/>
            <a:ext cx="64008" cy="64008"/>
          </a:xfrm>
          <a:prstGeom prst="ellipse">
            <a:avLst/>
          </a:prstGeom>
          <a:solidFill>
            <a:srgbClr val="F3EFE6"/>
          </a:solidFill>
          <a:ln w="9525">
            <a:solidFill>
              <a:srgbClr val="CBC2AD"/>
            </a:solidFill>
            <a:prstDash val="solid"/>
          </a:ln>
        </p:spPr>
      </p:sp>
      <p:sp>
        <p:nvSpPr>
          <p:cNvPr id="4" name="Text 2"/>
          <p:cNvSpPr txBox="1"/>
          <p:nvPr/>
        </p:nvSpPr>
        <p:spPr>
          <a:xfrm>
            <a:off x="768096" y="384048"/>
            <a:ext cx="1700784" cy="274320"/>
          </a:xfrm>
          <a:prstGeom prst="rect">
            <a:avLst/>
          </a:prstGeom>
          <a:noFill/>
          <a:ln/>
        </p:spPr>
        <p:txBody>
          <a:bodyPr wrap="none" lIns="0" tIns="0" rIns="0" bIns="0" rtlCol="0" anchor="ctr"/>
          <a:lstStyle/>
          <a:p>
            <a:pPr indent="0" marL="0">
              <a:buNone/>
            </a:pPr>
            <a:r>
              <a:rPr lang="en-US" sz="1000" spc="100" kern="0" dirty="0">
                <a:solidFill>
                  <a:srgbClr val="17211C"/>
                </a:solidFill>
                <a:latin typeface="Consolas" pitchFamily="34" charset="0"/>
                <a:ea typeface="Consolas" pitchFamily="34" charset="-122"/>
                <a:cs typeface="Consolas" pitchFamily="34" charset="-120"/>
              </a:rPr>
              <a:t>04 · TECHNOLOGIES</a:t>
            </a:r>
            <a:endParaRPr lang="en-US" sz="1000" dirty="0"/>
          </a:p>
        </p:txBody>
      </p:sp>
      <p:sp>
        <p:nvSpPr>
          <p:cNvPr id="5" name="Text 3"/>
          <p:cNvSpPr txBox="1"/>
          <p:nvPr/>
        </p:nvSpPr>
        <p:spPr>
          <a:xfrm>
            <a:off x="548640" y="786384"/>
            <a:ext cx="11094415" cy="731520"/>
          </a:xfrm>
          <a:prstGeom prst="rect">
            <a:avLst/>
          </a:prstGeom>
          <a:noFill/>
          <a:ln/>
        </p:spPr>
        <p:txBody>
          <a:bodyPr wrap="square" lIns="0" tIns="0" rIns="0" bIns="0" rtlCol="0" anchor="ctr"/>
          <a:lstStyle/>
          <a:p>
            <a:pPr indent="0" marL="0">
              <a:buNone/>
            </a:pPr>
            <a:r>
              <a:rPr lang="en-US" sz="3200" dirty="0">
                <a:solidFill>
                  <a:srgbClr val="17211C"/>
                </a:solidFill>
                <a:latin typeface="Georgia" pitchFamily="34" charset="0"/>
                <a:ea typeface="Georgia" pitchFamily="34" charset="-122"/>
                <a:cs typeface="Georgia" pitchFamily="34" charset="-120"/>
              </a:rPr>
              <a:t>La pile demandée, sans framework</a:t>
            </a:r>
            <a:endParaRPr lang="en-US" sz="3200" dirty="0"/>
          </a:p>
        </p:txBody>
      </p:sp>
      <p:sp>
        <p:nvSpPr>
          <p:cNvPr id="7" name="Text 4"/>
          <p:cNvSpPr txBox="1"/>
          <p:nvPr/>
        </p:nvSpPr>
        <p:spPr>
          <a:xfrm>
            <a:off x="10545775" y="6473952"/>
            <a:ext cx="1097280" cy="228600"/>
          </a:xfrm>
          <a:prstGeom prst="rect">
            <a:avLst/>
          </a:prstGeom>
          <a:noFill/>
          <a:ln/>
        </p:spPr>
        <p:txBody>
          <a:bodyPr wrap="square" lIns="0" tIns="0" rIns="0" bIns="0" rtlCol="0" anchor="t"/>
          <a:lstStyle/>
          <a:p>
            <a:pPr algn="r" indent="0" marL="0">
              <a:buNone/>
            </a:pPr>
            <a:r>
              <a:rPr lang="en-US" sz="900" dirty="0">
                <a:solidFill>
                  <a:srgbClr val="767A71"/>
                </a:solidFill>
                <a:latin typeface="Consolas" pitchFamily="34" charset="0"/>
                <a:ea typeface="Consolas" pitchFamily="34" charset="-122"/>
                <a:cs typeface="Consolas" pitchFamily="34" charset="-120"/>
              </a:rPr>
              <a:t>05 / 17</a:t>
            </a:r>
            <a:endParaRPr lang="en-US" sz="900" dirty="0"/>
          </a:p>
        </p:txBody>
      </p:sp>
      <p:sp>
        <p:nvSpPr>
          <p:cNvPr id="8" name="Text 5"/>
          <p:cNvSpPr txBox="1"/>
          <p:nvPr/>
        </p:nvSpPr>
        <p:spPr>
          <a:xfrm>
            <a:off x="548640" y="6473952"/>
            <a:ext cx="1828800" cy="228600"/>
          </a:xfrm>
          <a:prstGeom prst="rect">
            <a:avLst/>
          </a:prstGeom>
          <a:noFill/>
          <a:ln/>
        </p:spPr>
        <p:txBody>
          <a:bodyPr wrap="square" lIns="0" tIns="0" rIns="0" bIns="0" rtlCol="0" anchor="t"/>
          <a:lstStyle/>
          <a:p>
            <a:pPr indent="0" marL="0">
              <a:buNone/>
            </a:pPr>
            <a:r>
              <a:rPr lang="en-US" sz="1000" i="1" dirty="0">
                <a:solidFill>
                  <a:srgbClr val="767A71"/>
                </a:solidFill>
                <a:latin typeface="Georgia" pitchFamily="34" charset="0"/>
                <a:ea typeface="Georgia" pitchFamily="34" charset="-122"/>
                <a:cs typeface="Georgia" pitchFamily="34" charset="-120"/>
              </a:rPr>
              <a:t>Patrimo</a:t>
            </a:r>
            <a:endParaRPr lang="en-US" sz="1000" dirty="0"/>
          </a:p>
        </p:txBody>
      </p:sp>
      <p:sp>
        <p:nvSpPr>
          <p:cNvPr id="9" name="Shape 6"/>
          <p:cNvSpPr/>
          <p:nvPr/>
        </p:nvSpPr>
        <p:spPr>
          <a:xfrm>
            <a:off x="548640" y="1691640"/>
            <a:ext cx="2615184" cy="3246120"/>
          </a:xfrm>
          <a:prstGeom prst="rect">
            <a:avLst/>
          </a:prstGeom>
          <a:solidFill>
            <a:srgbClr val="FBF9F4"/>
          </a:solidFill>
          <a:ln w="9525">
            <a:solidFill>
              <a:srgbClr val="DCD5C6"/>
            </a:solidFill>
            <a:prstDash val="solid"/>
          </a:ln>
          <a:effectLst>
            <a:outerShdw sx="100000" sy="100000" kx="0" ky="0" algn="bl" rotWithShape="0" blurRad="76200" dist="19050" dir="5400000">
              <a:srgbClr val="1A2E25">
                <a:alpha val="8000"/>
              </a:srgbClr>
            </a:outerShdw>
          </a:effectLst>
        </p:spPr>
      </p:sp>
      <p:sp>
        <p:nvSpPr>
          <p:cNvPr id="10" name="Text 7"/>
          <p:cNvSpPr txBox="1"/>
          <p:nvPr/>
        </p:nvSpPr>
        <p:spPr>
          <a:xfrm>
            <a:off x="804672" y="1947672"/>
            <a:ext cx="2157984" cy="274320"/>
          </a:xfrm>
          <a:prstGeom prst="rect">
            <a:avLst/>
          </a:prstGeom>
          <a:noFill/>
          <a:ln/>
        </p:spPr>
        <p:txBody>
          <a:bodyPr wrap="square" lIns="0" tIns="0" rIns="0" bIns="0" rtlCol="0" anchor="t"/>
          <a:lstStyle/>
          <a:p>
            <a:pPr indent="0" marL="0">
              <a:buNone/>
            </a:pPr>
            <a:r>
              <a:rPr lang="en-US" sz="1100" b="1" spc="100" kern="0" dirty="0">
                <a:solidFill>
                  <a:srgbClr val="1F4A3A"/>
                </a:solidFill>
                <a:latin typeface="Consolas" pitchFamily="34" charset="0"/>
                <a:ea typeface="Consolas" pitchFamily="34" charset="-122"/>
                <a:cs typeface="Consolas" pitchFamily="34" charset="-120"/>
              </a:rPr>
              <a:t>PHP 8 · PDO</a:t>
            </a:r>
            <a:endParaRPr lang="en-US" sz="1100" dirty="0"/>
          </a:p>
        </p:txBody>
      </p:sp>
      <p:sp>
        <p:nvSpPr>
          <p:cNvPr id="11" name="Text 8"/>
          <p:cNvSpPr txBox="1"/>
          <p:nvPr/>
        </p:nvSpPr>
        <p:spPr>
          <a:xfrm>
            <a:off x="804672" y="2331720"/>
            <a:ext cx="2157984" cy="868680"/>
          </a:xfrm>
          <a:prstGeom prst="rect">
            <a:avLst/>
          </a:prstGeom>
          <a:noFill/>
          <a:ln/>
        </p:spPr>
        <p:txBody>
          <a:bodyPr wrap="square" lIns="0" tIns="0" rIns="0" bIns="0" rtlCol="0" anchor="t"/>
          <a:lstStyle/>
          <a:p>
            <a:pPr indent="0" marL="0">
              <a:buNone/>
            </a:pPr>
            <a:r>
              <a:rPr lang="en-US" sz="5000" dirty="0">
                <a:solidFill>
                  <a:srgbClr val="17211C"/>
                </a:solidFill>
                <a:latin typeface="Georgia" pitchFamily="34" charset="0"/>
                <a:ea typeface="Georgia" pitchFamily="34" charset="-122"/>
                <a:cs typeface="Georgia" pitchFamily="34" charset="-120"/>
              </a:rPr>
              <a:t>2 278</a:t>
            </a:r>
            <a:endParaRPr lang="en-US" sz="5000" dirty="0"/>
          </a:p>
        </p:txBody>
      </p:sp>
      <p:sp>
        <p:nvSpPr>
          <p:cNvPr id="12" name="Text 9"/>
          <p:cNvSpPr txBox="1"/>
          <p:nvPr/>
        </p:nvSpPr>
        <p:spPr>
          <a:xfrm>
            <a:off x="804672" y="3172968"/>
            <a:ext cx="2157984" cy="274320"/>
          </a:xfrm>
          <a:prstGeom prst="rect">
            <a:avLst/>
          </a:prstGeom>
          <a:noFill/>
          <a:ln/>
        </p:spPr>
        <p:txBody>
          <a:bodyPr wrap="square" lIns="0" tIns="0" rIns="0" bIns="0" rtlCol="0" anchor="t"/>
          <a:lstStyle/>
          <a:p>
            <a:pPr indent="0" marL="0">
              <a:buNone/>
            </a:pPr>
            <a:r>
              <a:rPr lang="en-US" sz="1300" dirty="0">
                <a:solidFill>
                  <a:srgbClr val="767A71"/>
                </a:solidFill>
                <a:latin typeface="Calibri" pitchFamily="34" charset="0"/>
                <a:ea typeface="Calibri" pitchFamily="34" charset="-122"/>
                <a:cs typeface="Calibri" pitchFamily="34" charset="-120"/>
              </a:rPr>
              <a:t>lignes de PHP</a:t>
            </a:r>
            <a:endParaRPr lang="en-US" sz="1300" dirty="0"/>
          </a:p>
        </p:txBody>
      </p:sp>
      <p:sp>
        <p:nvSpPr>
          <p:cNvPr id="13" name="Text 10"/>
          <p:cNvSpPr txBox="1"/>
          <p:nvPr/>
        </p:nvSpPr>
        <p:spPr>
          <a:xfrm>
            <a:off x="804672" y="3630168"/>
            <a:ext cx="2157984" cy="1143000"/>
          </a:xfrm>
          <a:prstGeom prst="rect">
            <a:avLst/>
          </a:prstGeom>
          <a:noFill/>
          <a:ln/>
        </p:spPr>
        <p:txBody>
          <a:bodyPr wrap="square" lIns="0" tIns="0" rIns="0" bIns="0" rtlCol="0" anchor="t"/>
          <a:lstStyle/>
          <a:p>
            <a:pPr indent="0" marL="0">
              <a:buNone/>
            </a:pPr>
            <a:r>
              <a:rPr lang="en-US" sz="1250" dirty="0">
                <a:solidFill>
                  <a:srgbClr val="3F4842"/>
                </a:solidFill>
                <a:latin typeface="Calibri" pitchFamily="34" charset="0"/>
                <a:ea typeface="Calibri" pitchFamily="34" charset="-122"/>
                <a:cs typeface="Calibri" pitchFamily="34" charset="-120"/>
              </a:rPr>
              <a:t>11 pages + 6 fichiers communs : sessions, rôles, règles métier, requêtes préparées.</a:t>
            </a:r>
            <a:endParaRPr lang="en-US" sz="1250" dirty="0"/>
          </a:p>
        </p:txBody>
      </p:sp>
      <p:sp>
        <p:nvSpPr>
          <p:cNvPr id="14" name="Shape 11"/>
          <p:cNvSpPr/>
          <p:nvPr/>
        </p:nvSpPr>
        <p:spPr>
          <a:xfrm>
            <a:off x="3364992" y="1691640"/>
            <a:ext cx="2615184" cy="3246120"/>
          </a:xfrm>
          <a:prstGeom prst="rect">
            <a:avLst/>
          </a:prstGeom>
          <a:solidFill>
            <a:srgbClr val="FBF9F4"/>
          </a:solidFill>
          <a:ln w="9525">
            <a:solidFill>
              <a:srgbClr val="DCD5C6"/>
            </a:solidFill>
            <a:prstDash val="solid"/>
          </a:ln>
          <a:effectLst>
            <a:outerShdw sx="100000" sy="100000" kx="0" ky="0" algn="bl" rotWithShape="0" blurRad="76200" dist="19050" dir="5400000">
              <a:srgbClr val="1A2E25">
                <a:alpha val="8000"/>
              </a:srgbClr>
            </a:outerShdw>
          </a:effectLst>
        </p:spPr>
      </p:sp>
      <p:sp>
        <p:nvSpPr>
          <p:cNvPr id="15" name="Text 12"/>
          <p:cNvSpPr txBox="1"/>
          <p:nvPr/>
        </p:nvSpPr>
        <p:spPr>
          <a:xfrm>
            <a:off x="3621024" y="1947672"/>
            <a:ext cx="2157984" cy="274320"/>
          </a:xfrm>
          <a:prstGeom prst="rect">
            <a:avLst/>
          </a:prstGeom>
          <a:noFill/>
          <a:ln/>
        </p:spPr>
        <p:txBody>
          <a:bodyPr wrap="square" lIns="0" tIns="0" rIns="0" bIns="0" rtlCol="0" anchor="t"/>
          <a:lstStyle/>
          <a:p>
            <a:pPr indent="0" marL="0">
              <a:buNone/>
            </a:pPr>
            <a:r>
              <a:rPr lang="en-US" sz="1100" b="1" spc="100" kern="0" dirty="0">
                <a:solidFill>
                  <a:srgbClr val="1F4A3A"/>
                </a:solidFill>
                <a:latin typeface="Consolas" pitchFamily="34" charset="0"/>
                <a:ea typeface="Consolas" pitchFamily="34" charset="-122"/>
                <a:cs typeface="Consolas" pitchFamily="34" charset="-120"/>
              </a:rPr>
              <a:t>MySQL</a:t>
            </a:r>
            <a:endParaRPr lang="en-US" sz="1100" dirty="0"/>
          </a:p>
        </p:txBody>
      </p:sp>
      <p:sp>
        <p:nvSpPr>
          <p:cNvPr id="16" name="Text 13"/>
          <p:cNvSpPr txBox="1"/>
          <p:nvPr/>
        </p:nvSpPr>
        <p:spPr>
          <a:xfrm>
            <a:off x="3621024" y="2331720"/>
            <a:ext cx="2157984" cy="868680"/>
          </a:xfrm>
          <a:prstGeom prst="rect">
            <a:avLst/>
          </a:prstGeom>
          <a:noFill/>
          <a:ln/>
        </p:spPr>
        <p:txBody>
          <a:bodyPr wrap="square" lIns="0" tIns="0" rIns="0" bIns="0" rtlCol="0" anchor="t"/>
          <a:lstStyle/>
          <a:p>
            <a:pPr indent="0" marL="0">
              <a:buNone/>
            </a:pPr>
            <a:r>
              <a:rPr lang="en-US" sz="5000" dirty="0">
                <a:solidFill>
                  <a:srgbClr val="17211C"/>
                </a:solidFill>
                <a:latin typeface="Georgia" pitchFamily="34" charset="0"/>
                <a:ea typeface="Georgia" pitchFamily="34" charset="-122"/>
                <a:cs typeface="Georgia" pitchFamily="34" charset="-120"/>
              </a:rPr>
              <a:t>6</a:t>
            </a:r>
            <a:endParaRPr lang="en-US" sz="5000" dirty="0"/>
          </a:p>
        </p:txBody>
      </p:sp>
      <p:sp>
        <p:nvSpPr>
          <p:cNvPr id="17" name="Text 14"/>
          <p:cNvSpPr txBox="1"/>
          <p:nvPr/>
        </p:nvSpPr>
        <p:spPr>
          <a:xfrm>
            <a:off x="3621024" y="3172968"/>
            <a:ext cx="2157984" cy="274320"/>
          </a:xfrm>
          <a:prstGeom prst="rect">
            <a:avLst/>
          </a:prstGeom>
          <a:noFill/>
          <a:ln/>
        </p:spPr>
        <p:txBody>
          <a:bodyPr wrap="square" lIns="0" tIns="0" rIns="0" bIns="0" rtlCol="0" anchor="t"/>
          <a:lstStyle/>
          <a:p>
            <a:pPr indent="0" marL="0">
              <a:buNone/>
            </a:pPr>
            <a:r>
              <a:rPr lang="en-US" sz="1300" dirty="0">
                <a:solidFill>
                  <a:srgbClr val="767A71"/>
                </a:solidFill>
                <a:latin typeface="Calibri" pitchFamily="34" charset="0"/>
                <a:ea typeface="Calibri" pitchFamily="34" charset="-122"/>
                <a:cs typeface="Calibri" pitchFamily="34" charset="-120"/>
              </a:rPr>
              <a:t>tables</a:t>
            </a:r>
            <a:endParaRPr lang="en-US" sz="1300" dirty="0"/>
          </a:p>
        </p:txBody>
      </p:sp>
      <p:sp>
        <p:nvSpPr>
          <p:cNvPr id="18" name="Text 15"/>
          <p:cNvSpPr txBox="1"/>
          <p:nvPr/>
        </p:nvSpPr>
        <p:spPr>
          <a:xfrm>
            <a:off x="3621024" y="3630168"/>
            <a:ext cx="2157984" cy="1143000"/>
          </a:xfrm>
          <a:prstGeom prst="rect">
            <a:avLst/>
          </a:prstGeom>
          <a:noFill/>
          <a:ln/>
        </p:spPr>
        <p:txBody>
          <a:bodyPr wrap="square" lIns="0" tIns="0" rIns="0" bIns="0" rtlCol="0" anchor="t"/>
          <a:lstStyle/>
          <a:p>
            <a:pPr indent="0" marL="0">
              <a:buNone/>
            </a:pPr>
            <a:r>
              <a:rPr lang="en-US" sz="1250" dirty="0">
                <a:solidFill>
                  <a:srgbClr val="3F4842"/>
                </a:solidFill>
                <a:latin typeface="Calibri" pitchFamily="34" charset="0"/>
                <a:ea typeface="Calibri" pitchFamily="34" charset="-122"/>
                <a:cs typeface="Calibri" pitchFamily="34" charset="-120"/>
              </a:rPr>
              <a:t>Clés étrangères, contraintes d'unicité et transactions pour les opérations en plusieurs étapes.</a:t>
            </a:r>
            <a:endParaRPr lang="en-US" sz="1250" dirty="0"/>
          </a:p>
        </p:txBody>
      </p:sp>
      <p:sp>
        <p:nvSpPr>
          <p:cNvPr id="19" name="Shape 16"/>
          <p:cNvSpPr/>
          <p:nvPr/>
        </p:nvSpPr>
        <p:spPr>
          <a:xfrm>
            <a:off x="6181344" y="1691640"/>
            <a:ext cx="2615184" cy="3246120"/>
          </a:xfrm>
          <a:prstGeom prst="rect">
            <a:avLst/>
          </a:prstGeom>
          <a:solidFill>
            <a:srgbClr val="FBF9F4"/>
          </a:solidFill>
          <a:ln w="9525">
            <a:solidFill>
              <a:srgbClr val="DCD5C6"/>
            </a:solidFill>
            <a:prstDash val="solid"/>
          </a:ln>
          <a:effectLst>
            <a:outerShdw sx="100000" sy="100000" kx="0" ky="0" algn="bl" rotWithShape="0" blurRad="76200" dist="19050" dir="5400000">
              <a:srgbClr val="1A2E25">
                <a:alpha val="8000"/>
              </a:srgbClr>
            </a:outerShdw>
          </a:effectLst>
        </p:spPr>
      </p:sp>
      <p:sp>
        <p:nvSpPr>
          <p:cNvPr id="20" name="Text 17"/>
          <p:cNvSpPr txBox="1"/>
          <p:nvPr/>
        </p:nvSpPr>
        <p:spPr>
          <a:xfrm>
            <a:off x="6437376" y="1947672"/>
            <a:ext cx="2157984" cy="274320"/>
          </a:xfrm>
          <a:prstGeom prst="rect">
            <a:avLst/>
          </a:prstGeom>
          <a:noFill/>
          <a:ln/>
        </p:spPr>
        <p:txBody>
          <a:bodyPr wrap="square" lIns="0" tIns="0" rIns="0" bIns="0" rtlCol="0" anchor="t"/>
          <a:lstStyle/>
          <a:p>
            <a:pPr indent="0" marL="0">
              <a:buNone/>
            </a:pPr>
            <a:r>
              <a:rPr lang="en-US" sz="1100" b="1" spc="100" kern="0" dirty="0">
                <a:solidFill>
                  <a:srgbClr val="1F4A3A"/>
                </a:solidFill>
                <a:latin typeface="Consolas" pitchFamily="34" charset="0"/>
                <a:ea typeface="Consolas" pitchFamily="34" charset="-122"/>
                <a:cs typeface="Consolas" pitchFamily="34" charset="-120"/>
              </a:rPr>
              <a:t>HTML5 · CSS3</a:t>
            </a:r>
            <a:endParaRPr lang="en-US" sz="1100" dirty="0"/>
          </a:p>
        </p:txBody>
      </p:sp>
      <p:sp>
        <p:nvSpPr>
          <p:cNvPr id="21" name="Text 18"/>
          <p:cNvSpPr txBox="1"/>
          <p:nvPr/>
        </p:nvSpPr>
        <p:spPr>
          <a:xfrm>
            <a:off x="6437376" y="2331720"/>
            <a:ext cx="2157984" cy="868680"/>
          </a:xfrm>
          <a:prstGeom prst="rect">
            <a:avLst/>
          </a:prstGeom>
          <a:noFill/>
          <a:ln/>
        </p:spPr>
        <p:txBody>
          <a:bodyPr wrap="square" lIns="0" tIns="0" rIns="0" bIns="0" rtlCol="0" anchor="t"/>
          <a:lstStyle/>
          <a:p>
            <a:pPr indent="0" marL="0">
              <a:buNone/>
            </a:pPr>
            <a:r>
              <a:rPr lang="en-US" sz="5000" dirty="0">
                <a:solidFill>
                  <a:srgbClr val="17211C"/>
                </a:solidFill>
                <a:latin typeface="Georgia" pitchFamily="34" charset="0"/>
                <a:ea typeface="Georgia" pitchFamily="34" charset="-122"/>
                <a:cs typeface="Georgia" pitchFamily="34" charset="-120"/>
              </a:rPr>
              <a:t>728</a:t>
            </a:r>
            <a:endParaRPr lang="en-US" sz="5000" dirty="0"/>
          </a:p>
        </p:txBody>
      </p:sp>
      <p:sp>
        <p:nvSpPr>
          <p:cNvPr id="22" name="Text 19"/>
          <p:cNvSpPr txBox="1"/>
          <p:nvPr/>
        </p:nvSpPr>
        <p:spPr>
          <a:xfrm>
            <a:off x="6437376" y="3172968"/>
            <a:ext cx="2157984" cy="274320"/>
          </a:xfrm>
          <a:prstGeom prst="rect">
            <a:avLst/>
          </a:prstGeom>
          <a:noFill/>
          <a:ln/>
        </p:spPr>
        <p:txBody>
          <a:bodyPr wrap="square" lIns="0" tIns="0" rIns="0" bIns="0" rtlCol="0" anchor="t"/>
          <a:lstStyle/>
          <a:p>
            <a:pPr indent="0" marL="0">
              <a:buNone/>
            </a:pPr>
            <a:r>
              <a:rPr lang="en-US" sz="1300" dirty="0">
                <a:solidFill>
                  <a:srgbClr val="767A71"/>
                </a:solidFill>
                <a:latin typeface="Calibri" pitchFamily="34" charset="0"/>
                <a:ea typeface="Calibri" pitchFamily="34" charset="-122"/>
                <a:cs typeface="Calibri" pitchFamily="34" charset="-120"/>
              </a:rPr>
              <a:t>lignes de CSS</a:t>
            </a:r>
            <a:endParaRPr lang="en-US" sz="1300" dirty="0"/>
          </a:p>
        </p:txBody>
      </p:sp>
      <p:sp>
        <p:nvSpPr>
          <p:cNvPr id="23" name="Text 20"/>
          <p:cNvSpPr txBox="1"/>
          <p:nvPr/>
        </p:nvSpPr>
        <p:spPr>
          <a:xfrm>
            <a:off x="6437376" y="3630168"/>
            <a:ext cx="2157984" cy="1143000"/>
          </a:xfrm>
          <a:prstGeom prst="rect">
            <a:avLst/>
          </a:prstGeom>
          <a:noFill/>
          <a:ln/>
        </p:spPr>
        <p:txBody>
          <a:bodyPr wrap="square" lIns="0" tIns="0" rIns="0" bIns="0" rtlCol="0" anchor="t"/>
          <a:lstStyle/>
          <a:p>
            <a:pPr indent="0" marL="0">
              <a:buNone/>
            </a:pPr>
            <a:r>
              <a:rPr lang="en-US" sz="1250" dirty="0">
                <a:solidFill>
                  <a:srgbClr val="3F4842"/>
                </a:solidFill>
                <a:latin typeface="Calibri" pitchFamily="34" charset="0"/>
                <a:ea typeface="Calibri" pitchFamily="34" charset="-122"/>
                <a:cs typeface="Calibri" pitchFamily="34" charset="-120"/>
              </a:rPr>
              <a:t>Une seule feuille : variables CSS, grilles, flexbox, version mobile et mise en page d'impression.</a:t>
            </a:r>
            <a:endParaRPr lang="en-US" sz="1250" dirty="0"/>
          </a:p>
        </p:txBody>
      </p:sp>
      <p:sp>
        <p:nvSpPr>
          <p:cNvPr id="24" name="Shape 21"/>
          <p:cNvSpPr/>
          <p:nvPr/>
        </p:nvSpPr>
        <p:spPr>
          <a:xfrm>
            <a:off x="8997696" y="1691640"/>
            <a:ext cx="2615184" cy="3246120"/>
          </a:xfrm>
          <a:prstGeom prst="rect">
            <a:avLst/>
          </a:prstGeom>
          <a:solidFill>
            <a:srgbClr val="FBF9F4"/>
          </a:solidFill>
          <a:ln w="9525">
            <a:solidFill>
              <a:srgbClr val="DCD5C6"/>
            </a:solidFill>
            <a:prstDash val="solid"/>
          </a:ln>
          <a:effectLst>
            <a:outerShdw sx="100000" sy="100000" kx="0" ky="0" algn="bl" rotWithShape="0" blurRad="76200" dist="19050" dir="5400000">
              <a:srgbClr val="1A2E25">
                <a:alpha val="8000"/>
              </a:srgbClr>
            </a:outerShdw>
          </a:effectLst>
        </p:spPr>
      </p:sp>
      <p:sp>
        <p:nvSpPr>
          <p:cNvPr id="25" name="Text 22"/>
          <p:cNvSpPr txBox="1"/>
          <p:nvPr/>
        </p:nvSpPr>
        <p:spPr>
          <a:xfrm>
            <a:off x="9253728" y="1947672"/>
            <a:ext cx="2157984" cy="274320"/>
          </a:xfrm>
          <a:prstGeom prst="rect">
            <a:avLst/>
          </a:prstGeom>
          <a:noFill/>
          <a:ln/>
        </p:spPr>
        <p:txBody>
          <a:bodyPr wrap="square" lIns="0" tIns="0" rIns="0" bIns="0" rtlCol="0" anchor="t"/>
          <a:lstStyle/>
          <a:p>
            <a:pPr indent="0" marL="0">
              <a:buNone/>
            </a:pPr>
            <a:r>
              <a:rPr lang="en-US" sz="1100" b="1" spc="100" kern="0" dirty="0">
                <a:solidFill>
                  <a:srgbClr val="1F4A3A"/>
                </a:solidFill>
                <a:latin typeface="Consolas" pitchFamily="34" charset="0"/>
                <a:ea typeface="Consolas" pitchFamily="34" charset="-122"/>
                <a:cs typeface="Consolas" pitchFamily="34" charset="-120"/>
              </a:rPr>
              <a:t>JavaScript</a:t>
            </a:r>
            <a:endParaRPr lang="en-US" sz="1100" dirty="0"/>
          </a:p>
        </p:txBody>
      </p:sp>
      <p:sp>
        <p:nvSpPr>
          <p:cNvPr id="26" name="Text 23"/>
          <p:cNvSpPr txBox="1"/>
          <p:nvPr/>
        </p:nvSpPr>
        <p:spPr>
          <a:xfrm>
            <a:off x="9253728" y="2331720"/>
            <a:ext cx="2157984" cy="868680"/>
          </a:xfrm>
          <a:prstGeom prst="rect">
            <a:avLst/>
          </a:prstGeom>
          <a:noFill/>
          <a:ln/>
        </p:spPr>
        <p:txBody>
          <a:bodyPr wrap="square" lIns="0" tIns="0" rIns="0" bIns="0" rtlCol="0" anchor="t"/>
          <a:lstStyle/>
          <a:p>
            <a:pPr indent="0" marL="0">
              <a:buNone/>
            </a:pPr>
            <a:r>
              <a:rPr lang="en-US" sz="5000" dirty="0">
                <a:solidFill>
                  <a:srgbClr val="17211C"/>
                </a:solidFill>
                <a:latin typeface="Georgia" pitchFamily="34" charset="0"/>
                <a:ea typeface="Georgia" pitchFamily="34" charset="-122"/>
                <a:cs typeface="Georgia" pitchFamily="34" charset="-120"/>
              </a:rPr>
              <a:t>224</a:t>
            </a:r>
            <a:endParaRPr lang="en-US" sz="5000" dirty="0"/>
          </a:p>
        </p:txBody>
      </p:sp>
      <p:sp>
        <p:nvSpPr>
          <p:cNvPr id="27" name="Text 24"/>
          <p:cNvSpPr txBox="1"/>
          <p:nvPr/>
        </p:nvSpPr>
        <p:spPr>
          <a:xfrm>
            <a:off x="9253728" y="3172968"/>
            <a:ext cx="2157984" cy="274320"/>
          </a:xfrm>
          <a:prstGeom prst="rect">
            <a:avLst/>
          </a:prstGeom>
          <a:noFill/>
          <a:ln/>
        </p:spPr>
        <p:txBody>
          <a:bodyPr wrap="square" lIns="0" tIns="0" rIns="0" bIns="0" rtlCol="0" anchor="t"/>
          <a:lstStyle/>
          <a:p>
            <a:pPr indent="0" marL="0">
              <a:buNone/>
            </a:pPr>
            <a:r>
              <a:rPr lang="en-US" sz="1300" dirty="0">
                <a:solidFill>
                  <a:srgbClr val="767A71"/>
                </a:solidFill>
                <a:latin typeface="Calibri" pitchFamily="34" charset="0"/>
                <a:ea typeface="Calibri" pitchFamily="34" charset="-122"/>
                <a:cs typeface="Calibri" pitchFamily="34" charset="-120"/>
              </a:rPr>
              <a:t>lignes</a:t>
            </a:r>
            <a:endParaRPr lang="en-US" sz="1300" dirty="0"/>
          </a:p>
        </p:txBody>
      </p:sp>
      <p:sp>
        <p:nvSpPr>
          <p:cNvPr id="28" name="Text 25"/>
          <p:cNvSpPr txBox="1"/>
          <p:nvPr/>
        </p:nvSpPr>
        <p:spPr>
          <a:xfrm>
            <a:off x="9253728" y="3630168"/>
            <a:ext cx="2157984" cy="1143000"/>
          </a:xfrm>
          <a:prstGeom prst="rect">
            <a:avLst/>
          </a:prstGeom>
          <a:noFill/>
          <a:ln/>
        </p:spPr>
        <p:txBody>
          <a:bodyPr wrap="square" lIns="0" tIns="0" rIns="0" bIns="0" rtlCol="0" anchor="t"/>
          <a:lstStyle/>
          <a:p>
            <a:pPr indent="0" marL="0">
              <a:buNone/>
            </a:pPr>
            <a:r>
              <a:rPr lang="en-US" sz="1250" dirty="0">
                <a:solidFill>
                  <a:srgbClr val="3F4842"/>
                </a:solidFill>
                <a:latin typeface="Calibri" pitchFamily="34" charset="0"/>
                <a:ea typeface="Calibri" pitchFamily="34" charset="-122"/>
                <a:cs typeface="Calibri" pitchFamily="34" charset="-120"/>
              </a:rPr>
              <a:t>Validation des formulaires, numéro proposé, code-barres, confirmations. Sans bibliothèque.</a:t>
            </a:r>
            <a:endParaRPr lang="en-US" sz="1250" dirty="0"/>
          </a:p>
        </p:txBody>
      </p:sp>
      <p:sp>
        <p:nvSpPr>
          <p:cNvPr id="29" name="Shape 26"/>
          <p:cNvSpPr/>
          <p:nvPr/>
        </p:nvSpPr>
        <p:spPr>
          <a:xfrm>
            <a:off x="548640" y="5166360"/>
            <a:ext cx="11094415" cy="868680"/>
          </a:xfrm>
          <a:prstGeom prst="rect">
            <a:avLst/>
          </a:prstGeom>
          <a:solidFill>
            <a:srgbClr val="FFFDF7"/>
          </a:solidFill>
          <a:ln w="9525">
            <a:solidFill>
              <a:srgbClr val="DCD5C6"/>
            </a:solidFill>
            <a:prstDash val="solid"/>
          </a:ln>
          <a:effectLst>
            <a:outerShdw sx="100000" sy="100000" kx="0" ky="0" algn="bl" rotWithShape="0" blurRad="76200" dist="19050" dir="5400000">
              <a:srgbClr val="1A2E25">
                <a:alpha val="8000"/>
              </a:srgbClr>
            </a:outerShdw>
          </a:effectLst>
        </p:spPr>
      </p:sp>
      <p:sp>
        <p:nvSpPr>
          <p:cNvPr id="30" name="Text 27"/>
          <p:cNvSpPr txBox="1"/>
          <p:nvPr/>
        </p:nvSpPr>
        <p:spPr>
          <a:xfrm>
            <a:off x="822960" y="5166360"/>
            <a:ext cx="2377440" cy="868680"/>
          </a:xfrm>
          <a:prstGeom prst="rect">
            <a:avLst/>
          </a:prstGeom>
          <a:noFill/>
          <a:ln/>
        </p:spPr>
        <p:txBody>
          <a:bodyPr wrap="square" lIns="0" tIns="0" rIns="0" bIns="0" rtlCol="0" anchor="ctr"/>
          <a:lstStyle/>
          <a:p>
            <a:pPr indent="0" marL="0">
              <a:buNone/>
            </a:pPr>
            <a:r>
              <a:rPr lang="en-US" sz="1800" dirty="0">
                <a:solidFill>
                  <a:srgbClr val="1F4A3A"/>
                </a:solidFill>
                <a:latin typeface="Georgia" pitchFamily="34" charset="0"/>
                <a:ea typeface="Georgia" pitchFamily="34" charset="-122"/>
                <a:cs typeface="Georgia" pitchFamily="34" charset="-120"/>
              </a:rPr>
              <a:t>Zéro dépendance.</a:t>
            </a:r>
            <a:endParaRPr lang="en-US" sz="1800" dirty="0"/>
          </a:p>
        </p:txBody>
      </p:sp>
      <p:sp>
        <p:nvSpPr>
          <p:cNvPr id="31" name="Text 28"/>
          <p:cNvSpPr txBox="1"/>
          <p:nvPr/>
        </p:nvSpPr>
        <p:spPr>
          <a:xfrm>
            <a:off x="3200400" y="5166360"/>
            <a:ext cx="8138160" cy="868680"/>
          </a:xfrm>
          <a:prstGeom prst="rect">
            <a:avLst/>
          </a:prstGeom>
          <a:noFill/>
          <a:ln/>
        </p:spPr>
        <p:txBody>
          <a:bodyPr wrap="square" lIns="0" tIns="0" rIns="0" bIns="0" rtlCol="0" anchor="ctr"/>
          <a:lstStyle/>
          <a:p>
            <a:pPr indent="0" marL="0">
              <a:buNone/>
            </a:pPr>
            <a:r>
              <a:rPr lang="en-US" sz="1350" dirty="0">
                <a:solidFill>
                  <a:srgbClr val="3F4842"/>
                </a:solidFill>
                <a:latin typeface="Calibri" pitchFamily="34" charset="0"/>
                <a:ea typeface="Calibri" pitchFamily="34" charset="-122"/>
                <a:cs typeface="Calibri" pitchFamily="34" charset="-120"/>
              </a:rPr>
              <a:t>Pas de Bootstrap, pas de jQuery, pas de framework PHP : chaque ligne du projet peut être ouverte et expliquée. Les polices sont hébergées avec le site.</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EFE6"/>
        </a:solidFill>
      </p:bgPr>
    </p:bg>
    <p:spTree>
      <p:nvGrpSpPr>
        <p:cNvPr id="1" name=""/>
        <p:cNvGrpSpPr/>
        <p:nvPr/>
      </p:nvGrpSpPr>
      <p:grpSpPr>
        <a:xfrm>
          <a:off x="0" y="0"/>
          <a:ext cx="0" cy="0"/>
          <a:chOff x="0" y="0"/>
          <a:chExt cx="0" cy="0"/>
        </a:xfrm>
      </p:grpSpPr>
      <p:sp>
        <p:nvSpPr>
          <p:cNvPr id="2" name="Shape 0"/>
          <p:cNvSpPr/>
          <p:nvPr/>
        </p:nvSpPr>
        <p:spPr>
          <a:xfrm>
            <a:off x="548640" y="384048"/>
            <a:ext cx="2212848" cy="274320"/>
          </a:xfrm>
          <a:prstGeom prst="roundRect">
            <a:avLst>
              <a:gd name="adj" fmla="val 16667"/>
            </a:avLst>
          </a:prstGeom>
          <a:solidFill>
            <a:srgbClr val="FFFDF7"/>
          </a:solidFill>
          <a:ln w="9525">
            <a:solidFill>
              <a:srgbClr val="CBC2AD"/>
            </a:solidFill>
            <a:prstDash val="solid"/>
          </a:ln>
        </p:spPr>
      </p:sp>
      <p:sp>
        <p:nvSpPr>
          <p:cNvPr id="3" name="Shape 1"/>
          <p:cNvSpPr/>
          <p:nvPr/>
        </p:nvSpPr>
        <p:spPr>
          <a:xfrm>
            <a:off x="640080" y="489204"/>
            <a:ext cx="64008" cy="64008"/>
          </a:xfrm>
          <a:prstGeom prst="ellipse">
            <a:avLst/>
          </a:prstGeom>
          <a:solidFill>
            <a:srgbClr val="F3EFE6"/>
          </a:solidFill>
          <a:ln w="9525">
            <a:solidFill>
              <a:srgbClr val="CBC2AD"/>
            </a:solidFill>
            <a:prstDash val="solid"/>
          </a:ln>
        </p:spPr>
      </p:sp>
      <p:sp>
        <p:nvSpPr>
          <p:cNvPr id="4" name="Text 2"/>
          <p:cNvSpPr txBox="1"/>
          <p:nvPr/>
        </p:nvSpPr>
        <p:spPr>
          <a:xfrm>
            <a:off x="768096" y="384048"/>
            <a:ext cx="1975104" cy="274320"/>
          </a:xfrm>
          <a:prstGeom prst="rect">
            <a:avLst/>
          </a:prstGeom>
          <a:noFill/>
          <a:ln/>
        </p:spPr>
        <p:txBody>
          <a:bodyPr wrap="none" lIns="0" tIns="0" rIns="0" bIns="0" rtlCol="0" anchor="ctr"/>
          <a:lstStyle/>
          <a:p>
            <a:pPr indent="0" marL="0">
              <a:buNone/>
            </a:pPr>
            <a:r>
              <a:rPr lang="en-US" sz="1000" spc="100" kern="0" dirty="0">
                <a:solidFill>
                  <a:srgbClr val="17211C"/>
                </a:solidFill>
                <a:latin typeface="Consolas" pitchFamily="34" charset="0"/>
                <a:ea typeface="Consolas" pitchFamily="34" charset="-122"/>
                <a:cs typeface="Consolas" pitchFamily="34" charset="-120"/>
              </a:rPr>
              <a:t>05 · BASE DE DONNÉES</a:t>
            </a:r>
            <a:endParaRPr lang="en-US" sz="1000" dirty="0"/>
          </a:p>
        </p:txBody>
      </p:sp>
      <p:sp>
        <p:nvSpPr>
          <p:cNvPr id="5" name="Text 3"/>
          <p:cNvSpPr txBox="1"/>
          <p:nvPr/>
        </p:nvSpPr>
        <p:spPr>
          <a:xfrm>
            <a:off x="548640" y="786384"/>
            <a:ext cx="11094415" cy="731520"/>
          </a:xfrm>
          <a:prstGeom prst="rect">
            <a:avLst/>
          </a:prstGeom>
          <a:noFill/>
          <a:ln/>
        </p:spPr>
        <p:txBody>
          <a:bodyPr wrap="square" lIns="0" tIns="0" rIns="0" bIns="0" rtlCol="0" anchor="ctr"/>
          <a:lstStyle/>
          <a:p>
            <a:pPr indent="0" marL="0">
              <a:buNone/>
            </a:pPr>
            <a:r>
              <a:rPr lang="en-US" sz="3200" dirty="0">
                <a:solidFill>
                  <a:srgbClr val="17211C"/>
                </a:solidFill>
                <a:latin typeface="Georgia" pitchFamily="34" charset="0"/>
                <a:ea typeface="Georgia" pitchFamily="34" charset="-122"/>
                <a:cs typeface="Georgia" pitchFamily="34" charset="-120"/>
              </a:rPr>
              <a:t>Six tables, reliées par des clés étrangères</a:t>
            </a:r>
            <a:endParaRPr lang="en-US" sz="3200" dirty="0"/>
          </a:p>
        </p:txBody>
      </p:sp>
      <p:sp>
        <p:nvSpPr>
          <p:cNvPr id="7" name="Text 4"/>
          <p:cNvSpPr txBox="1"/>
          <p:nvPr/>
        </p:nvSpPr>
        <p:spPr>
          <a:xfrm>
            <a:off x="10545775" y="6473952"/>
            <a:ext cx="1097280" cy="228600"/>
          </a:xfrm>
          <a:prstGeom prst="rect">
            <a:avLst/>
          </a:prstGeom>
          <a:noFill/>
          <a:ln/>
        </p:spPr>
        <p:txBody>
          <a:bodyPr wrap="square" lIns="0" tIns="0" rIns="0" bIns="0" rtlCol="0" anchor="t"/>
          <a:lstStyle/>
          <a:p>
            <a:pPr algn="r" indent="0" marL="0">
              <a:buNone/>
            </a:pPr>
            <a:r>
              <a:rPr lang="en-US" sz="900" dirty="0">
                <a:solidFill>
                  <a:srgbClr val="767A71"/>
                </a:solidFill>
                <a:latin typeface="Consolas" pitchFamily="34" charset="0"/>
                <a:ea typeface="Consolas" pitchFamily="34" charset="-122"/>
                <a:cs typeface="Consolas" pitchFamily="34" charset="-120"/>
              </a:rPr>
              <a:t>06 / 17</a:t>
            </a:r>
            <a:endParaRPr lang="en-US" sz="900" dirty="0"/>
          </a:p>
        </p:txBody>
      </p:sp>
      <p:sp>
        <p:nvSpPr>
          <p:cNvPr id="8" name="Text 5"/>
          <p:cNvSpPr txBox="1"/>
          <p:nvPr/>
        </p:nvSpPr>
        <p:spPr>
          <a:xfrm>
            <a:off x="548640" y="6473952"/>
            <a:ext cx="1828800" cy="228600"/>
          </a:xfrm>
          <a:prstGeom prst="rect">
            <a:avLst/>
          </a:prstGeom>
          <a:noFill/>
          <a:ln/>
        </p:spPr>
        <p:txBody>
          <a:bodyPr wrap="square" lIns="0" tIns="0" rIns="0" bIns="0" rtlCol="0" anchor="t"/>
          <a:lstStyle/>
          <a:p>
            <a:pPr indent="0" marL="0">
              <a:buNone/>
            </a:pPr>
            <a:r>
              <a:rPr lang="en-US" sz="1000" i="1" dirty="0">
                <a:solidFill>
                  <a:srgbClr val="767A71"/>
                </a:solidFill>
                <a:latin typeface="Georgia" pitchFamily="34" charset="0"/>
                <a:ea typeface="Georgia" pitchFamily="34" charset="-122"/>
                <a:cs typeface="Georgia" pitchFamily="34" charset="-120"/>
              </a:rPr>
              <a:t>Patrimo</a:t>
            </a:r>
            <a:endParaRPr lang="en-US" sz="1000" dirty="0"/>
          </a:p>
        </p:txBody>
      </p:sp>
      <p:sp>
        <p:nvSpPr>
          <p:cNvPr id="9" name="Shape 6"/>
          <p:cNvSpPr/>
          <p:nvPr/>
        </p:nvSpPr>
        <p:spPr>
          <a:xfrm>
            <a:off x="548640" y="1645920"/>
            <a:ext cx="2606040" cy="1298448"/>
          </a:xfrm>
          <a:prstGeom prst="rect">
            <a:avLst/>
          </a:prstGeom>
          <a:solidFill>
            <a:srgbClr val="FBF9F4"/>
          </a:solidFill>
          <a:ln w="12700">
            <a:solidFill>
              <a:srgbClr val="CBC2AD"/>
            </a:solidFill>
            <a:prstDash val="solid"/>
          </a:ln>
          <a:effectLst>
            <a:outerShdw sx="100000" sy="100000" kx="0" ky="0" algn="bl" rotWithShape="0" blurRad="76200" dist="19050" dir="5400000">
              <a:srgbClr val="1A2E25">
                <a:alpha val="8000"/>
              </a:srgbClr>
            </a:outerShdw>
          </a:effectLst>
        </p:spPr>
      </p:sp>
      <p:sp>
        <p:nvSpPr>
          <p:cNvPr id="10" name="Shape 7"/>
          <p:cNvSpPr/>
          <p:nvPr/>
        </p:nvSpPr>
        <p:spPr>
          <a:xfrm>
            <a:off x="548640" y="1645920"/>
            <a:ext cx="2606040" cy="347472"/>
          </a:xfrm>
          <a:prstGeom prst="rect">
            <a:avLst/>
          </a:prstGeom>
          <a:solidFill>
            <a:srgbClr val="1A2E25"/>
          </a:solidFill>
          <a:ln w="12700">
            <a:solidFill>
              <a:srgbClr val="1A2E25"/>
            </a:solidFill>
            <a:prstDash val="solid"/>
          </a:ln>
        </p:spPr>
      </p:sp>
      <p:sp>
        <p:nvSpPr>
          <p:cNvPr id="11" name="Text 8"/>
          <p:cNvSpPr txBox="1"/>
          <p:nvPr/>
        </p:nvSpPr>
        <p:spPr>
          <a:xfrm>
            <a:off x="685800" y="1645920"/>
            <a:ext cx="2331720" cy="347472"/>
          </a:xfrm>
          <a:prstGeom prst="rect">
            <a:avLst/>
          </a:prstGeom>
          <a:noFill/>
          <a:ln/>
        </p:spPr>
        <p:txBody>
          <a:bodyPr wrap="square" lIns="0" tIns="0" rIns="0" bIns="0" rtlCol="0" anchor="ctr"/>
          <a:lstStyle/>
          <a:p>
            <a:pPr indent="0" marL="0">
              <a:buNone/>
            </a:pPr>
            <a:r>
              <a:rPr lang="en-US" sz="1200" b="1" dirty="0">
                <a:solidFill>
                  <a:srgbClr val="F1ECDD"/>
                </a:solidFill>
                <a:latin typeface="Consolas" pitchFamily="34" charset="0"/>
                <a:ea typeface="Consolas" pitchFamily="34" charset="-122"/>
                <a:cs typeface="Consolas" pitchFamily="34" charset="-120"/>
              </a:rPr>
              <a:t>categories</a:t>
            </a:r>
            <a:endParaRPr lang="en-US" sz="1200" dirty="0"/>
          </a:p>
        </p:txBody>
      </p:sp>
      <p:sp>
        <p:nvSpPr>
          <p:cNvPr id="12" name="Text 9"/>
          <p:cNvSpPr txBox="1"/>
          <p:nvPr/>
        </p:nvSpPr>
        <p:spPr>
          <a:xfrm>
            <a:off x="685800" y="2048256"/>
            <a:ext cx="2057400" cy="210312"/>
          </a:xfrm>
          <a:prstGeom prst="rect">
            <a:avLst/>
          </a:prstGeom>
          <a:noFill/>
          <a:ln/>
        </p:spPr>
        <p:txBody>
          <a:bodyPr wrap="square" lIns="0" tIns="0" rIns="0" bIns="0" rtlCol="0" anchor="t"/>
          <a:lstStyle/>
          <a:p>
            <a:pPr indent="0" marL="0">
              <a:buNone/>
            </a:pPr>
            <a:r>
              <a:rPr lang="en-US" sz="950" b="1" dirty="0">
                <a:solidFill>
                  <a:srgbClr val="17211C"/>
                </a:solidFill>
                <a:latin typeface="Consolas" pitchFamily="34" charset="0"/>
                <a:ea typeface="Consolas" pitchFamily="34" charset="-122"/>
                <a:cs typeface="Consolas" pitchFamily="34" charset="-120"/>
              </a:rPr>
              <a:t>id</a:t>
            </a:r>
            <a:endParaRPr lang="en-US" sz="950" dirty="0"/>
          </a:p>
        </p:txBody>
      </p:sp>
      <p:sp>
        <p:nvSpPr>
          <p:cNvPr id="13" name="Text 10"/>
          <p:cNvSpPr txBox="1"/>
          <p:nvPr/>
        </p:nvSpPr>
        <p:spPr>
          <a:xfrm>
            <a:off x="2697480" y="2048256"/>
            <a:ext cx="347472" cy="210312"/>
          </a:xfrm>
          <a:prstGeom prst="rect">
            <a:avLst/>
          </a:prstGeom>
          <a:noFill/>
          <a:ln/>
        </p:spPr>
        <p:txBody>
          <a:bodyPr wrap="square" lIns="0" tIns="0" rIns="0" bIns="0" rtlCol="0" anchor="t"/>
          <a:lstStyle/>
          <a:p>
            <a:pPr algn="r" indent="0" marL="0">
              <a:buNone/>
            </a:pPr>
            <a:r>
              <a:rPr lang="en-US" sz="800" b="1" dirty="0">
                <a:solidFill>
                  <a:srgbClr val="B27416"/>
                </a:solidFill>
                <a:latin typeface="Consolas" pitchFamily="34" charset="0"/>
                <a:ea typeface="Consolas" pitchFamily="34" charset="-122"/>
                <a:cs typeface="Consolas" pitchFamily="34" charset="-120"/>
              </a:rPr>
              <a:t>PK</a:t>
            </a:r>
            <a:endParaRPr lang="en-US" sz="800" dirty="0"/>
          </a:p>
        </p:txBody>
      </p:sp>
      <p:sp>
        <p:nvSpPr>
          <p:cNvPr id="14" name="Text 11"/>
          <p:cNvSpPr txBox="1"/>
          <p:nvPr/>
        </p:nvSpPr>
        <p:spPr>
          <a:xfrm>
            <a:off x="685800" y="2263140"/>
            <a:ext cx="2057400" cy="210312"/>
          </a:xfrm>
          <a:prstGeom prst="rect">
            <a:avLst/>
          </a:prstGeom>
          <a:noFill/>
          <a:ln/>
        </p:spPr>
        <p:txBody>
          <a:bodyPr wrap="square" lIns="0" tIns="0" rIns="0" bIns="0" rtlCol="0" anchor="t"/>
          <a:lstStyle/>
          <a:p>
            <a:pPr indent="0" marL="0">
              <a:buNone/>
            </a:pPr>
            <a:r>
              <a:rPr lang="en-US" sz="950" dirty="0">
                <a:solidFill>
                  <a:srgbClr val="3F4842"/>
                </a:solidFill>
                <a:latin typeface="Consolas" pitchFamily="34" charset="0"/>
                <a:ea typeface="Consolas" pitchFamily="34" charset="-122"/>
                <a:cs typeface="Consolas" pitchFamily="34" charset="-120"/>
              </a:rPr>
              <a:t>nom</a:t>
            </a:r>
            <a:endParaRPr lang="en-US" sz="950" dirty="0"/>
          </a:p>
        </p:txBody>
      </p:sp>
      <p:sp>
        <p:nvSpPr>
          <p:cNvPr id="15" name="Text 12"/>
          <p:cNvSpPr txBox="1"/>
          <p:nvPr/>
        </p:nvSpPr>
        <p:spPr>
          <a:xfrm>
            <a:off x="685800" y="2478024"/>
            <a:ext cx="2057400" cy="210312"/>
          </a:xfrm>
          <a:prstGeom prst="rect">
            <a:avLst/>
          </a:prstGeom>
          <a:noFill/>
          <a:ln/>
        </p:spPr>
        <p:txBody>
          <a:bodyPr wrap="square" lIns="0" tIns="0" rIns="0" bIns="0" rtlCol="0" anchor="t"/>
          <a:lstStyle/>
          <a:p>
            <a:pPr indent="0" marL="0">
              <a:buNone/>
            </a:pPr>
            <a:r>
              <a:rPr lang="en-US" sz="950" dirty="0">
                <a:solidFill>
                  <a:srgbClr val="3F4842"/>
                </a:solidFill>
                <a:latin typeface="Consolas" pitchFamily="34" charset="0"/>
                <a:ea typeface="Consolas" pitchFamily="34" charset="-122"/>
                <a:cs typeface="Consolas" pitchFamily="34" charset="-120"/>
              </a:rPr>
              <a:t>prefixe</a:t>
            </a:r>
            <a:endParaRPr lang="en-US" sz="950" dirty="0"/>
          </a:p>
        </p:txBody>
      </p:sp>
      <p:sp>
        <p:nvSpPr>
          <p:cNvPr id="16" name="Text 13"/>
          <p:cNvSpPr txBox="1"/>
          <p:nvPr/>
        </p:nvSpPr>
        <p:spPr>
          <a:xfrm>
            <a:off x="685800" y="2692908"/>
            <a:ext cx="2057400" cy="210312"/>
          </a:xfrm>
          <a:prstGeom prst="rect">
            <a:avLst/>
          </a:prstGeom>
          <a:noFill/>
          <a:ln/>
        </p:spPr>
        <p:txBody>
          <a:bodyPr wrap="square" lIns="0" tIns="0" rIns="0" bIns="0" rtlCol="0" anchor="t"/>
          <a:lstStyle/>
          <a:p>
            <a:pPr indent="0" marL="0">
              <a:buNone/>
            </a:pPr>
            <a:r>
              <a:rPr lang="en-US" sz="950" dirty="0">
                <a:solidFill>
                  <a:srgbClr val="3F4842"/>
                </a:solidFill>
                <a:latin typeface="Consolas" pitchFamily="34" charset="0"/>
                <a:ea typeface="Consolas" pitchFamily="34" charset="-122"/>
                <a:cs typeface="Consolas" pitchFamily="34" charset="-120"/>
              </a:rPr>
              <a:t>description</a:t>
            </a:r>
            <a:endParaRPr lang="en-US" sz="950" dirty="0"/>
          </a:p>
        </p:txBody>
      </p:sp>
      <p:sp>
        <p:nvSpPr>
          <p:cNvPr id="17" name="Shape 14"/>
          <p:cNvSpPr/>
          <p:nvPr/>
        </p:nvSpPr>
        <p:spPr>
          <a:xfrm>
            <a:off x="548640" y="3154680"/>
            <a:ext cx="2606040" cy="1513332"/>
          </a:xfrm>
          <a:prstGeom prst="rect">
            <a:avLst/>
          </a:prstGeom>
          <a:solidFill>
            <a:srgbClr val="FBF9F4"/>
          </a:solidFill>
          <a:ln w="12700">
            <a:solidFill>
              <a:srgbClr val="CBC2AD"/>
            </a:solidFill>
            <a:prstDash val="solid"/>
          </a:ln>
          <a:effectLst>
            <a:outerShdw sx="100000" sy="100000" kx="0" ky="0" algn="bl" rotWithShape="0" blurRad="76200" dist="19050" dir="5400000">
              <a:srgbClr val="1A2E25">
                <a:alpha val="8000"/>
              </a:srgbClr>
            </a:outerShdw>
          </a:effectLst>
        </p:spPr>
      </p:sp>
      <p:sp>
        <p:nvSpPr>
          <p:cNvPr id="18" name="Shape 15"/>
          <p:cNvSpPr/>
          <p:nvPr/>
        </p:nvSpPr>
        <p:spPr>
          <a:xfrm>
            <a:off x="548640" y="3154680"/>
            <a:ext cx="2606040" cy="347472"/>
          </a:xfrm>
          <a:prstGeom prst="rect">
            <a:avLst/>
          </a:prstGeom>
          <a:solidFill>
            <a:srgbClr val="1A2E25"/>
          </a:solidFill>
          <a:ln w="12700">
            <a:solidFill>
              <a:srgbClr val="1A2E25"/>
            </a:solidFill>
            <a:prstDash val="solid"/>
          </a:ln>
        </p:spPr>
      </p:sp>
      <p:sp>
        <p:nvSpPr>
          <p:cNvPr id="19" name="Text 16"/>
          <p:cNvSpPr txBox="1"/>
          <p:nvPr/>
        </p:nvSpPr>
        <p:spPr>
          <a:xfrm>
            <a:off x="685800" y="3154680"/>
            <a:ext cx="2331720" cy="347472"/>
          </a:xfrm>
          <a:prstGeom prst="rect">
            <a:avLst/>
          </a:prstGeom>
          <a:noFill/>
          <a:ln/>
        </p:spPr>
        <p:txBody>
          <a:bodyPr wrap="square" lIns="0" tIns="0" rIns="0" bIns="0" rtlCol="0" anchor="ctr"/>
          <a:lstStyle/>
          <a:p>
            <a:pPr indent="0" marL="0">
              <a:buNone/>
            </a:pPr>
            <a:r>
              <a:rPr lang="en-US" sz="1200" b="1" dirty="0">
                <a:solidFill>
                  <a:srgbClr val="F1ECDD"/>
                </a:solidFill>
                <a:latin typeface="Consolas" pitchFamily="34" charset="0"/>
                <a:ea typeface="Consolas" pitchFamily="34" charset="-122"/>
                <a:cs typeface="Consolas" pitchFamily="34" charset="-120"/>
              </a:rPr>
              <a:t>directions</a:t>
            </a:r>
            <a:endParaRPr lang="en-US" sz="1200" dirty="0"/>
          </a:p>
        </p:txBody>
      </p:sp>
      <p:sp>
        <p:nvSpPr>
          <p:cNvPr id="20" name="Text 17"/>
          <p:cNvSpPr txBox="1"/>
          <p:nvPr/>
        </p:nvSpPr>
        <p:spPr>
          <a:xfrm>
            <a:off x="685800" y="3557016"/>
            <a:ext cx="2057400" cy="210312"/>
          </a:xfrm>
          <a:prstGeom prst="rect">
            <a:avLst/>
          </a:prstGeom>
          <a:noFill/>
          <a:ln/>
        </p:spPr>
        <p:txBody>
          <a:bodyPr wrap="square" lIns="0" tIns="0" rIns="0" bIns="0" rtlCol="0" anchor="t"/>
          <a:lstStyle/>
          <a:p>
            <a:pPr indent="0" marL="0">
              <a:buNone/>
            </a:pPr>
            <a:r>
              <a:rPr lang="en-US" sz="950" b="1" dirty="0">
                <a:solidFill>
                  <a:srgbClr val="17211C"/>
                </a:solidFill>
                <a:latin typeface="Consolas" pitchFamily="34" charset="0"/>
                <a:ea typeface="Consolas" pitchFamily="34" charset="-122"/>
                <a:cs typeface="Consolas" pitchFamily="34" charset="-120"/>
              </a:rPr>
              <a:t>id</a:t>
            </a:r>
            <a:endParaRPr lang="en-US" sz="950" dirty="0"/>
          </a:p>
        </p:txBody>
      </p:sp>
      <p:sp>
        <p:nvSpPr>
          <p:cNvPr id="21" name="Text 18"/>
          <p:cNvSpPr txBox="1"/>
          <p:nvPr/>
        </p:nvSpPr>
        <p:spPr>
          <a:xfrm>
            <a:off x="2697480" y="3557016"/>
            <a:ext cx="347472" cy="210312"/>
          </a:xfrm>
          <a:prstGeom prst="rect">
            <a:avLst/>
          </a:prstGeom>
          <a:noFill/>
          <a:ln/>
        </p:spPr>
        <p:txBody>
          <a:bodyPr wrap="square" lIns="0" tIns="0" rIns="0" bIns="0" rtlCol="0" anchor="t"/>
          <a:lstStyle/>
          <a:p>
            <a:pPr algn="r" indent="0" marL="0">
              <a:buNone/>
            </a:pPr>
            <a:r>
              <a:rPr lang="en-US" sz="800" b="1" dirty="0">
                <a:solidFill>
                  <a:srgbClr val="B27416"/>
                </a:solidFill>
                <a:latin typeface="Consolas" pitchFamily="34" charset="0"/>
                <a:ea typeface="Consolas" pitchFamily="34" charset="-122"/>
                <a:cs typeface="Consolas" pitchFamily="34" charset="-120"/>
              </a:rPr>
              <a:t>PK</a:t>
            </a:r>
            <a:endParaRPr lang="en-US" sz="800" dirty="0"/>
          </a:p>
        </p:txBody>
      </p:sp>
      <p:sp>
        <p:nvSpPr>
          <p:cNvPr id="22" name="Text 19"/>
          <p:cNvSpPr txBox="1"/>
          <p:nvPr/>
        </p:nvSpPr>
        <p:spPr>
          <a:xfrm>
            <a:off x="685800" y="3771900"/>
            <a:ext cx="2057400" cy="210312"/>
          </a:xfrm>
          <a:prstGeom prst="rect">
            <a:avLst/>
          </a:prstGeom>
          <a:noFill/>
          <a:ln/>
        </p:spPr>
        <p:txBody>
          <a:bodyPr wrap="square" lIns="0" tIns="0" rIns="0" bIns="0" rtlCol="0" anchor="t"/>
          <a:lstStyle/>
          <a:p>
            <a:pPr indent="0" marL="0">
              <a:buNone/>
            </a:pPr>
            <a:r>
              <a:rPr lang="en-US" sz="950" dirty="0">
                <a:solidFill>
                  <a:srgbClr val="3F4842"/>
                </a:solidFill>
                <a:latin typeface="Consolas" pitchFamily="34" charset="0"/>
                <a:ea typeface="Consolas" pitchFamily="34" charset="-122"/>
                <a:cs typeface="Consolas" pitchFamily="34" charset="-120"/>
              </a:rPr>
              <a:t>code</a:t>
            </a:r>
            <a:endParaRPr lang="en-US" sz="950" dirty="0"/>
          </a:p>
        </p:txBody>
      </p:sp>
      <p:sp>
        <p:nvSpPr>
          <p:cNvPr id="23" name="Text 20"/>
          <p:cNvSpPr txBox="1"/>
          <p:nvPr/>
        </p:nvSpPr>
        <p:spPr>
          <a:xfrm>
            <a:off x="685800" y="3986784"/>
            <a:ext cx="2057400" cy="210312"/>
          </a:xfrm>
          <a:prstGeom prst="rect">
            <a:avLst/>
          </a:prstGeom>
          <a:noFill/>
          <a:ln/>
        </p:spPr>
        <p:txBody>
          <a:bodyPr wrap="square" lIns="0" tIns="0" rIns="0" bIns="0" rtlCol="0" anchor="t"/>
          <a:lstStyle/>
          <a:p>
            <a:pPr indent="0" marL="0">
              <a:buNone/>
            </a:pPr>
            <a:r>
              <a:rPr lang="en-US" sz="950" dirty="0">
                <a:solidFill>
                  <a:srgbClr val="3F4842"/>
                </a:solidFill>
                <a:latin typeface="Consolas" pitchFamily="34" charset="0"/>
                <a:ea typeface="Consolas" pitchFamily="34" charset="-122"/>
                <a:cs typeface="Consolas" pitchFamily="34" charset="-120"/>
              </a:rPr>
              <a:t>nom</a:t>
            </a:r>
            <a:endParaRPr lang="en-US" sz="950" dirty="0"/>
          </a:p>
        </p:txBody>
      </p:sp>
      <p:sp>
        <p:nvSpPr>
          <p:cNvPr id="24" name="Text 21"/>
          <p:cNvSpPr txBox="1"/>
          <p:nvPr/>
        </p:nvSpPr>
        <p:spPr>
          <a:xfrm>
            <a:off x="685800" y="4201668"/>
            <a:ext cx="2057400" cy="210312"/>
          </a:xfrm>
          <a:prstGeom prst="rect">
            <a:avLst/>
          </a:prstGeom>
          <a:noFill/>
          <a:ln/>
        </p:spPr>
        <p:txBody>
          <a:bodyPr wrap="square" lIns="0" tIns="0" rIns="0" bIns="0" rtlCol="0" anchor="t"/>
          <a:lstStyle/>
          <a:p>
            <a:pPr indent="0" marL="0">
              <a:buNone/>
            </a:pPr>
            <a:r>
              <a:rPr lang="en-US" sz="950" dirty="0">
                <a:solidFill>
                  <a:srgbClr val="3F4842"/>
                </a:solidFill>
                <a:latin typeface="Consolas" pitchFamily="34" charset="0"/>
                <a:ea typeface="Consolas" pitchFamily="34" charset="-122"/>
                <a:cs typeface="Consolas" pitchFamily="34" charset="-120"/>
              </a:rPr>
              <a:t>localisation</a:t>
            </a:r>
            <a:endParaRPr lang="en-US" sz="950" dirty="0"/>
          </a:p>
        </p:txBody>
      </p:sp>
      <p:sp>
        <p:nvSpPr>
          <p:cNvPr id="25" name="Text 22"/>
          <p:cNvSpPr txBox="1"/>
          <p:nvPr/>
        </p:nvSpPr>
        <p:spPr>
          <a:xfrm>
            <a:off x="685800" y="4416552"/>
            <a:ext cx="2057400" cy="210312"/>
          </a:xfrm>
          <a:prstGeom prst="rect">
            <a:avLst/>
          </a:prstGeom>
          <a:noFill/>
          <a:ln/>
        </p:spPr>
        <p:txBody>
          <a:bodyPr wrap="square" lIns="0" tIns="0" rIns="0" bIns="0" rtlCol="0" anchor="t"/>
          <a:lstStyle/>
          <a:p>
            <a:pPr indent="0" marL="0">
              <a:buNone/>
            </a:pPr>
            <a:r>
              <a:rPr lang="en-US" sz="950" dirty="0">
                <a:solidFill>
                  <a:srgbClr val="3F4842"/>
                </a:solidFill>
                <a:latin typeface="Consolas" pitchFamily="34" charset="0"/>
                <a:ea typeface="Consolas" pitchFamily="34" charset="-122"/>
                <a:cs typeface="Consolas" pitchFamily="34" charset="-120"/>
              </a:rPr>
              <a:t>telephone</a:t>
            </a:r>
            <a:endParaRPr lang="en-US" sz="950" dirty="0"/>
          </a:p>
        </p:txBody>
      </p:sp>
      <p:sp>
        <p:nvSpPr>
          <p:cNvPr id="26" name="Shape 23"/>
          <p:cNvSpPr/>
          <p:nvPr/>
        </p:nvSpPr>
        <p:spPr>
          <a:xfrm>
            <a:off x="548640" y="4919472"/>
            <a:ext cx="2606040" cy="1298448"/>
          </a:xfrm>
          <a:prstGeom prst="rect">
            <a:avLst/>
          </a:prstGeom>
          <a:solidFill>
            <a:srgbClr val="FBF9F4"/>
          </a:solidFill>
          <a:ln w="12700">
            <a:solidFill>
              <a:srgbClr val="CBC2AD"/>
            </a:solidFill>
            <a:prstDash val="solid"/>
          </a:ln>
          <a:effectLst>
            <a:outerShdw sx="100000" sy="100000" kx="0" ky="0" algn="bl" rotWithShape="0" blurRad="76200" dist="19050" dir="5400000">
              <a:srgbClr val="1A2E25">
                <a:alpha val="8000"/>
              </a:srgbClr>
            </a:outerShdw>
          </a:effectLst>
        </p:spPr>
      </p:sp>
      <p:sp>
        <p:nvSpPr>
          <p:cNvPr id="27" name="Shape 24"/>
          <p:cNvSpPr/>
          <p:nvPr/>
        </p:nvSpPr>
        <p:spPr>
          <a:xfrm>
            <a:off x="548640" y="4919472"/>
            <a:ext cx="2606040" cy="347472"/>
          </a:xfrm>
          <a:prstGeom prst="rect">
            <a:avLst/>
          </a:prstGeom>
          <a:solidFill>
            <a:srgbClr val="1A2E25"/>
          </a:solidFill>
          <a:ln w="12700">
            <a:solidFill>
              <a:srgbClr val="1A2E25"/>
            </a:solidFill>
            <a:prstDash val="solid"/>
          </a:ln>
        </p:spPr>
      </p:sp>
      <p:sp>
        <p:nvSpPr>
          <p:cNvPr id="28" name="Text 25"/>
          <p:cNvSpPr txBox="1"/>
          <p:nvPr/>
        </p:nvSpPr>
        <p:spPr>
          <a:xfrm>
            <a:off x="685800" y="4919472"/>
            <a:ext cx="2331720" cy="347472"/>
          </a:xfrm>
          <a:prstGeom prst="rect">
            <a:avLst/>
          </a:prstGeom>
          <a:noFill/>
          <a:ln/>
        </p:spPr>
        <p:txBody>
          <a:bodyPr wrap="square" lIns="0" tIns="0" rIns="0" bIns="0" rtlCol="0" anchor="ctr"/>
          <a:lstStyle/>
          <a:p>
            <a:pPr indent="0" marL="0">
              <a:buNone/>
            </a:pPr>
            <a:r>
              <a:rPr lang="en-US" sz="1200" b="1" dirty="0">
                <a:solidFill>
                  <a:srgbClr val="F1ECDD"/>
                </a:solidFill>
                <a:latin typeface="Consolas" pitchFamily="34" charset="0"/>
                <a:ea typeface="Consolas" pitchFamily="34" charset="-122"/>
                <a:cs typeface="Consolas" pitchFamily="34" charset="-120"/>
              </a:rPr>
              <a:t>utilisateurs</a:t>
            </a:r>
            <a:endParaRPr lang="en-US" sz="1200" dirty="0"/>
          </a:p>
        </p:txBody>
      </p:sp>
      <p:sp>
        <p:nvSpPr>
          <p:cNvPr id="29" name="Text 26"/>
          <p:cNvSpPr txBox="1"/>
          <p:nvPr/>
        </p:nvSpPr>
        <p:spPr>
          <a:xfrm>
            <a:off x="685800" y="5321808"/>
            <a:ext cx="2057400" cy="210312"/>
          </a:xfrm>
          <a:prstGeom prst="rect">
            <a:avLst/>
          </a:prstGeom>
          <a:noFill/>
          <a:ln/>
        </p:spPr>
        <p:txBody>
          <a:bodyPr wrap="square" lIns="0" tIns="0" rIns="0" bIns="0" rtlCol="0" anchor="t"/>
          <a:lstStyle/>
          <a:p>
            <a:pPr indent="0" marL="0">
              <a:buNone/>
            </a:pPr>
            <a:r>
              <a:rPr lang="en-US" sz="950" b="1" dirty="0">
                <a:solidFill>
                  <a:srgbClr val="17211C"/>
                </a:solidFill>
                <a:latin typeface="Consolas" pitchFamily="34" charset="0"/>
                <a:ea typeface="Consolas" pitchFamily="34" charset="-122"/>
                <a:cs typeface="Consolas" pitchFamily="34" charset="-120"/>
              </a:rPr>
              <a:t>id</a:t>
            </a:r>
            <a:endParaRPr lang="en-US" sz="950" dirty="0"/>
          </a:p>
        </p:txBody>
      </p:sp>
      <p:sp>
        <p:nvSpPr>
          <p:cNvPr id="30" name="Text 27"/>
          <p:cNvSpPr txBox="1"/>
          <p:nvPr/>
        </p:nvSpPr>
        <p:spPr>
          <a:xfrm>
            <a:off x="2697480" y="5321808"/>
            <a:ext cx="347472" cy="210312"/>
          </a:xfrm>
          <a:prstGeom prst="rect">
            <a:avLst/>
          </a:prstGeom>
          <a:noFill/>
          <a:ln/>
        </p:spPr>
        <p:txBody>
          <a:bodyPr wrap="square" lIns="0" tIns="0" rIns="0" bIns="0" rtlCol="0" anchor="t"/>
          <a:lstStyle/>
          <a:p>
            <a:pPr algn="r" indent="0" marL="0">
              <a:buNone/>
            </a:pPr>
            <a:r>
              <a:rPr lang="en-US" sz="800" b="1" dirty="0">
                <a:solidFill>
                  <a:srgbClr val="B27416"/>
                </a:solidFill>
                <a:latin typeface="Consolas" pitchFamily="34" charset="0"/>
                <a:ea typeface="Consolas" pitchFamily="34" charset="-122"/>
                <a:cs typeface="Consolas" pitchFamily="34" charset="-120"/>
              </a:rPr>
              <a:t>PK</a:t>
            </a:r>
            <a:endParaRPr lang="en-US" sz="800" dirty="0"/>
          </a:p>
        </p:txBody>
      </p:sp>
      <p:sp>
        <p:nvSpPr>
          <p:cNvPr id="31" name="Text 28"/>
          <p:cNvSpPr txBox="1"/>
          <p:nvPr/>
        </p:nvSpPr>
        <p:spPr>
          <a:xfrm>
            <a:off x="685800" y="5536692"/>
            <a:ext cx="2057400" cy="210312"/>
          </a:xfrm>
          <a:prstGeom prst="rect">
            <a:avLst/>
          </a:prstGeom>
          <a:noFill/>
          <a:ln/>
        </p:spPr>
        <p:txBody>
          <a:bodyPr wrap="square" lIns="0" tIns="0" rIns="0" bIns="0" rtlCol="0" anchor="t"/>
          <a:lstStyle/>
          <a:p>
            <a:pPr indent="0" marL="0">
              <a:buNone/>
            </a:pPr>
            <a:r>
              <a:rPr lang="en-US" sz="950" dirty="0">
                <a:solidFill>
                  <a:srgbClr val="3F4842"/>
                </a:solidFill>
                <a:latin typeface="Consolas" pitchFamily="34" charset="0"/>
                <a:ea typeface="Consolas" pitchFamily="34" charset="-122"/>
                <a:cs typeface="Consolas" pitchFamily="34" charset="-120"/>
              </a:rPr>
              <a:t>identifiant · role</a:t>
            </a:r>
            <a:endParaRPr lang="en-US" sz="950" dirty="0"/>
          </a:p>
        </p:txBody>
      </p:sp>
      <p:sp>
        <p:nvSpPr>
          <p:cNvPr id="32" name="Text 29"/>
          <p:cNvSpPr txBox="1"/>
          <p:nvPr/>
        </p:nvSpPr>
        <p:spPr>
          <a:xfrm>
            <a:off x="685800" y="5751576"/>
            <a:ext cx="2057400" cy="210312"/>
          </a:xfrm>
          <a:prstGeom prst="rect">
            <a:avLst/>
          </a:prstGeom>
          <a:noFill/>
          <a:ln/>
        </p:spPr>
        <p:txBody>
          <a:bodyPr wrap="square" lIns="0" tIns="0" rIns="0" bIns="0" rtlCol="0" anchor="t"/>
          <a:lstStyle/>
          <a:p>
            <a:pPr indent="0" marL="0">
              <a:buNone/>
            </a:pPr>
            <a:r>
              <a:rPr lang="en-US" sz="950" dirty="0">
                <a:solidFill>
                  <a:srgbClr val="3F4842"/>
                </a:solidFill>
                <a:latin typeface="Consolas" pitchFamily="34" charset="0"/>
                <a:ea typeface="Consolas" pitchFamily="34" charset="-122"/>
                <a:cs typeface="Consolas" pitchFamily="34" charset="-120"/>
              </a:rPr>
              <a:t>mot_de_passe (haché)</a:t>
            </a:r>
            <a:endParaRPr lang="en-US" sz="950" dirty="0"/>
          </a:p>
        </p:txBody>
      </p:sp>
      <p:sp>
        <p:nvSpPr>
          <p:cNvPr id="33" name="Text 30"/>
          <p:cNvSpPr txBox="1"/>
          <p:nvPr/>
        </p:nvSpPr>
        <p:spPr>
          <a:xfrm>
            <a:off x="685800" y="5966460"/>
            <a:ext cx="2057400" cy="210312"/>
          </a:xfrm>
          <a:prstGeom prst="rect">
            <a:avLst/>
          </a:prstGeom>
          <a:noFill/>
          <a:ln/>
        </p:spPr>
        <p:txBody>
          <a:bodyPr wrap="square" lIns="0" tIns="0" rIns="0" bIns="0" rtlCol="0" anchor="t"/>
          <a:lstStyle/>
          <a:p>
            <a:pPr indent="0" marL="0">
              <a:buNone/>
            </a:pPr>
            <a:r>
              <a:rPr lang="en-US" sz="950" dirty="0">
                <a:solidFill>
                  <a:srgbClr val="17211C"/>
                </a:solidFill>
                <a:latin typeface="Consolas" pitchFamily="34" charset="0"/>
                <a:ea typeface="Consolas" pitchFamily="34" charset="-122"/>
                <a:cs typeface="Consolas" pitchFamily="34" charset="-120"/>
              </a:rPr>
              <a:t>direction_id</a:t>
            </a:r>
            <a:endParaRPr lang="en-US" sz="950" dirty="0"/>
          </a:p>
        </p:txBody>
      </p:sp>
      <p:sp>
        <p:nvSpPr>
          <p:cNvPr id="34" name="Text 31"/>
          <p:cNvSpPr txBox="1"/>
          <p:nvPr/>
        </p:nvSpPr>
        <p:spPr>
          <a:xfrm>
            <a:off x="2697480" y="5966460"/>
            <a:ext cx="347472" cy="210312"/>
          </a:xfrm>
          <a:prstGeom prst="rect">
            <a:avLst/>
          </a:prstGeom>
          <a:noFill/>
          <a:ln/>
        </p:spPr>
        <p:txBody>
          <a:bodyPr wrap="square" lIns="0" tIns="0" rIns="0" bIns="0" rtlCol="0" anchor="t"/>
          <a:lstStyle/>
          <a:p>
            <a:pPr algn="r" indent="0" marL="0">
              <a:buNone/>
            </a:pPr>
            <a:r>
              <a:rPr lang="en-US" sz="800" b="1" dirty="0">
                <a:solidFill>
                  <a:srgbClr val="1F4A3A"/>
                </a:solidFill>
                <a:latin typeface="Consolas" pitchFamily="34" charset="0"/>
                <a:ea typeface="Consolas" pitchFamily="34" charset="-122"/>
                <a:cs typeface="Consolas" pitchFamily="34" charset="-120"/>
              </a:rPr>
              <a:t>FK</a:t>
            </a:r>
            <a:endParaRPr lang="en-US" sz="800" dirty="0"/>
          </a:p>
        </p:txBody>
      </p:sp>
      <p:sp>
        <p:nvSpPr>
          <p:cNvPr id="35" name="Shape 32"/>
          <p:cNvSpPr/>
          <p:nvPr/>
        </p:nvSpPr>
        <p:spPr>
          <a:xfrm>
            <a:off x="4160520" y="1645920"/>
            <a:ext cx="3063240" cy="2587752"/>
          </a:xfrm>
          <a:prstGeom prst="rect">
            <a:avLst/>
          </a:prstGeom>
          <a:solidFill>
            <a:srgbClr val="FBF9F4"/>
          </a:solidFill>
          <a:ln w="19050">
            <a:solidFill>
              <a:srgbClr val="1F4A3A"/>
            </a:solidFill>
            <a:prstDash val="solid"/>
          </a:ln>
          <a:effectLst>
            <a:outerShdw sx="100000" sy="100000" kx="0" ky="0" algn="bl" rotWithShape="0" blurRad="76200" dist="19050" dir="5400000">
              <a:srgbClr val="1A2E25">
                <a:alpha val="8000"/>
              </a:srgbClr>
            </a:outerShdw>
          </a:effectLst>
        </p:spPr>
      </p:sp>
      <p:sp>
        <p:nvSpPr>
          <p:cNvPr id="36" name="Shape 33"/>
          <p:cNvSpPr/>
          <p:nvPr/>
        </p:nvSpPr>
        <p:spPr>
          <a:xfrm>
            <a:off x="4160520" y="1645920"/>
            <a:ext cx="3063240" cy="347472"/>
          </a:xfrm>
          <a:prstGeom prst="rect">
            <a:avLst/>
          </a:prstGeom>
          <a:solidFill>
            <a:srgbClr val="1F4A3A"/>
          </a:solidFill>
          <a:ln w="12700">
            <a:solidFill>
              <a:srgbClr val="1F4A3A"/>
            </a:solidFill>
            <a:prstDash val="solid"/>
          </a:ln>
        </p:spPr>
      </p:sp>
      <p:sp>
        <p:nvSpPr>
          <p:cNvPr id="37" name="Text 34"/>
          <p:cNvSpPr txBox="1"/>
          <p:nvPr/>
        </p:nvSpPr>
        <p:spPr>
          <a:xfrm>
            <a:off x="4297680" y="1645920"/>
            <a:ext cx="2788920" cy="347472"/>
          </a:xfrm>
          <a:prstGeom prst="rect">
            <a:avLst/>
          </a:prstGeom>
          <a:noFill/>
          <a:ln/>
        </p:spPr>
        <p:txBody>
          <a:bodyPr wrap="square" lIns="0" tIns="0" rIns="0" bIns="0" rtlCol="0" anchor="ctr"/>
          <a:lstStyle/>
          <a:p>
            <a:pPr indent="0" marL="0">
              <a:buNone/>
            </a:pPr>
            <a:r>
              <a:rPr lang="en-US" sz="1200" b="1" dirty="0">
                <a:solidFill>
                  <a:srgbClr val="F1ECDD"/>
                </a:solidFill>
                <a:latin typeface="Consolas" pitchFamily="34" charset="0"/>
                <a:ea typeface="Consolas" pitchFamily="34" charset="-122"/>
                <a:cs typeface="Consolas" pitchFamily="34" charset="-120"/>
              </a:rPr>
              <a:t>materiels</a:t>
            </a:r>
            <a:endParaRPr lang="en-US" sz="1200" dirty="0"/>
          </a:p>
        </p:txBody>
      </p:sp>
      <p:sp>
        <p:nvSpPr>
          <p:cNvPr id="38" name="Text 35"/>
          <p:cNvSpPr txBox="1"/>
          <p:nvPr/>
        </p:nvSpPr>
        <p:spPr>
          <a:xfrm>
            <a:off x="4297680" y="2048256"/>
            <a:ext cx="2514600" cy="210312"/>
          </a:xfrm>
          <a:prstGeom prst="rect">
            <a:avLst/>
          </a:prstGeom>
          <a:noFill/>
          <a:ln/>
        </p:spPr>
        <p:txBody>
          <a:bodyPr wrap="square" lIns="0" tIns="0" rIns="0" bIns="0" rtlCol="0" anchor="t"/>
          <a:lstStyle/>
          <a:p>
            <a:pPr indent="0" marL="0">
              <a:buNone/>
            </a:pPr>
            <a:r>
              <a:rPr lang="en-US" sz="950" b="1" dirty="0">
                <a:solidFill>
                  <a:srgbClr val="17211C"/>
                </a:solidFill>
                <a:latin typeface="Consolas" pitchFamily="34" charset="0"/>
                <a:ea typeface="Consolas" pitchFamily="34" charset="-122"/>
                <a:cs typeface="Consolas" pitchFamily="34" charset="-120"/>
              </a:rPr>
              <a:t>id</a:t>
            </a:r>
            <a:endParaRPr lang="en-US" sz="950" dirty="0"/>
          </a:p>
        </p:txBody>
      </p:sp>
      <p:sp>
        <p:nvSpPr>
          <p:cNvPr id="39" name="Text 36"/>
          <p:cNvSpPr txBox="1"/>
          <p:nvPr/>
        </p:nvSpPr>
        <p:spPr>
          <a:xfrm>
            <a:off x="6766560" y="2048256"/>
            <a:ext cx="347472" cy="210312"/>
          </a:xfrm>
          <a:prstGeom prst="rect">
            <a:avLst/>
          </a:prstGeom>
          <a:noFill/>
          <a:ln/>
        </p:spPr>
        <p:txBody>
          <a:bodyPr wrap="square" lIns="0" tIns="0" rIns="0" bIns="0" rtlCol="0" anchor="t"/>
          <a:lstStyle/>
          <a:p>
            <a:pPr algn="r" indent="0" marL="0">
              <a:buNone/>
            </a:pPr>
            <a:r>
              <a:rPr lang="en-US" sz="800" b="1" dirty="0">
                <a:solidFill>
                  <a:srgbClr val="B27416"/>
                </a:solidFill>
                <a:latin typeface="Consolas" pitchFamily="34" charset="0"/>
                <a:ea typeface="Consolas" pitchFamily="34" charset="-122"/>
                <a:cs typeface="Consolas" pitchFamily="34" charset="-120"/>
              </a:rPr>
              <a:t>PK</a:t>
            </a:r>
            <a:endParaRPr lang="en-US" sz="800" dirty="0"/>
          </a:p>
        </p:txBody>
      </p:sp>
      <p:sp>
        <p:nvSpPr>
          <p:cNvPr id="40" name="Text 37"/>
          <p:cNvSpPr txBox="1"/>
          <p:nvPr/>
        </p:nvSpPr>
        <p:spPr>
          <a:xfrm>
            <a:off x="4297680" y="2263140"/>
            <a:ext cx="2514600" cy="210312"/>
          </a:xfrm>
          <a:prstGeom prst="rect">
            <a:avLst/>
          </a:prstGeom>
          <a:noFill/>
          <a:ln/>
        </p:spPr>
        <p:txBody>
          <a:bodyPr wrap="square" lIns="0" tIns="0" rIns="0" bIns="0" rtlCol="0" anchor="t"/>
          <a:lstStyle/>
          <a:p>
            <a:pPr indent="0" marL="0">
              <a:buNone/>
            </a:pPr>
            <a:r>
              <a:rPr lang="en-US" sz="950" dirty="0">
                <a:solidFill>
                  <a:srgbClr val="3F4842"/>
                </a:solidFill>
                <a:latin typeface="Consolas" pitchFamily="34" charset="0"/>
                <a:ea typeface="Consolas" pitchFamily="34" charset="-122"/>
                <a:cs typeface="Consolas" pitchFamily="34" charset="-120"/>
              </a:rPr>
              <a:t>numero_inventaire (unique)</a:t>
            </a:r>
            <a:endParaRPr lang="en-US" sz="950" dirty="0"/>
          </a:p>
        </p:txBody>
      </p:sp>
      <p:sp>
        <p:nvSpPr>
          <p:cNvPr id="41" name="Text 38"/>
          <p:cNvSpPr txBox="1"/>
          <p:nvPr/>
        </p:nvSpPr>
        <p:spPr>
          <a:xfrm>
            <a:off x="4297680" y="2478024"/>
            <a:ext cx="2514600" cy="210312"/>
          </a:xfrm>
          <a:prstGeom prst="rect">
            <a:avLst/>
          </a:prstGeom>
          <a:noFill/>
          <a:ln/>
        </p:spPr>
        <p:txBody>
          <a:bodyPr wrap="square" lIns="0" tIns="0" rIns="0" bIns="0" rtlCol="0" anchor="t"/>
          <a:lstStyle/>
          <a:p>
            <a:pPr indent="0" marL="0">
              <a:buNone/>
            </a:pPr>
            <a:r>
              <a:rPr lang="en-US" sz="950" dirty="0">
                <a:solidFill>
                  <a:srgbClr val="3F4842"/>
                </a:solidFill>
                <a:latin typeface="Consolas" pitchFamily="34" charset="0"/>
                <a:ea typeface="Consolas" pitchFamily="34" charset="-122"/>
                <a:cs typeface="Consolas" pitchFamily="34" charset="-120"/>
              </a:rPr>
              <a:t>designation</a:t>
            </a:r>
            <a:endParaRPr lang="en-US" sz="950" dirty="0"/>
          </a:p>
        </p:txBody>
      </p:sp>
      <p:sp>
        <p:nvSpPr>
          <p:cNvPr id="42" name="Text 39"/>
          <p:cNvSpPr txBox="1"/>
          <p:nvPr/>
        </p:nvSpPr>
        <p:spPr>
          <a:xfrm>
            <a:off x="4297680" y="2692908"/>
            <a:ext cx="2514600" cy="210312"/>
          </a:xfrm>
          <a:prstGeom prst="rect">
            <a:avLst/>
          </a:prstGeom>
          <a:noFill/>
          <a:ln/>
        </p:spPr>
        <p:txBody>
          <a:bodyPr wrap="square" lIns="0" tIns="0" rIns="0" bIns="0" rtlCol="0" anchor="t"/>
          <a:lstStyle/>
          <a:p>
            <a:pPr indent="0" marL="0">
              <a:buNone/>
            </a:pPr>
            <a:r>
              <a:rPr lang="en-US" sz="950" dirty="0">
                <a:solidFill>
                  <a:srgbClr val="17211C"/>
                </a:solidFill>
                <a:latin typeface="Consolas" pitchFamily="34" charset="0"/>
                <a:ea typeface="Consolas" pitchFamily="34" charset="-122"/>
                <a:cs typeface="Consolas" pitchFamily="34" charset="-120"/>
              </a:rPr>
              <a:t>categorie_id</a:t>
            </a:r>
            <a:endParaRPr lang="en-US" sz="950" dirty="0"/>
          </a:p>
        </p:txBody>
      </p:sp>
      <p:sp>
        <p:nvSpPr>
          <p:cNvPr id="43" name="Text 40"/>
          <p:cNvSpPr txBox="1"/>
          <p:nvPr/>
        </p:nvSpPr>
        <p:spPr>
          <a:xfrm>
            <a:off x="6766560" y="2692908"/>
            <a:ext cx="347472" cy="210312"/>
          </a:xfrm>
          <a:prstGeom prst="rect">
            <a:avLst/>
          </a:prstGeom>
          <a:noFill/>
          <a:ln/>
        </p:spPr>
        <p:txBody>
          <a:bodyPr wrap="square" lIns="0" tIns="0" rIns="0" bIns="0" rtlCol="0" anchor="t"/>
          <a:lstStyle/>
          <a:p>
            <a:pPr algn="r" indent="0" marL="0">
              <a:buNone/>
            </a:pPr>
            <a:r>
              <a:rPr lang="en-US" sz="800" b="1" dirty="0">
                <a:solidFill>
                  <a:srgbClr val="1F4A3A"/>
                </a:solidFill>
                <a:latin typeface="Consolas" pitchFamily="34" charset="0"/>
                <a:ea typeface="Consolas" pitchFamily="34" charset="-122"/>
                <a:cs typeface="Consolas" pitchFamily="34" charset="-120"/>
              </a:rPr>
              <a:t>FK</a:t>
            </a:r>
            <a:endParaRPr lang="en-US" sz="800" dirty="0"/>
          </a:p>
        </p:txBody>
      </p:sp>
      <p:sp>
        <p:nvSpPr>
          <p:cNvPr id="44" name="Text 41"/>
          <p:cNvSpPr txBox="1"/>
          <p:nvPr/>
        </p:nvSpPr>
        <p:spPr>
          <a:xfrm>
            <a:off x="4297680" y="2907792"/>
            <a:ext cx="2514600" cy="210312"/>
          </a:xfrm>
          <a:prstGeom prst="rect">
            <a:avLst/>
          </a:prstGeom>
          <a:noFill/>
          <a:ln/>
        </p:spPr>
        <p:txBody>
          <a:bodyPr wrap="square" lIns="0" tIns="0" rIns="0" bIns="0" rtlCol="0" anchor="t"/>
          <a:lstStyle/>
          <a:p>
            <a:pPr indent="0" marL="0">
              <a:buNone/>
            </a:pPr>
            <a:r>
              <a:rPr lang="en-US" sz="950" dirty="0">
                <a:solidFill>
                  <a:srgbClr val="3F4842"/>
                </a:solidFill>
                <a:latin typeface="Consolas" pitchFamily="34" charset="0"/>
                <a:ea typeface="Consolas" pitchFamily="34" charset="-122"/>
                <a:cs typeface="Consolas" pitchFamily="34" charset="-120"/>
              </a:rPr>
              <a:t>marque · modele</a:t>
            </a:r>
            <a:endParaRPr lang="en-US" sz="950" dirty="0"/>
          </a:p>
        </p:txBody>
      </p:sp>
      <p:sp>
        <p:nvSpPr>
          <p:cNvPr id="45" name="Text 42"/>
          <p:cNvSpPr txBox="1"/>
          <p:nvPr/>
        </p:nvSpPr>
        <p:spPr>
          <a:xfrm>
            <a:off x="4297680" y="3122676"/>
            <a:ext cx="2514600" cy="210312"/>
          </a:xfrm>
          <a:prstGeom prst="rect">
            <a:avLst/>
          </a:prstGeom>
          <a:noFill/>
          <a:ln/>
        </p:spPr>
        <p:txBody>
          <a:bodyPr wrap="square" lIns="0" tIns="0" rIns="0" bIns="0" rtlCol="0" anchor="t"/>
          <a:lstStyle/>
          <a:p>
            <a:pPr indent="0" marL="0">
              <a:buNone/>
            </a:pPr>
            <a:r>
              <a:rPr lang="en-US" sz="950" dirty="0">
                <a:solidFill>
                  <a:srgbClr val="3F4842"/>
                </a:solidFill>
                <a:latin typeface="Consolas" pitchFamily="34" charset="0"/>
                <a:ea typeface="Consolas" pitchFamily="34" charset="-122"/>
                <a:cs typeface="Consolas" pitchFamily="34" charset="-120"/>
              </a:rPr>
              <a:t>numero_serie</a:t>
            </a:r>
            <a:endParaRPr lang="en-US" sz="950" dirty="0"/>
          </a:p>
        </p:txBody>
      </p:sp>
      <p:sp>
        <p:nvSpPr>
          <p:cNvPr id="46" name="Text 43"/>
          <p:cNvSpPr txBox="1"/>
          <p:nvPr/>
        </p:nvSpPr>
        <p:spPr>
          <a:xfrm>
            <a:off x="4297680" y="3337560"/>
            <a:ext cx="2514600" cy="210312"/>
          </a:xfrm>
          <a:prstGeom prst="rect">
            <a:avLst/>
          </a:prstGeom>
          <a:noFill/>
          <a:ln/>
        </p:spPr>
        <p:txBody>
          <a:bodyPr wrap="square" lIns="0" tIns="0" rIns="0" bIns="0" rtlCol="0" anchor="t"/>
          <a:lstStyle/>
          <a:p>
            <a:pPr indent="0" marL="0">
              <a:buNone/>
            </a:pPr>
            <a:r>
              <a:rPr lang="en-US" sz="950" dirty="0">
                <a:solidFill>
                  <a:srgbClr val="3F4842"/>
                </a:solidFill>
                <a:latin typeface="Consolas" pitchFamily="34" charset="0"/>
                <a:ea typeface="Consolas" pitchFamily="34" charset="-122"/>
                <a:cs typeface="Consolas" pitchFamily="34" charset="-120"/>
              </a:rPr>
              <a:t>date_acquisition</a:t>
            </a:r>
            <a:endParaRPr lang="en-US" sz="950" dirty="0"/>
          </a:p>
        </p:txBody>
      </p:sp>
      <p:sp>
        <p:nvSpPr>
          <p:cNvPr id="47" name="Text 44"/>
          <p:cNvSpPr txBox="1"/>
          <p:nvPr/>
        </p:nvSpPr>
        <p:spPr>
          <a:xfrm>
            <a:off x="4297680" y="3552444"/>
            <a:ext cx="2514600" cy="210312"/>
          </a:xfrm>
          <a:prstGeom prst="rect">
            <a:avLst/>
          </a:prstGeom>
          <a:noFill/>
          <a:ln/>
        </p:spPr>
        <p:txBody>
          <a:bodyPr wrap="square" lIns="0" tIns="0" rIns="0" bIns="0" rtlCol="0" anchor="t"/>
          <a:lstStyle/>
          <a:p>
            <a:pPr indent="0" marL="0">
              <a:buNone/>
            </a:pPr>
            <a:r>
              <a:rPr lang="en-US" sz="950" dirty="0">
                <a:solidFill>
                  <a:srgbClr val="3F4842"/>
                </a:solidFill>
                <a:latin typeface="Consolas" pitchFamily="34" charset="0"/>
                <a:ea typeface="Consolas" pitchFamily="34" charset="-122"/>
                <a:cs typeface="Consolas" pitchFamily="34" charset="-120"/>
              </a:rPr>
              <a:t>etat</a:t>
            </a:r>
            <a:endParaRPr lang="en-US" sz="950" dirty="0"/>
          </a:p>
        </p:txBody>
      </p:sp>
      <p:sp>
        <p:nvSpPr>
          <p:cNvPr id="48" name="Text 45"/>
          <p:cNvSpPr txBox="1"/>
          <p:nvPr/>
        </p:nvSpPr>
        <p:spPr>
          <a:xfrm>
            <a:off x="4297680" y="3767328"/>
            <a:ext cx="2514600" cy="210312"/>
          </a:xfrm>
          <a:prstGeom prst="rect">
            <a:avLst/>
          </a:prstGeom>
          <a:noFill/>
          <a:ln/>
        </p:spPr>
        <p:txBody>
          <a:bodyPr wrap="square" lIns="0" tIns="0" rIns="0" bIns="0" rtlCol="0" anchor="t"/>
          <a:lstStyle/>
          <a:p>
            <a:pPr indent="0" marL="0">
              <a:buNone/>
            </a:pPr>
            <a:r>
              <a:rPr lang="en-US" sz="950" dirty="0">
                <a:solidFill>
                  <a:srgbClr val="17211C"/>
                </a:solidFill>
                <a:latin typeface="Consolas" pitchFamily="34" charset="0"/>
                <a:ea typeface="Consolas" pitchFamily="34" charset="-122"/>
                <a:cs typeface="Consolas" pitchFamily="34" charset="-120"/>
              </a:rPr>
              <a:t>direction_id</a:t>
            </a:r>
            <a:endParaRPr lang="en-US" sz="950" dirty="0"/>
          </a:p>
        </p:txBody>
      </p:sp>
      <p:sp>
        <p:nvSpPr>
          <p:cNvPr id="49" name="Text 46"/>
          <p:cNvSpPr txBox="1"/>
          <p:nvPr/>
        </p:nvSpPr>
        <p:spPr>
          <a:xfrm>
            <a:off x="6766560" y="3767328"/>
            <a:ext cx="347472" cy="210312"/>
          </a:xfrm>
          <a:prstGeom prst="rect">
            <a:avLst/>
          </a:prstGeom>
          <a:noFill/>
          <a:ln/>
        </p:spPr>
        <p:txBody>
          <a:bodyPr wrap="square" lIns="0" tIns="0" rIns="0" bIns="0" rtlCol="0" anchor="t"/>
          <a:lstStyle/>
          <a:p>
            <a:pPr algn="r" indent="0" marL="0">
              <a:buNone/>
            </a:pPr>
            <a:r>
              <a:rPr lang="en-US" sz="800" b="1" dirty="0">
                <a:solidFill>
                  <a:srgbClr val="1F4A3A"/>
                </a:solidFill>
                <a:latin typeface="Consolas" pitchFamily="34" charset="0"/>
                <a:ea typeface="Consolas" pitchFamily="34" charset="-122"/>
                <a:cs typeface="Consolas" pitchFamily="34" charset="-120"/>
              </a:rPr>
              <a:t>FK</a:t>
            </a:r>
            <a:endParaRPr lang="en-US" sz="800" dirty="0"/>
          </a:p>
        </p:txBody>
      </p:sp>
      <p:sp>
        <p:nvSpPr>
          <p:cNvPr id="50" name="Text 47"/>
          <p:cNvSpPr txBox="1"/>
          <p:nvPr/>
        </p:nvSpPr>
        <p:spPr>
          <a:xfrm>
            <a:off x="4297680" y="3982212"/>
            <a:ext cx="2514600" cy="210312"/>
          </a:xfrm>
          <a:prstGeom prst="rect">
            <a:avLst/>
          </a:prstGeom>
          <a:noFill/>
          <a:ln/>
        </p:spPr>
        <p:txBody>
          <a:bodyPr wrap="square" lIns="0" tIns="0" rIns="0" bIns="0" rtlCol="0" anchor="t"/>
          <a:lstStyle/>
          <a:p>
            <a:pPr indent="0" marL="0">
              <a:buNone/>
            </a:pPr>
            <a:r>
              <a:rPr lang="en-US" sz="950" dirty="0">
                <a:solidFill>
                  <a:srgbClr val="3F4842"/>
                </a:solidFill>
                <a:latin typeface="Consolas" pitchFamily="34" charset="0"/>
                <a:ea typeface="Consolas" pitchFamily="34" charset="-122"/>
                <a:cs typeface="Consolas" pitchFamily="34" charset="-120"/>
              </a:rPr>
              <a:t>observation</a:t>
            </a:r>
            <a:endParaRPr lang="en-US" sz="950" dirty="0"/>
          </a:p>
        </p:txBody>
      </p:sp>
      <p:sp>
        <p:nvSpPr>
          <p:cNvPr id="51" name="Shape 48"/>
          <p:cNvSpPr/>
          <p:nvPr/>
        </p:nvSpPr>
        <p:spPr>
          <a:xfrm>
            <a:off x="8732520" y="1645920"/>
            <a:ext cx="2907792" cy="1943100"/>
          </a:xfrm>
          <a:prstGeom prst="rect">
            <a:avLst/>
          </a:prstGeom>
          <a:solidFill>
            <a:srgbClr val="FBF9F4"/>
          </a:solidFill>
          <a:ln w="12700">
            <a:solidFill>
              <a:srgbClr val="CBC2AD"/>
            </a:solidFill>
            <a:prstDash val="solid"/>
          </a:ln>
          <a:effectLst>
            <a:outerShdw sx="100000" sy="100000" kx="0" ky="0" algn="bl" rotWithShape="0" blurRad="76200" dist="19050" dir="5400000">
              <a:srgbClr val="1A2E25">
                <a:alpha val="8000"/>
              </a:srgbClr>
            </a:outerShdw>
          </a:effectLst>
        </p:spPr>
      </p:sp>
      <p:sp>
        <p:nvSpPr>
          <p:cNvPr id="52" name="Shape 49"/>
          <p:cNvSpPr/>
          <p:nvPr/>
        </p:nvSpPr>
        <p:spPr>
          <a:xfrm>
            <a:off x="8732520" y="1645920"/>
            <a:ext cx="2907792" cy="347472"/>
          </a:xfrm>
          <a:prstGeom prst="rect">
            <a:avLst/>
          </a:prstGeom>
          <a:solidFill>
            <a:srgbClr val="1A2E25"/>
          </a:solidFill>
          <a:ln w="12700">
            <a:solidFill>
              <a:srgbClr val="1A2E25"/>
            </a:solidFill>
            <a:prstDash val="solid"/>
          </a:ln>
        </p:spPr>
      </p:sp>
      <p:sp>
        <p:nvSpPr>
          <p:cNvPr id="53" name="Text 50"/>
          <p:cNvSpPr txBox="1"/>
          <p:nvPr/>
        </p:nvSpPr>
        <p:spPr>
          <a:xfrm>
            <a:off x="8869680" y="1645920"/>
            <a:ext cx="2633472" cy="347472"/>
          </a:xfrm>
          <a:prstGeom prst="rect">
            <a:avLst/>
          </a:prstGeom>
          <a:noFill/>
          <a:ln/>
        </p:spPr>
        <p:txBody>
          <a:bodyPr wrap="square" lIns="0" tIns="0" rIns="0" bIns="0" rtlCol="0" anchor="ctr"/>
          <a:lstStyle/>
          <a:p>
            <a:pPr indent="0" marL="0">
              <a:buNone/>
            </a:pPr>
            <a:r>
              <a:rPr lang="en-US" sz="1200" b="1" dirty="0">
                <a:solidFill>
                  <a:srgbClr val="F1ECDD"/>
                </a:solidFill>
                <a:latin typeface="Consolas" pitchFamily="34" charset="0"/>
                <a:ea typeface="Consolas" pitchFamily="34" charset="-122"/>
                <a:cs typeface="Consolas" pitchFamily="34" charset="-120"/>
              </a:rPr>
              <a:t>mouvements</a:t>
            </a:r>
            <a:endParaRPr lang="en-US" sz="1200" dirty="0"/>
          </a:p>
        </p:txBody>
      </p:sp>
      <p:sp>
        <p:nvSpPr>
          <p:cNvPr id="54" name="Text 51"/>
          <p:cNvSpPr txBox="1"/>
          <p:nvPr/>
        </p:nvSpPr>
        <p:spPr>
          <a:xfrm>
            <a:off x="8869680" y="2048256"/>
            <a:ext cx="2359152" cy="210312"/>
          </a:xfrm>
          <a:prstGeom prst="rect">
            <a:avLst/>
          </a:prstGeom>
          <a:noFill/>
          <a:ln/>
        </p:spPr>
        <p:txBody>
          <a:bodyPr wrap="square" lIns="0" tIns="0" rIns="0" bIns="0" rtlCol="0" anchor="t"/>
          <a:lstStyle/>
          <a:p>
            <a:pPr indent="0" marL="0">
              <a:buNone/>
            </a:pPr>
            <a:r>
              <a:rPr lang="en-US" sz="950" b="1" dirty="0">
                <a:solidFill>
                  <a:srgbClr val="17211C"/>
                </a:solidFill>
                <a:latin typeface="Consolas" pitchFamily="34" charset="0"/>
                <a:ea typeface="Consolas" pitchFamily="34" charset="-122"/>
                <a:cs typeface="Consolas" pitchFamily="34" charset="-120"/>
              </a:rPr>
              <a:t>id</a:t>
            </a:r>
            <a:endParaRPr lang="en-US" sz="950" dirty="0"/>
          </a:p>
        </p:txBody>
      </p:sp>
      <p:sp>
        <p:nvSpPr>
          <p:cNvPr id="55" name="Text 52"/>
          <p:cNvSpPr txBox="1"/>
          <p:nvPr/>
        </p:nvSpPr>
        <p:spPr>
          <a:xfrm>
            <a:off x="11183112" y="2048256"/>
            <a:ext cx="347472" cy="210312"/>
          </a:xfrm>
          <a:prstGeom prst="rect">
            <a:avLst/>
          </a:prstGeom>
          <a:noFill/>
          <a:ln/>
        </p:spPr>
        <p:txBody>
          <a:bodyPr wrap="square" lIns="0" tIns="0" rIns="0" bIns="0" rtlCol="0" anchor="t"/>
          <a:lstStyle/>
          <a:p>
            <a:pPr algn="r" indent="0" marL="0">
              <a:buNone/>
            </a:pPr>
            <a:r>
              <a:rPr lang="en-US" sz="800" b="1" dirty="0">
                <a:solidFill>
                  <a:srgbClr val="B27416"/>
                </a:solidFill>
                <a:latin typeface="Consolas" pitchFamily="34" charset="0"/>
                <a:ea typeface="Consolas" pitchFamily="34" charset="-122"/>
                <a:cs typeface="Consolas" pitchFamily="34" charset="-120"/>
              </a:rPr>
              <a:t>PK</a:t>
            </a:r>
            <a:endParaRPr lang="en-US" sz="800" dirty="0"/>
          </a:p>
        </p:txBody>
      </p:sp>
      <p:sp>
        <p:nvSpPr>
          <p:cNvPr id="56" name="Text 53"/>
          <p:cNvSpPr txBox="1"/>
          <p:nvPr/>
        </p:nvSpPr>
        <p:spPr>
          <a:xfrm>
            <a:off x="8869680" y="2263140"/>
            <a:ext cx="2359152" cy="210312"/>
          </a:xfrm>
          <a:prstGeom prst="rect">
            <a:avLst/>
          </a:prstGeom>
          <a:noFill/>
          <a:ln/>
        </p:spPr>
        <p:txBody>
          <a:bodyPr wrap="square" lIns="0" tIns="0" rIns="0" bIns="0" rtlCol="0" anchor="t"/>
          <a:lstStyle/>
          <a:p>
            <a:pPr indent="0" marL="0">
              <a:buNone/>
            </a:pPr>
            <a:r>
              <a:rPr lang="en-US" sz="950" dirty="0">
                <a:solidFill>
                  <a:srgbClr val="17211C"/>
                </a:solidFill>
                <a:latin typeface="Consolas" pitchFamily="34" charset="0"/>
                <a:ea typeface="Consolas" pitchFamily="34" charset="-122"/>
                <a:cs typeface="Consolas" pitchFamily="34" charset="-120"/>
              </a:rPr>
              <a:t>materiel_id</a:t>
            </a:r>
            <a:endParaRPr lang="en-US" sz="950" dirty="0"/>
          </a:p>
        </p:txBody>
      </p:sp>
      <p:sp>
        <p:nvSpPr>
          <p:cNvPr id="57" name="Text 54"/>
          <p:cNvSpPr txBox="1"/>
          <p:nvPr/>
        </p:nvSpPr>
        <p:spPr>
          <a:xfrm>
            <a:off x="11183112" y="2263140"/>
            <a:ext cx="347472" cy="210312"/>
          </a:xfrm>
          <a:prstGeom prst="rect">
            <a:avLst/>
          </a:prstGeom>
          <a:noFill/>
          <a:ln/>
        </p:spPr>
        <p:txBody>
          <a:bodyPr wrap="square" lIns="0" tIns="0" rIns="0" bIns="0" rtlCol="0" anchor="t"/>
          <a:lstStyle/>
          <a:p>
            <a:pPr algn="r" indent="0" marL="0">
              <a:buNone/>
            </a:pPr>
            <a:r>
              <a:rPr lang="en-US" sz="800" b="1" dirty="0">
                <a:solidFill>
                  <a:srgbClr val="1F4A3A"/>
                </a:solidFill>
                <a:latin typeface="Consolas" pitchFamily="34" charset="0"/>
                <a:ea typeface="Consolas" pitchFamily="34" charset="-122"/>
                <a:cs typeface="Consolas" pitchFamily="34" charset="-120"/>
              </a:rPr>
              <a:t>FK</a:t>
            </a:r>
            <a:endParaRPr lang="en-US" sz="800" dirty="0"/>
          </a:p>
        </p:txBody>
      </p:sp>
      <p:sp>
        <p:nvSpPr>
          <p:cNvPr id="58" name="Text 55"/>
          <p:cNvSpPr txBox="1"/>
          <p:nvPr/>
        </p:nvSpPr>
        <p:spPr>
          <a:xfrm>
            <a:off x="8869680" y="2478024"/>
            <a:ext cx="2359152" cy="210312"/>
          </a:xfrm>
          <a:prstGeom prst="rect">
            <a:avLst/>
          </a:prstGeom>
          <a:noFill/>
          <a:ln/>
        </p:spPr>
        <p:txBody>
          <a:bodyPr wrap="square" lIns="0" tIns="0" rIns="0" bIns="0" rtlCol="0" anchor="t"/>
          <a:lstStyle/>
          <a:p>
            <a:pPr indent="0" marL="0">
              <a:buNone/>
            </a:pPr>
            <a:r>
              <a:rPr lang="en-US" sz="950" dirty="0">
                <a:solidFill>
                  <a:srgbClr val="3F4842"/>
                </a:solidFill>
                <a:latin typeface="Consolas" pitchFamily="34" charset="0"/>
                <a:ea typeface="Consolas" pitchFamily="34" charset="-122"/>
                <a:cs typeface="Consolas" pitchFamily="34" charset="-120"/>
              </a:rPr>
              <a:t>type</a:t>
            </a:r>
            <a:endParaRPr lang="en-US" sz="950" dirty="0"/>
          </a:p>
        </p:txBody>
      </p:sp>
      <p:sp>
        <p:nvSpPr>
          <p:cNvPr id="59" name="Text 56"/>
          <p:cNvSpPr txBox="1"/>
          <p:nvPr/>
        </p:nvSpPr>
        <p:spPr>
          <a:xfrm>
            <a:off x="8869680" y="2692908"/>
            <a:ext cx="2359152" cy="210312"/>
          </a:xfrm>
          <a:prstGeom prst="rect">
            <a:avLst/>
          </a:prstGeom>
          <a:noFill/>
          <a:ln/>
        </p:spPr>
        <p:txBody>
          <a:bodyPr wrap="square" lIns="0" tIns="0" rIns="0" bIns="0" rtlCol="0" anchor="t"/>
          <a:lstStyle/>
          <a:p>
            <a:pPr indent="0" marL="0">
              <a:buNone/>
            </a:pPr>
            <a:r>
              <a:rPr lang="en-US" sz="950" dirty="0">
                <a:solidFill>
                  <a:srgbClr val="17211C"/>
                </a:solidFill>
                <a:latin typeface="Consolas" pitchFamily="34" charset="0"/>
                <a:ea typeface="Consolas" pitchFamily="34" charset="-122"/>
                <a:cs typeface="Consolas" pitchFamily="34" charset="-120"/>
              </a:rPr>
              <a:t>direction_depart_id</a:t>
            </a:r>
            <a:endParaRPr lang="en-US" sz="950" dirty="0"/>
          </a:p>
        </p:txBody>
      </p:sp>
      <p:sp>
        <p:nvSpPr>
          <p:cNvPr id="60" name="Text 57"/>
          <p:cNvSpPr txBox="1"/>
          <p:nvPr/>
        </p:nvSpPr>
        <p:spPr>
          <a:xfrm>
            <a:off x="11183112" y="2692908"/>
            <a:ext cx="347472" cy="210312"/>
          </a:xfrm>
          <a:prstGeom prst="rect">
            <a:avLst/>
          </a:prstGeom>
          <a:noFill/>
          <a:ln/>
        </p:spPr>
        <p:txBody>
          <a:bodyPr wrap="square" lIns="0" tIns="0" rIns="0" bIns="0" rtlCol="0" anchor="t"/>
          <a:lstStyle/>
          <a:p>
            <a:pPr algn="r" indent="0" marL="0">
              <a:buNone/>
            </a:pPr>
            <a:r>
              <a:rPr lang="en-US" sz="800" b="1" dirty="0">
                <a:solidFill>
                  <a:srgbClr val="1F4A3A"/>
                </a:solidFill>
                <a:latin typeface="Consolas" pitchFamily="34" charset="0"/>
                <a:ea typeface="Consolas" pitchFamily="34" charset="-122"/>
                <a:cs typeface="Consolas" pitchFamily="34" charset="-120"/>
              </a:rPr>
              <a:t>FK</a:t>
            </a:r>
            <a:endParaRPr lang="en-US" sz="800" dirty="0"/>
          </a:p>
        </p:txBody>
      </p:sp>
      <p:sp>
        <p:nvSpPr>
          <p:cNvPr id="61" name="Text 58"/>
          <p:cNvSpPr txBox="1"/>
          <p:nvPr/>
        </p:nvSpPr>
        <p:spPr>
          <a:xfrm>
            <a:off x="8869680" y="2907792"/>
            <a:ext cx="2359152" cy="210312"/>
          </a:xfrm>
          <a:prstGeom prst="rect">
            <a:avLst/>
          </a:prstGeom>
          <a:noFill/>
          <a:ln/>
        </p:spPr>
        <p:txBody>
          <a:bodyPr wrap="square" lIns="0" tIns="0" rIns="0" bIns="0" rtlCol="0" anchor="t"/>
          <a:lstStyle/>
          <a:p>
            <a:pPr indent="0" marL="0">
              <a:buNone/>
            </a:pPr>
            <a:r>
              <a:rPr lang="en-US" sz="950" dirty="0">
                <a:solidFill>
                  <a:srgbClr val="17211C"/>
                </a:solidFill>
                <a:latin typeface="Consolas" pitchFamily="34" charset="0"/>
                <a:ea typeface="Consolas" pitchFamily="34" charset="-122"/>
                <a:cs typeface="Consolas" pitchFamily="34" charset="-120"/>
              </a:rPr>
              <a:t>direction_arrivee_id</a:t>
            </a:r>
            <a:endParaRPr lang="en-US" sz="950" dirty="0"/>
          </a:p>
        </p:txBody>
      </p:sp>
      <p:sp>
        <p:nvSpPr>
          <p:cNvPr id="62" name="Text 59"/>
          <p:cNvSpPr txBox="1"/>
          <p:nvPr/>
        </p:nvSpPr>
        <p:spPr>
          <a:xfrm>
            <a:off x="11183112" y="2907792"/>
            <a:ext cx="347472" cy="210312"/>
          </a:xfrm>
          <a:prstGeom prst="rect">
            <a:avLst/>
          </a:prstGeom>
          <a:noFill/>
          <a:ln/>
        </p:spPr>
        <p:txBody>
          <a:bodyPr wrap="square" lIns="0" tIns="0" rIns="0" bIns="0" rtlCol="0" anchor="t"/>
          <a:lstStyle/>
          <a:p>
            <a:pPr algn="r" indent="0" marL="0">
              <a:buNone/>
            </a:pPr>
            <a:r>
              <a:rPr lang="en-US" sz="800" b="1" dirty="0">
                <a:solidFill>
                  <a:srgbClr val="1F4A3A"/>
                </a:solidFill>
                <a:latin typeface="Consolas" pitchFamily="34" charset="0"/>
                <a:ea typeface="Consolas" pitchFamily="34" charset="-122"/>
                <a:cs typeface="Consolas" pitchFamily="34" charset="-120"/>
              </a:rPr>
              <a:t>FK</a:t>
            </a:r>
            <a:endParaRPr lang="en-US" sz="800" dirty="0"/>
          </a:p>
        </p:txBody>
      </p:sp>
      <p:sp>
        <p:nvSpPr>
          <p:cNvPr id="63" name="Text 60"/>
          <p:cNvSpPr txBox="1"/>
          <p:nvPr/>
        </p:nvSpPr>
        <p:spPr>
          <a:xfrm>
            <a:off x="8869680" y="3122676"/>
            <a:ext cx="2359152" cy="210312"/>
          </a:xfrm>
          <a:prstGeom prst="rect">
            <a:avLst/>
          </a:prstGeom>
          <a:noFill/>
          <a:ln/>
        </p:spPr>
        <p:txBody>
          <a:bodyPr wrap="square" lIns="0" tIns="0" rIns="0" bIns="0" rtlCol="0" anchor="t"/>
          <a:lstStyle/>
          <a:p>
            <a:pPr indent="0" marL="0">
              <a:buNone/>
            </a:pPr>
            <a:r>
              <a:rPr lang="en-US" sz="950" dirty="0">
                <a:solidFill>
                  <a:srgbClr val="3F4842"/>
                </a:solidFill>
                <a:latin typeface="Consolas" pitchFamily="34" charset="0"/>
                <a:ea typeface="Consolas" pitchFamily="34" charset="-122"/>
                <a:cs typeface="Consolas" pitchFamily="34" charset="-120"/>
              </a:rPr>
              <a:t>etat_avant · etat_apres</a:t>
            </a:r>
            <a:endParaRPr lang="en-US" sz="950" dirty="0"/>
          </a:p>
        </p:txBody>
      </p:sp>
      <p:sp>
        <p:nvSpPr>
          <p:cNvPr id="64" name="Text 61"/>
          <p:cNvSpPr txBox="1"/>
          <p:nvPr/>
        </p:nvSpPr>
        <p:spPr>
          <a:xfrm>
            <a:off x="8869680" y="3337560"/>
            <a:ext cx="2359152" cy="210312"/>
          </a:xfrm>
          <a:prstGeom prst="rect">
            <a:avLst/>
          </a:prstGeom>
          <a:noFill/>
          <a:ln/>
        </p:spPr>
        <p:txBody>
          <a:bodyPr wrap="square" lIns="0" tIns="0" rIns="0" bIns="0" rtlCol="0" anchor="t"/>
          <a:lstStyle/>
          <a:p>
            <a:pPr indent="0" marL="0">
              <a:buNone/>
            </a:pPr>
            <a:r>
              <a:rPr lang="en-US" sz="950" dirty="0">
                <a:solidFill>
                  <a:srgbClr val="3F4842"/>
                </a:solidFill>
                <a:latin typeface="Consolas" pitchFamily="34" charset="0"/>
                <a:ea typeface="Consolas" pitchFamily="34" charset="-122"/>
                <a:cs typeface="Consolas" pitchFamily="34" charset="-120"/>
              </a:rPr>
              <a:t>observation · date</a:t>
            </a:r>
            <a:endParaRPr lang="en-US" sz="950" dirty="0"/>
          </a:p>
        </p:txBody>
      </p:sp>
      <p:sp>
        <p:nvSpPr>
          <p:cNvPr id="65" name="Shape 62"/>
          <p:cNvSpPr/>
          <p:nvPr/>
        </p:nvSpPr>
        <p:spPr>
          <a:xfrm>
            <a:off x="8732520" y="3977640"/>
            <a:ext cx="2907792" cy="1728216"/>
          </a:xfrm>
          <a:prstGeom prst="rect">
            <a:avLst/>
          </a:prstGeom>
          <a:solidFill>
            <a:srgbClr val="FBF9F4"/>
          </a:solidFill>
          <a:ln w="12700">
            <a:solidFill>
              <a:srgbClr val="CBC2AD"/>
            </a:solidFill>
            <a:prstDash val="solid"/>
          </a:ln>
          <a:effectLst>
            <a:outerShdw sx="100000" sy="100000" kx="0" ky="0" algn="bl" rotWithShape="0" blurRad="76200" dist="19050" dir="5400000">
              <a:srgbClr val="1A2E25">
                <a:alpha val="8000"/>
              </a:srgbClr>
            </a:outerShdw>
          </a:effectLst>
        </p:spPr>
      </p:sp>
      <p:sp>
        <p:nvSpPr>
          <p:cNvPr id="66" name="Shape 63"/>
          <p:cNvSpPr/>
          <p:nvPr/>
        </p:nvSpPr>
        <p:spPr>
          <a:xfrm>
            <a:off x="8732520" y="3977640"/>
            <a:ext cx="2907792" cy="347472"/>
          </a:xfrm>
          <a:prstGeom prst="rect">
            <a:avLst/>
          </a:prstGeom>
          <a:solidFill>
            <a:srgbClr val="1A2E25"/>
          </a:solidFill>
          <a:ln w="12700">
            <a:solidFill>
              <a:srgbClr val="1A2E25"/>
            </a:solidFill>
            <a:prstDash val="solid"/>
          </a:ln>
        </p:spPr>
      </p:sp>
      <p:sp>
        <p:nvSpPr>
          <p:cNvPr id="67" name="Text 64"/>
          <p:cNvSpPr txBox="1"/>
          <p:nvPr/>
        </p:nvSpPr>
        <p:spPr>
          <a:xfrm>
            <a:off x="8869680" y="3977640"/>
            <a:ext cx="2633472" cy="347472"/>
          </a:xfrm>
          <a:prstGeom prst="rect">
            <a:avLst/>
          </a:prstGeom>
          <a:noFill/>
          <a:ln/>
        </p:spPr>
        <p:txBody>
          <a:bodyPr wrap="square" lIns="0" tIns="0" rIns="0" bIns="0" rtlCol="0" anchor="ctr"/>
          <a:lstStyle/>
          <a:p>
            <a:pPr indent="0" marL="0">
              <a:buNone/>
            </a:pPr>
            <a:r>
              <a:rPr lang="en-US" sz="1200" b="1" dirty="0">
                <a:solidFill>
                  <a:srgbClr val="F1ECDD"/>
                </a:solidFill>
                <a:latin typeface="Consolas" pitchFamily="34" charset="0"/>
                <a:ea typeface="Consolas" pitchFamily="34" charset="-122"/>
                <a:cs typeface="Consolas" pitchFamily="34" charset="-120"/>
              </a:rPr>
              <a:t>transferts</a:t>
            </a:r>
            <a:endParaRPr lang="en-US" sz="1200" dirty="0"/>
          </a:p>
        </p:txBody>
      </p:sp>
      <p:sp>
        <p:nvSpPr>
          <p:cNvPr id="68" name="Text 65"/>
          <p:cNvSpPr txBox="1"/>
          <p:nvPr/>
        </p:nvSpPr>
        <p:spPr>
          <a:xfrm>
            <a:off x="8869680" y="4379976"/>
            <a:ext cx="2359152" cy="210312"/>
          </a:xfrm>
          <a:prstGeom prst="rect">
            <a:avLst/>
          </a:prstGeom>
          <a:noFill/>
          <a:ln/>
        </p:spPr>
        <p:txBody>
          <a:bodyPr wrap="square" lIns="0" tIns="0" rIns="0" bIns="0" rtlCol="0" anchor="t"/>
          <a:lstStyle/>
          <a:p>
            <a:pPr indent="0" marL="0">
              <a:buNone/>
            </a:pPr>
            <a:r>
              <a:rPr lang="en-US" sz="950" b="1" dirty="0">
                <a:solidFill>
                  <a:srgbClr val="17211C"/>
                </a:solidFill>
                <a:latin typeface="Consolas" pitchFamily="34" charset="0"/>
                <a:ea typeface="Consolas" pitchFamily="34" charset="-122"/>
                <a:cs typeface="Consolas" pitchFamily="34" charset="-120"/>
              </a:rPr>
              <a:t>id</a:t>
            </a:r>
            <a:endParaRPr lang="en-US" sz="950" dirty="0"/>
          </a:p>
        </p:txBody>
      </p:sp>
      <p:sp>
        <p:nvSpPr>
          <p:cNvPr id="69" name="Text 66"/>
          <p:cNvSpPr txBox="1"/>
          <p:nvPr/>
        </p:nvSpPr>
        <p:spPr>
          <a:xfrm>
            <a:off x="11183112" y="4379976"/>
            <a:ext cx="347472" cy="210312"/>
          </a:xfrm>
          <a:prstGeom prst="rect">
            <a:avLst/>
          </a:prstGeom>
          <a:noFill/>
          <a:ln/>
        </p:spPr>
        <p:txBody>
          <a:bodyPr wrap="square" lIns="0" tIns="0" rIns="0" bIns="0" rtlCol="0" anchor="t"/>
          <a:lstStyle/>
          <a:p>
            <a:pPr algn="r" indent="0" marL="0">
              <a:buNone/>
            </a:pPr>
            <a:r>
              <a:rPr lang="en-US" sz="800" b="1" dirty="0">
                <a:solidFill>
                  <a:srgbClr val="B27416"/>
                </a:solidFill>
                <a:latin typeface="Consolas" pitchFamily="34" charset="0"/>
                <a:ea typeface="Consolas" pitchFamily="34" charset="-122"/>
                <a:cs typeface="Consolas" pitchFamily="34" charset="-120"/>
              </a:rPr>
              <a:t>PK</a:t>
            </a:r>
            <a:endParaRPr lang="en-US" sz="800" dirty="0"/>
          </a:p>
        </p:txBody>
      </p:sp>
      <p:sp>
        <p:nvSpPr>
          <p:cNvPr id="70" name="Text 67"/>
          <p:cNvSpPr txBox="1"/>
          <p:nvPr/>
        </p:nvSpPr>
        <p:spPr>
          <a:xfrm>
            <a:off x="8869680" y="4594860"/>
            <a:ext cx="2359152" cy="210312"/>
          </a:xfrm>
          <a:prstGeom prst="rect">
            <a:avLst/>
          </a:prstGeom>
          <a:noFill/>
          <a:ln/>
        </p:spPr>
        <p:txBody>
          <a:bodyPr wrap="square" lIns="0" tIns="0" rIns="0" bIns="0" rtlCol="0" anchor="t"/>
          <a:lstStyle/>
          <a:p>
            <a:pPr indent="0" marL="0">
              <a:buNone/>
            </a:pPr>
            <a:r>
              <a:rPr lang="en-US" sz="950" dirty="0">
                <a:solidFill>
                  <a:srgbClr val="17211C"/>
                </a:solidFill>
                <a:latin typeface="Consolas" pitchFamily="34" charset="0"/>
                <a:ea typeface="Consolas" pitchFamily="34" charset="-122"/>
                <a:cs typeface="Consolas" pitchFamily="34" charset="-120"/>
              </a:rPr>
              <a:t>materiel_id · motif</a:t>
            </a:r>
            <a:endParaRPr lang="en-US" sz="950" dirty="0"/>
          </a:p>
        </p:txBody>
      </p:sp>
      <p:sp>
        <p:nvSpPr>
          <p:cNvPr id="71" name="Text 68"/>
          <p:cNvSpPr txBox="1"/>
          <p:nvPr/>
        </p:nvSpPr>
        <p:spPr>
          <a:xfrm>
            <a:off x="11183112" y="4594860"/>
            <a:ext cx="347472" cy="210312"/>
          </a:xfrm>
          <a:prstGeom prst="rect">
            <a:avLst/>
          </a:prstGeom>
          <a:noFill/>
          <a:ln/>
        </p:spPr>
        <p:txBody>
          <a:bodyPr wrap="square" lIns="0" tIns="0" rIns="0" bIns="0" rtlCol="0" anchor="t"/>
          <a:lstStyle/>
          <a:p>
            <a:pPr algn="r" indent="0" marL="0">
              <a:buNone/>
            </a:pPr>
            <a:r>
              <a:rPr lang="en-US" sz="800" b="1" dirty="0">
                <a:solidFill>
                  <a:srgbClr val="1F4A3A"/>
                </a:solidFill>
                <a:latin typeface="Consolas" pitchFamily="34" charset="0"/>
                <a:ea typeface="Consolas" pitchFamily="34" charset="-122"/>
                <a:cs typeface="Consolas" pitchFamily="34" charset="-120"/>
              </a:rPr>
              <a:t>FK</a:t>
            </a:r>
            <a:endParaRPr lang="en-US" sz="800" dirty="0"/>
          </a:p>
        </p:txBody>
      </p:sp>
      <p:sp>
        <p:nvSpPr>
          <p:cNvPr id="72" name="Text 69"/>
          <p:cNvSpPr txBox="1"/>
          <p:nvPr/>
        </p:nvSpPr>
        <p:spPr>
          <a:xfrm>
            <a:off x="8869680" y="4809744"/>
            <a:ext cx="2359152" cy="210312"/>
          </a:xfrm>
          <a:prstGeom prst="rect">
            <a:avLst/>
          </a:prstGeom>
          <a:noFill/>
          <a:ln/>
        </p:spPr>
        <p:txBody>
          <a:bodyPr wrap="square" lIns="0" tIns="0" rIns="0" bIns="0" rtlCol="0" anchor="t"/>
          <a:lstStyle/>
          <a:p>
            <a:pPr indent="0" marL="0">
              <a:buNone/>
            </a:pPr>
            <a:r>
              <a:rPr lang="en-US" sz="950" dirty="0">
                <a:solidFill>
                  <a:srgbClr val="17211C"/>
                </a:solidFill>
                <a:latin typeface="Consolas" pitchFamily="34" charset="0"/>
                <a:ea typeface="Consolas" pitchFamily="34" charset="-122"/>
                <a:cs typeface="Consolas" pitchFamily="34" charset="-120"/>
              </a:rPr>
              <a:t>depart · &gt;arrivee</a:t>
            </a:r>
            <a:endParaRPr lang="en-US" sz="950" dirty="0"/>
          </a:p>
        </p:txBody>
      </p:sp>
      <p:sp>
        <p:nvSpPr>
          <p:cNvPr id="73" name="Text 70"/>
          <p:cNvSpPr txBox="1"/>
          <p:nvPr/>
        </p:nvSpPr>
        <p:spPr>
          <a:xfrm>
            <a:off x="11183112" y="4809744"/>
            <a:ext cx="347472" cy="210312"/>
          </a:xfrm>
          <a:prstGeom prst="rect">
            <a:avLst/>
          </a:prstGeom>
          <a:noFill/>
          <a:ln/>
        </p:spPr>
        <p:txBody>
          <a:bodyPr wrap="square" lIns="0" tIns="0" rIns="0" bIns="0" rtlCol="0" anchor="t"/>
          <a:lstStyle/>
          <a:p>
            <a:pPr algn="r" indent="0" marL="0">
              <a:buNone/>
            </a:pPr>
            <a:r>
              <a:rPr lang="en-US" sz="800" b="1" dirty="0">
                <a:solidFill>
                  <a:srgbClr val="1F4A3A"/>
                </a:solidFill>
                <a:latin typeface="Consolas" pitchFamily="34" charset="0"/>
                <a:ea typeface="Consolas" pitchFamily="34" charset="-122"/>
                <a:cs typeface="Consolas" pitchFamily="34" charset="-120"/>
              </a:rPr>
              <a:t>FK</a:t>
            </a:r>
            <a:endParaRPr lang="en-US" sz="800" dirty="0"/>
          </a:p>
        </p:txBody>
      </p:sp>
      <p:sp>
        <p:nvSpPr>
          <p:cNvPr id="74" name="Text 71"/>
          <p:cNvSpPr txBox="1"/>
          <p:nvPr/>
        </p:nvSpPr>
        <p:spPr>
          <a:xfrm>
            <a:off x="8869680" y="5024628"/>
            <a:ext cx="2359152" cy="210312"/>
          </a:xfrm>
          <a:prstGeom prst="rect">
            <a:avLst/>
          </a:prstGeom>
          <a:noFill/>
          <a:ln/>
        </p:spPr>
        <p:txBody>
          <a:bodyPr wrap="square" lIns="0" tIns="0" rIns="0" bIns="0" rtlCol="0" anchor="t"/>
          <a:lstStyle/>
          <a:p>
            <a:pPr indent="0" marL="0">
              <a:buNone/>
            </a:pPr>
            <a:r>
              <a:rPr lang="en-US" sz="950" dirty="0">
                <a:solidFill>
                  <a:srgbClr val="3F4842"/>
                </a:solidFill>
                <a:latin typeface="Consolas" pitchFamily="34" charset="0"/>
                <a:ea typeface="Consolas" pitchFamily="34" charset="-122"/>
                <a:cs typeface="Consolas" pitchFamily="34" charset="-120"/>
              </a:rPr>
              <a:t>statut</a:t>
            </a:r>
            <a:endParaRPr lang="en-US" sz="950" dirty="0"/>
          </a:p>
        </p:txBody>
      </p:sp>
      <p:sp>
        <p:nvSpPr>
          <p:cNvPr id="75" name="Text 72"/>
          <p:cNvSpPr txBox="1"/>
          <p:nvPr/>
        </p:nvSpPr>
        <p:spPr>
          <a:xfrm>
            <a:off x="8869680" y="5239512"/>
            <a:ext cx="2359152" cy="210312"/>
          </a:xfrm>
          <a:prstGeom prst="rect">
            <a:avLst/>
          </a:prstGeom>
          <a:noFill/>
          <a:ln/>
        </p:spPr>
        <p:txBody>
          <a:bodyPr wrap="square" lIns="0" tIns="0" rIns="0" bIns="0" rtlCol="0" anchor="t"/>
          <a:lstStyle/>
          <a:p>
            <a:pPr indent="0" marL="0">
              <a:buNone/>
            </a:pPr>
            <a:r>
              <a:rPr lang="en-US" sz="950" dirty="0">
                <a:solidFill>
                  <a:srgbClr val="3F4842"/>
                </a:solidFill>
                <a:latin typeface="Consolas" pitchFamily="34" charset="0"/>
                <a:ea typeface="Consolas" pitchFamily="34" charset="-122"/>
                <a:cs typeface="Consolas" pitchFamily="34" charset="-120"/>
              </a:rPr>
              <a:t>valide_depart_par / le</a:t>
            </a:r>
            <a:endParaRPr lang="en-US" sz="950" dirty="0"/>
          </a:p>
        </p:txBody>
      </p:sp>
      <p:sp>
        <p:nvSpPr>
          <p:cNvPr id="76" name="Text 73"/>
          <p:cNvSpPr txBox="1"/>
          <p:nvPr/>
        </p:nvSpPr>
        <p:spPr>
          <a:xfrm>
            <a:off x="8869680" y="5454396"/>
            <a:ext cx="2359152" cy="210312"/>
          </a:xfrm>
          <a:prstGeom prst="rect">
            <a:avLst/>
          </a:prstGeom>
          <a:noFill/>
          <a:ln/>
        </p:spPr>
        <p:txBody>
          <a:bodyPr wrap="square" lIns="0" tIns="0" rIns="0" bIns="0" rtlCol="0" anchor="t"/>
          <a:lstStyle/>
          <a:p>
            <a:pPr indent="0" marL="0">
              <a:buNone/>
            </a:pPr>
            <a:r>
              <a:rPr lang="en-US" sz="950" dirty="0">
                <a:solidFill>
                  <a:srgbClr val="3F4842"/>
                </a:solidFill>
                <a:latin typeface="Consolas" pitchFamily="34" charset="0"/>
                <a:ea typeface="Consolas" pitchFamily="34" charset="-122"/>
                <a:cs typeface="Consolas" pitchFamily="34" charset="-120"/>
              </a:rPr>
              <a:t>valide_arrivee_par / le</a:t>
            </a:r>
            <a:endParaRPr lang="en-US" sz="950" dirty="0"/>
          </a:p>
        </p:txBody>
      </p:sp>
      <p:sp>
        <p:nvSpPr>
          <p:cNvPr id="77" name="Shape 74"/>
          <p:cNvSpPr/>
          <p:nvPr/>
        </p:nvSpPr>
        <p:spPr>
          <a:xfrm>
            <a:off x="3154680" y="2286000"/>
            <a:ext cx="1005840" cy="493776"/>
          </a:xfrm>
          <a:prstGeom prst="line">
            <a:avLst/>
          </a:prstGeom>
          <a:noFill/>
          <a:ln w="15875">
            <a:solidFill>
              <a:srgbClr val="1F4A3A"/>
            </a:solidFill>
            <a:prstDash val="solid"/>
          </a:ln>
        </p:spPr>
      </p:sp>
      <p:sp>
        <p:nvSpPr>
          <p:cNvPr id="78" name="Text 75"/>
          <p:cNvSpPr txBox="1"/>
          <p:nvPr/>
        </p:nvSpPr>
        <p:spPr>
          <a:xfrm>
            <a:off x="3310128" y="2304288"/>
            <a:ext cx="457200" cy="182880"/>
          </a:xfrm>
          <a:prstGeom prst="rect">
            <a:avLst/>
          </a:prstGeom>
          <a:noFill/>
          <a:ln/>
        </p:spPr>
        <p:txBody>
          <a:bodyPr wrap="square" lIns="0" tIns="0" rIns="0" bIns="0" rtlCol="0" anchor="t"/>
          <a:lstStyle/>
          <a:p>
            <a:pPr algn="ctr" indent="0" marL="0">
              <a:buNone/>
            </a:pPr>
            <a:r>
              <a:rPr lang="en-US" sz="850" dirty="0">
                <a:solidFill>
                  <a:srgbClr val="1F4A3A"/>
                </a:solidFill>
                <a:latin typeface="Consolas" pitchFamily="34" charset="0"/>
                <a:ea typeface="Consolas" pitchFamily="34" charset="-122"/>
                <a:cs typeface="Consolas" pitchFamily="34" charset="-120"/>
              </a:rPr>
              <a:t>1 — n</a:t>
            </a:r>
            <a:endParaRPr lang="en-US" sz="850" dirty="0"/>
          </a:p>
        </p:txBody>
      </p:sp>
      <p:sp>
        <p:nvSpPr>
          <p:cNvPr id="79" name="Shape 76"/>
          <p:cNvSpPr/>
          <p:nvPr/>
        </p:nvSpPr>
        <p:spPr>
          <a:xfrm flipV="1">
            <a:off x="3154680" y="3566160"/>
            <a:ext cx="1005840" cy="274320"/>
          </a:xfrm>
          <a:prstGeom prst="line">
            <a:avLst/>
          </a:prstGeom>
          <a:noFill/>
          <a:ln w="15875">
            <a:solidFill>
              <a:srgbClr val="1F4A3A"/>
            </a:solidFill>
            <a:prstDash val="solid"/>
          </a:ln>
        </p:spPr>
      </p:sp>
      <p:sp>
        <p:nvSpPr>
          <p:cNvPr id="80" name="Text 77"/>
          <p:cNvSpPr txBox="1"/>
          <p:nvPr/>
        </p:nvSpPr>
        <p:spPr>
          <a:xfrm>
            <a:off x="3310128" y="3456432"/>
            <a:ext cx="457200" cy="182880"/>
          </a:xfrm>
          <a:prstGeom prst="rect">
            <a:avLst/>
          </a:prstGeom>
          <a:noFill/>
          <a:ln/>
        </p:spPr>
        <p:txBody>
          <a:bodyPr wrap="square" lIns="0" tIns="0" rIns="0" bIns="0" rtlCol="0" anchor="t"/>
          <a:lstStyle/>
          <a:p>
            <a:pPr algn="ctr" indent="0" marL="0">
              <a:buNone/>
            </a:pPr>
            <a:r>
              <a:rPr lang="en-US" sz="850" dirty="0">
                <a:solidFill>
                  <a:srgbClr val="1F4A3A"/>
                </a:solidFill>
                <a:latin typeface="Consolas" pitchFamily="34" charset="0"/>
                <a:ea typeface="Consolas" pitchFamily="34" charset="-122"/>
                <a:cs typeface="Consolas" pitchFamily="34" charset="-120"/>
              </a:rPr>
              <a:t>1 — n</a:t>
            </a:r>
            <a:endParaRPr lang="en-US" sz="850" dirty="0"/>
          </a:p>
        </p:txBody>
      </p:sp>
      <p:sp>
        <p:nvSpPr>
          <p:cNvPr id="81" name="Shape 78"/>
          <p:cNvSpPr/>
          <p:nvPr/>
        </p:nvSpPr>
        <p:spPr>
          <a:xfrm>
            <a:off x="7223760" y="2651760"/>
            <a:ext cx="1508760" cy="914"/>
          </a:xfrm>
          <a:prstGeom prst="line">
            <a:avLst/>
          </a:prstGeom>
          <a:noFill/>
          <a:ln w="15875">
            <a:solidFill>
              <a:srgbClr val="1F4A3A"/>
            </a:solidFill>
            <a:prstDash val="solid"/>
          </a:ln>
        </p:spPr>
      </p:sp>
      <p:sp>
        <p:nvSpPr>
          <p:cNvPr id="82" name="Text 79"/>
          <p:cNvSpPr txBox="1"/>
          <p:nvPr/>
        </p:nvSpPr>
        <p:spPr>
          <a:xfrm>
            <a:off x="7754112" y="2432304"/>
            <a:ext cx="457200" cy="182880"/>
          </a:xfrm>
          <a:prstGeom prst="rect">
            <a:avLst/>
          </a:prstGeom>
          <a:noFill/>
          <a:ln/>
        </p:spPr>
        <p:txBody>
          <a:bodyPr wrap="square" lIns="0" tIns="0" rIns="0" bIns="0" rtlCol="0" anchor="t"/>
          <a:lstStyle/>
          <a:p>
            <a:pPr algn="ctr" indent="0" marL="0">
              <a:buNone/>
            </a:pPr>
            <a:r>
              <a:rPr lang="en-US" sz="850" dirty="0">
                <a:solidFill>
                  <a:srgbClr val="1F4A3A"/>
                </a:solidFill>
                <a:latin typeface="Consolas" pitchFamily="34" charset="0"/>
                <a:ea typeface="Consolas" pitchFamily="34" charset="-122"/>
                <a:cs typeface="Consolas" pitchFamily="34" charset="-120"/>
              </a:rPr>
              <a:t>1 — n</a:t>
            </a:r>
            <a:endParaRPr lang="en-US" sz="850" dirty="0"/>
          </a:p>
        </p:txBody>
      </p:sp>
      <p:sp>
        <p:nvSpPr>
          <p:cNvPr id="83" name="Shape 80"/>
          <p:cNvSpPr/>
          <p:nvPr/>
        </p:nvSpPr>
        <p:spPr>
          <a:xfrm>
            <a:off x="7223760" y="3200400"/>
            <a:ext cx="1508760" cy="1371600"/>
          </a:xfrm>
          <a:prstGeom prst="line">
            <a:avLst/>
          </a:prstGeom>
          <a:noFill/>
          <a:ln w="15875">
            <a:solidFill>
              <a:srgbClr val="1F4A3A"/>
            </a:solidFill>
            <a:prstDash val="solid"/>
          </a:ln>
        </p:spPr>
      </p:sp>
      <p:sp>
        <p:nvSpPr>
          <p:cNvPr id="84" name="Text 81"/>
          <p:cNvSpPr txBox="1"/>
          <p:nvPr/>
        </p:nvSpPr>
        <p:spPr>
          <a:xfrm>
            <a:off x="7589520" y="3703320"/>
            <a:ext cx="457200" cy="182880"/>
          </a:xfrm>
          <a:prstGeom prst="rect">
            <a:avLst/>
          </a:prstGeom>
          <a:noFill/>
          <a:ln/>
        </p:spPr>
        <p:txBody>
          <a:bodyPr wrap="square" lIns="0" tIns="0" rIns="0" bIns="0" rtlCol="0" anchor="t"/>
          <a:lstStyle/>
          <a:p>
            <a:pPr algn="ctr" indent="0" marL="0">
              <a:buNone/>
            </a:pPr>
            <a:r>
              <a:rPr lang="en-US" sz="850" dirty="0">
                <a:solidFill>
                  <a:srgbClr val="1F4A3A"/>
                </a:solidFill>
                <a:latin typeface="Consolas" pitchFamily="34" charset="0"/>
                <a:ea typeface="Consolas" pitchFamily="34" charset="-122"/>
                <a:cs typeface="Consolas" pitchFamily="34" charset="-120"/>
              </a:rPr>
              <a:t>1 — n</a:t>
            </a:r>
            <a:endParaRPr lang="en-US" sz="850" dirty="0"/>
          </a:p>
        </p:txBody>
      </p:sp>
      <p:sp>
        <p:nvSpPr>
          <p:cNvPr id="85" name="Shape 82"/>
          <p:cNvSpPr/>
          <p:nvPr/>
        </p:nvSpPr>
        <p:spPr>
          <a:xfrm>
            <a:off x="1828800" y="4645152"/>
            <a:ext cx="914" cy="274320"/>
          </a:xfrm>
          <a:prstGeom prst="line">
            <a:avLst/>
          </a:prstGeom>
          <a:noFill/>
          <a:ln w="15875">
            <a:solidFill>
              <a:srgbClr val="1F4A3A"/>
            </a:solidFill>
            <a:prstDash val="solid"/>
          </a:ln>
        </p:spPr>
      </p:sp>
      <p:sp>
        <p:nvSpPr>
          <p:cNvPr id="86" name="Text 83"/>
          <p:cNvSpPr txBox="1"/>
          <p:nvPr/>
        </p:nvSpPr>
        <p:spPr>
          <a:xfrm>
            <a:off x="1920240" y="4690872"/>
            <a:ext cx="457200" cy="182880"/>
          </a:xfrm>
          <a:prstGeom prst="rect">
            <a:avLst/>
          </a:prstGeom>
          <a:noFill/>
          <a:ln/>
        </p:spPr>
        <p:txBody>
          <a:bodyPr wrap="square" lIns="0" tIns="0" rIns="0" bIns="0" rtlCol="0" anchor="t"/>
          <a:lstStyle/>
          <a:p>
            <a:pPr algn="ctr" indent="0" marL="0">
              <a:buNone/>
            </a:pPr>
            <a:r>
              <a:rPr lang="en-US" sz="850" dirty="0">
                <a:solidFill>
                  <a:srgbClr val="1F4A3A"/>
                </a:solidFill>
                <a:latin typeface="Consolas" pitchFamily="34" charset="0"/>
                <a:ea typeface="Consolas" pitchFamily="34" charset="-122"/>
                <a:cs typeface="Consolas" pitchFamily="34" charset="-120"/>
              </a:rPr>
              <a:t>1 — n</a:t>
            </a:r>
            <a:endParaRPr lang="en-US" sz="850" dirty="0"/>
          </a:p>
        </p:txBody>
      </p:sp>
      <p:sp>
        <p:nvSpPr>
          <p:cNvPr id="87" name="Shape 84"/>
          <p:cNvSpPr/>
          <p:nvPr/>
        </p:nvSpPr>
        <p:spPr>
          <a:xfrm>
            <a:off x="4160520" y="4507992"/>
            <a:ext cx="3063240" cy="1097280"/>
          </a:xfrm>
          <a:prstGeom prst="rect">
            <a:avLst/>
          </a:prstGeom>
          <a:solidFill>
            <a:srgbClr val="FFFDF7"/>
          </a:solidFill>
          <a:ln w="9525">
            <a:solidFill>
              <a:srgbClr val="DCD5C6"/>
            </a:solidFill>
            <a:prstDash val="solid"/>
          </a:ln>
          <a:effectLst>
            <a:outerShdw sx="100000" sy="100000" kx="0" ky="0" algn="bl" rotWithShape="0" blurRad="76200" dist="19050" dir="5400000">
              <a:srgbClr val="1A2E25">
                <a:alpha val="8000"/>
              </a:srgbClr>
            </a:outerShdw>
          </a:effectLst>
        </p:spPr>
      </p:sp>
      <p:sp>
        <p:nvSpPr>
          <p:cNvPr id="88" name="Text 85"/>
          <p:cNvSpPr txBox="1"/>
          <p:nvPr/>
        </p:nvSpPr>
        <p:spPr>
          <a:xfrm>
            <a:off x="4343400" y="4617720"/>
            <a:ext cx="2743200" cy="1097280"/>
          </a:xfrm>
          <a:prstGeom prst="rect">
            <a:avLst/>
          </a:prstGeom>
          <a:noFill/>
          <a:ln/>
        </p:spPr>
        <p:txBody>
          <a:bodyPr wrap="square" lIns="0" tIns="0" rIns="0" bIns="0" rtlCol="0" anchor="t"/>
          <a:lstStyle/>
          <a:p>
            <a:pPr indent="0" marL="0">
              <a:spcAft>
                <a:spcPts val="400"/>
              </a:spcAft>
              <a:buNone/>
            </a:pPr>
            <a:r>
              <a:rPr lang="en-US" sz="950" b="1" dirty="0">
                <a:solidFill>
                  <a:srgbClr val="B23A2A"/>
                </a:solidFill>
                <a:latin typeface="Consolas" pitchFamily="34" charset="0"/>
                <a:ea typeface="Consolas" pitchFamily="34" charset="-122"/>
                <a:cs typeface="Consolas" pitchFamily="34" charset="-120"/>
              </a:rPr>
              <a:t>RESTRICT</a:t>
            </a:r>
            <a:pPr indent="0" marL="0">
              <a:spcAft>
                <a:spcPts val="400"/>
              </a:spcAft>
              <a:buNone/>
            </a:pPr>
            <a:r>
              <a:rPr lang="en-US" sz="1050" dirty="0">
                <a:solidFill>
                  <a:srgbClr val="3F4842"/>
                </a:solidFill>
                <a:latin typeface="Calibri" pitchFamily="34" charset="0"/>
                <a:ea typeface="Calibri" pitchFamily="34" charset="-122"/>
                <a:cs typeface="Calibri" pitchFamily="34" charset="-120"/>
              </a:rPr>
              <a:t>  direction non supprimable si du matériel y est affecté</a:t>
            </a:r>
            <a:endParaRPr lang="en-US" sz="1050" dirty="0"/>
          </a:p>
          <a:p>
            <a:pPr indent="0" marL="0">
              <a:spcAft>
                <a:spcPts val="400"/>
              </a:spcAft>
              <a:buNone/>
            </a:pPr>
            <a:r>
              <a:rPr lang="en-US" sz="950" b="1" dirty="0">
                <a:solidFill>
                  <a:srgbClr val="1F4A3A"/>
                </a:solidFill>
                <a:latin typeface="Consolas" pitchFamily="34" charset="0"/>
                <a:ea typeface="Consolas" pitchFamily="34" charset="-122"/>
                <a:cs typeface="Consolas" pitchFamily="34" charset="-120"/>
              </a:rPr>
              <a:t>CASCADE</a:t>
            </a:r>
            <a:pPr indent="0" marL="0">
              <a:spcAft>
                <a:spcPts val="400"/>
              </a:spcAft>
              <a:buNone/>
            </a:pPr>
            <a:r>
              <a:rPr lang="en-US" sz="1050" dirty="0">
                <a:solidFill>
                  <a:srgbClr val="3F4842"/>
                </a:solidFill>
                <a:latin typeface="Calibri" pitchFamily="34" charset="0"/>
                <a:ea typeface="Calibri" pitchFamily="34" charset="-122"/>
                <a:cs typeface="Calibri" pitchFamily="34" charset="-120"/>
              </a:rPr>
              <a:t>  l'historique suit le matériel</a:t>
            </a:r>
            <a:endParaRPr lang="en-US" sz="1050" dirty="0"/>
          </a:p>
          <a:p>
            <a:pPr indent="0" marL="0">
              <a:spcAft>
                <a:spcPts val="400"/>
              </a:spcAft>
              <a:buNone/>
            </a:pPr>
            <a:r>
              <a:rPr lang="en-US" sz="950" b="1" dirty="0">
                <a:solidFill>
                  <a:srgbClr val="B27416"/>
                </a:solidFill>
                <a:latin typeface="Consolas" pitchFamily="34" charset="0"/>
                <a:ea typeface="Consolas" pitchFamily="34" charset="-122"/>
                <a:cs typeface="Consolas" pitchFamily="34" charset="-120"/>
              </a:rPr>
              <a:t>UNIQUE</a:t>
            </a:r>
            <a:pPr indent="0" marL="0">
              <a:spcAft>
                <a:spcPts val="400"/>
              </a:spcAft>
              <a:buNone/>
            </a:pPr>
            <a:r>
              <a:rPr lang="en-US" sz="1050" dirty="0">
                <a:solidFill>
                  <a:srgbClr val="3F4842"/>
                </a:solidFill>
                <a:latin typeface="Calibri" pitchFamily="34" charset="0"/>
                <a:ea typeface="Calibri" pitchFamily="34" charset="-122"/>
                <a:cs typeface="Calibri" pitchFamily="34" charset="-120"/>
              </a:rPr>
              <a:t>  un numéro d'inventaire, un seul matériel</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EFE6"/>
        </a:solidFill>
      </p:bgPr>
    </p:bg>
    <p:spTree>
      <p:nvGrpSpPr>
        <p:cNvPr id="1" name=""/>
        <p:cNvGrpSpPr/>
        <p:nvPr/>
      </p:nvGrpSpPr>
      <p:grpSpPr>
        <a:xfrm>
          <a:off x="0" y="0"/>
          <a:ext cx="0" cy="0"/>
          <a:chOff x="0" y="0"/>
          <a:chExt cx="0" cy="0"/>
        </a:xfrm>
      </p:grpSpPr>
      <p:sp>
        <p:nvSpPr>
          <p:cNvPr id="2" name="Shape 0"/>
          <p:cNvSpPr/>
          <p:nvPr/>
        </p:nvSpPr>
        <p:spPr>
          <a:xfrm>
            <a:off x="548640" y="384048"/>
            <a:ext cx="1938528" cy="274320"/>
          </a:xfrm>
          <a:prstGeom prst="roundRect">
            <a:avLst>
              <a:gd name="adj" fmla="val 16667"/>
            </a:avLst>
          </a:prstGeom>
          <a:solidFill>
            <a:srgbClr val="FFFDF7"/>
          </a:solidFill>
          <a:ln w="9525">
            <a:solidFill>
              <a:srgbClr val="CBC2AD"/>
            </a:solidFill>
            <a:prstDash val="solid"/>
          </a:ln>
        </p:spPr>
      </p:sp>
      <p:sp>
        <p:nvSpPr>
          <p:cNvPr id="3" name="Shape 1"/>
          <p:cNvSpPr/>
          <p:nvPr/>
        </p:nvSpPr>
        <p:spPr>
          <a:xfrm>
            <a:off x="640080" y="489204"/>
            <a:ext cx="64008" cy="64008"/>
          </a:xfrm>
          <a:prstGeom prst="ellipse">
            <a:avLst/>
          </a:prstGeom>
          <a:solidFill>
            <a:srgbClr val="F3EFE6"/>
          </a:solidFill>
          <a:ln w="9525">
            <a:solidFill>
              <a:srgbClr val="CBC2AD"/>
            </a:solidFill>
            <a:prstDash val="solid"/>
          </a:ln>
        </p:spPr>
      </p:sp>
      <p:sp>
        <p:nvSpPr>
          <p:cNvPr id="4" name="Text 2"/>
          <p:cNvSpPr txBox="1"/>
          <p:nvPr/>
        </p:nvSpPr>
        <p:spPr>
          <a:xfrm>
            <a:off x="768096" y="384048"/>
            <a:ext cx="1700784" cy="274320"/>
          </a:xfrm>
          <a:prstGeom prst="rect">
            <a:avLst/>
          </a:prstGeom>
          <a:noFill/>
          <a:ln/>
        </p:spPr>
        <p:txBody>
          <a:bodyPr wrap="none" lIns="0" tIns="0" rIns="0" bIns="0" rtlCol="0" anchor="ctr"/>
          <a:lstStyle/>
          <a:p>
            <a:pPr indent="0" marL="0">
              <a:buNone/>
            </a:pPr>
            <a:r>
              <a:rPr lang="en-US" sz="1000" spc="100" kern="0" dirty="0">
                <a:solidFill>
                  <a:srgbClr val="17211C"/>
                </a:solidFill>
                <a:latin typeface="Consolas" pitchFamily="34" charset="0"/>
                <a:ea typeface="Consolas" pitchFamily="34" charset="-122"/>
                <a:cs typeface="Consolas" pitchFamily="34" charset="-120"/>
              </a:rPr>
              <a:t>06 · ORGANISATION</a:t>
            </a:r>
            <a:endParaRPr lang="en-US" sz="1000" dirty="0"/>
          </a:p>
        </p:txBody>
      </p:sp>
      <p:sp>
        <p:nvSpPr>
          <p:cNvPr id="5" name="Text 3"/>
          <p:cNvSpPr txBox="1"/>
          <p:nvPr/>
        </p:nvSpPr>
        <p:spPr>
          <a:xfrm>
            <a:off x="548640" y="786384"/>
            <a:ext cx="11094415" cy="731520"/>
          </a:xfrm>
          <a:prstGeom prst="rect">
            <a:avLst/>
          </a:prstGeom>
          <a:noFill/>
          <a:ln/>
        </p:spPr>
        <p:txBody>
          <a:bodyPr wrap="square" lIns="0" tIns="0" rIns="0" bIns="0" rtlCol="0" anchor="ctr"/>
          <a:lstStyle/>
          <a:p>
            <a:pPr indent="0" marL="0">
              <a:buNone/>
            </a:pPr>
            <a:r>
              <a:rPr lang="en-US" sz="3200" dirty="0">
                <a:solidFill>
                  <a:srgbClr val="17211C"/>
                </a:solidFill>
                <a:latin typeface="Georgia" pitchFamily="34" charset="0"/>
                <a:ea typeface="Georgia" pitchFamily="34" charset="-122"/>
                <a:cs typeface="Georgia" pitchFamily="34" charset="-120"/>
              </a:rPr>
              <a:t>Comment une page est construite</a:t>
            </a:r>
            <a:endParaRPr lang="en-US" sz="3200" dirty="0"/>
          </a:p>
        </p:txBody>
      </p:sp>
      <p:sp>
        <p:nvSpPr>
          <p:cNvPr id="7" name="Text 4"/>
          <p:cNvSpPr txBox="1"/>
          <p:nvPr/>
        </p:nvSpPr>
        <p:spPr>
          <a:xfrm>
            <a:off x="10545775" y="6473952"/>
            <a:ext cx="1097280" cy="228600"/>
          </a:xfrm>
          <a:prstGeom prst="rect">
            <a:avLst/>
          </a:prstGeom>
          <a:noFill/>
          <a:ln/>
        </p:spPr>
        <p:txBody>
          <a:bodyPr wrap="square" lIns="0" tIns="0" rIns="0" bIns="0" rtlCol="0" anchor="t"/>
          <a:lstStyle/>
          <a:p>
            <a:pPr algn="r" indent="0" marL="0">
              <a:buNone/>
            </a:pPr>
            <a:r>
              <a:rPr lang="en-US" sz="900" dirty="0">
                <a:solidFill>
                  <a:srgbClr val="767A71"/>
                </a:solidFill>
                <a:latin typeface="Consolas" pitchFamily="34" charset="0"/>
                <a:ea typeface="Consolas" pitchFamily="34" charset="-122"/>
                <a:cs typeface="Consolas" pitchFamily="34" charset="-120"/>
              </a:rPr>
              <a:t>07 / 17</a:t>
            </a:r>
            <a:endParaRPr lang="en-US" sz="900" dirty="0"/>
          </a:p>
        </p:txBody>
      </p:sp>
      <p:sp>
        <p:nvSpPr>
          <p:cNvPr id="8" name="Text 5"/>
          <p:cNvSpPr txBox="1"/>
          <p:nvPr/>
        </p:nvSpPr>
        <p:spPr>
          <a:xfrm>
            <a:off x="548640" y="6473952"/>
            <a:ext cx="1828800" cy="228600"/>
          </a:xfrm>
          <a:prstGeom prst="rect">
            <a:avLst/>
          </a:prstGeom>
          <a:noFill/>
          <a:ln/>
        </p:spPr>
        <p:txBody>
          <a:bodyPr wrap="square" lIns="0" tIns="0" rIns="0" bIns="0" rtlCol="0" anchor="t"/>
          <a:lstStyle/>
          <a:p>
            <a:pPr indent="0" marL="0">
              <a:buNone/>
            </a:pPr>
            <a:r>
              <a:rPr lang="en-US" sz="1000" i="1" dirty="0">
                <a:solidFill>
                  <a:srgbClr val="767A71"/>
                </a:solidFill>
                <a:latin typeface="Georgia" pitchFamily="34" charset="0"/>
                <a:ea typeface="Georgia" pitchFamily="34" charset="-122"/>
                <a:cs typeface="Georgia" pitchFamily="34" charset="-120"/>
              </a:rPr>
              <a:t>Patrimo</a:t>
            </a:r>
            <a:endParaRPr lang="en-US" sz="1000" dirty="0"/>
          </a:p>
        </p:txBody>
      </p:sp>
      <p:sp>
        <p:nvSpPr>
          <p:cNvPr id="9" name="Shape 6"/>
          <p:cNvSpPr/>
          <p:nvPr/>
        </p:nvSpPr>
        <p:spPr>
          <a:xfrm>
            <a:off x="548640" y="1645920"/>
            <a:ext cx="3931920" cy="4434840"/>
          </a:xfrm>
          <a:prstGeom prst="rect">
            <a:avLst/>
          </a:prstGeom>
          <a:solidFill>
            <a:srgbClr val="FFFDF7"/>
          </a:solidFill>
          <a:ln w="9525">
            <a:solidFill>
              <a:srgbClr val="DCD5C6"/>
            </a:solidFill>
            <a:prstDash val="solid"/>
          </a:ln>
          <a:effectLst>
            <a:outerShdw sx="100000" sy="100000" kx="0" ky="0" algn="bl" rotWithShape="0" blurRad="76200" dist="19050" dir="5400000">
              <a:srgbClr val="1A2E25">
                <a:alpha val="8000"/>
              </a:srgbClr>
            </a:outerShdw>
          </a:effectLst>
        </p:spPr>
      </p:sp>
      <p:sp>
        <p:nvSpPr>
          <p:cNvPr id="10" name="Text 7"/>
          <p:cNvSpPr txBox="1"/>
          <p:nvPr/>
        </p:nvSpPr>
        <p:spPr>
          <a:xfrm>
            <a:off x="822960" y="1847088"/>
            <a:ext cx="2926080" cy="246888"/>
          </a:xfrm>
          <a:prstGeom prst="rect">
            <a:avLst/>
          </a:prstGeom>
          <a:noFill/>
          <a:ln/>
        </p:spPr>
        <p:txBody>
          <a:bodyPr wrap="square" lIns="0" tIns="0" rIns="0" bIns="0" rtlCol="0" anchor="t"/>
          <a:lstStyle/>
          <a:p>
            <a:pPr indent="0" marL="0">
              <a:buNone/>
            </a:pPr>
            <a:r>
              <a:rPr lang="en-US" sz="1000" b="1" dirty="0">
                <a:solidFill>
                  <a:srgbClr val="1F4A3A"/>
                </a:solidFill>
                <a:latin typeface="Consolas" pitchFamily="34" charset="0"/>
                <a:ea typeface="Consolas" pitchFamily="34" charset="-122"/>
                <a:cs typeface="Consolas" pitchFamily="34" charset="-120"/>
              </a:rPr>
              <a:t>patrimo/</a:t>
            </a:r>
            <a:endParaRPr lang="en-US" sz="1000" dirty="0"/>
          </a:p>
        </p:txBody>
      </p:sp>
      <p:sp>
        <p:nvSpPr>
          <p:cNvPr id="11" name="Text 8"/>
          <p:cNvSpPr txBox="1"/>
          <p:nvPr/>
        </p:nvSpPr>
        <p:spPr>
          <a:xfrm>
            <a:off x="822960" y="2112264"/>
            <a:ext cx="2926080" cy="246888"/>
          </a:xfrm>
          <a:prstGeom prst="rect">
            <a:avLst/>
          </a:prstGeom>
          <a:noFill/>
          <a:ln/>
        </p:spPr>
        <p:txBody>
          <a:bodyPr wrap="square" lIns="0" tIns="0" rIns="0" bIns="0" rtlCol="0" anchor="t"/>
          <a:lstStyle/>
          <a:p>
            <a:pPr indent="0" marL="0">
              <a:buNone/>
            </a:pPr>
            <a:r>
              <a:rPr lang="en-US" sz="1000" dirty="0">
                <a:solidFill>
                  <a:srgbClr val="17211C"/>
                </a:solidFill>
                <a:latin typeface="Consolas" pitchFamily="34" charset="0"/>
                <a:ea typeface="Consolas" pitchFamily="34" charset="-122"/>
                <a:cs typeface="Consolas" pitchFamily="34" charset="-120"/>
              </a:rPr>
              <a:t>├─ index.php</a:t>
            </a:r>
            <a:endParaRPr lang="en-US" sz="1000" dirty="0"/>
          </a:p>
        </p:txBody>
      </p:sp>
      <p:sp>
        <p:nvSpPr>
          <p:cNvPr id="12" name="Text 9"/>
          <p:cNvSpPr txBox="1"/>
          <p:nvPr/>
        </p:nvSpPr>
        <p:spPr>
          <a:xfrm>
            <a:off x="2880360" y="2112264"/>
            <a:ext cx="1463040" cy="246888"/>
          </a:xfrm>
          <a:prstGeom prst="rect">
            <a:avLst/>
          </a:prstGeom>
          <a:noFill/>
          <a:ln/>
        </p:spPr>
        <p:txBody>
          <a:bodyPr wrap="square" lIns="0" tIns="0" rIns="0" bIns="0" rtlCol="0" anchor="t"/>
          <a:lstStyle/>
          <a:p>
            <a:pPr algn="r" indent="0" marL="0">
              <a:buNone/>
            </a:pPr>
            <a:r>
              <a:rPr lang="en-US" sz="950" i="1" dirty="0">
                <a:solidFill>
                  <a:srgbClr val="767A71"/>
                </a:solidFill>
                <a:latin typeface="Calibri" pitchFamily="34" charset="0"/>
                <a:ea typeface="Calibri" pitchFamily="34" charset="-122"/>
                <a:cs typeface="Calibri" pitchFamily="34" charset="-120"/>
              </a:rPr>
              <a:t>tableau de bord</a:t>
            </a:r>
            <a:endParaRPr lang="en-US" sz="950" dirty="0"/>
          </a:p>
        </p:txBody>
      </p:sp>
      <p:sp>
        <p:nvSpPr>
          <p:cNvPr id="13" name="Text 10"/>
          <p:cNvSpPr txBox="1"/>
          <p:nvPr/>
        </p:nvSpPr>
        <p:spPr>
          <a:xfrm>
            <a:off x="822960" y="2377440"/>
            <a:ext cx="2926080" cy="246888"/>
          </a:xfrm>
          <a:prstGeom prst="rect">
            <a:avLst/>
          </a:prstGeom>
          <a:noFill/>
          <a:ln/>
        </p:spPr>
        <p:txBody>
          <a:bodyPr wrap="square" lIns="0" tIns="0" rIns="0" bIns="0" rtlCol="0" anchor="t"/>
          <a:lstStyle/>
          <a:p>
            <a:pPr indent="0" marL="0">
              <a:buNone/>
            </a:pPr>
            <a:r>
              <a:rPr lang="en-US" sz="1000" dirty="0">
                <a:solidFill>
                  <a:srgbClr val="17211C"/>
                </a:solidFill>
                <a:latin typeface="Consolas" pitchFamily="34" charset="0"/>
                <a:ea typeface="Consolas" pitchFamily="34" charset="-122"/>
                <a:cs typeface="Consolas" pitchFamily="34" charset="-120"/>
              </a:rPr>
              <a:t>├─ materiels.php</a:t>
            </a:r>
            <a:endParaRPr lang="en-US" sz="1000" dirty="0"/>
          </a:p>
        </p:txBody>
      </p:sp>
      <p:sp>
        <p:nvSpPr>
          <p:cNvPr id="14" name="Text 11"/>
          <p:cNvSpPr txBox="1"/>
          <p:nvPr/>
        </p:nvSpPr>
        <p:spPr>
          <a:xfrm>
            <a:off x="2880360" y="2377440"/>
            <a:ext cx="1463040" cy="246888"/>
          </a:xfrm>
          <a:prstGeom prst="rect">
            <a:avLst/>
          </a:prstGeom>
          <a:noFill/>
          <a:ln/>
        </p:spPr>
        <p:txBody>
          <a:bodyPr wrap="square" lIns="0" tIns="0" rIns="0" bIns="0" rtlCol="0" anchor="t"/>
          <a:lstStyle/>
          <a:p>
            <a:pPr algn="r" indent="0" marL="0">
              <a:buNone/>
            </a:pPr>
            <a:r>
              <a:rPr lang="en-US" sz="950" i="1" dirty="0">
                <a:solidFill>
                  <a:srgbClr val="767A71"/>
                </a:solidFill>
                <a:latin typeface="Calibri" pitchFamily="34" charset="0"/>
                <a:ea typeface="Calibri" pitchFamily="34" charset="-122"/>
                <a:cs typeface="Calibri" pitchFamily="34" charset="-120"/>
              </a:rPr>
              <a:t>liste + recherche</a:t>
            </a:r>
            <a:endParaRPr lang="en-US" sz="950" dirty="0"/>
          </a:p>
        </p:txBody>
      </p:sp>
      <p:sp>
        <p:nvSpPr>
          <p:cNvPr id="15" name="Text 12"/>
          <p:cNvSpPr txBox="1"/>
          <p:nvPr/>
        </p:nvSpPr>
        <p:spPr>
          <a:xfrm>
            <a:off x="822960" y="2642616"/>
            <a:ext cx="2926080" cy="246888"/>
          </a:xfrm>
          <a:prstGeom prst="rect">
            <a:avLst/>
          </a:prstGeom>
          <a:noFill/>
          <a:ln/>
        </p:spPr>
        <p:txBody>
          <a:bodyPr wrap="square" lIns="0" tIns="0" rIns="0" bIns="0" rtlCol="0" anchor="t"/>
          <a:lstStyle/>
          <a:p>
            <a:pPr indent="0" marL="0">
              <a:buNone/>
            </a:pPr>
            <a:r>
              <a:rPr lang="en-US" sz="1000" dirty="0">
                <a:solidFill>
                  <a:srgbClr val="17211C"/>
                </a:solidFill>
                <a:latin typeface="Consolas" pitchFamily="34" charset="0"/>
                <a:ea typeface="Consolas" pitchFamily="34" charset="-122"/>
                <a:cs typeface="Consolas" pitchFamily="34" charset="-120"/>
              </a:rPr>
              <a:t>├─ materiel.php</a:t>
            </a:r>
            <a:endParaRPr lang="en-US" sz="1000" dirty="0"/>
          </a:p>
        </p:txBody>
      </p:sp>
      <p:sp>
        <p:nvSpPr>
          <p:cNvPr id="16" name="Text 13"/>
          <p:cNvSpPr txBox="1"/>
          <p:nvPr/>
        </p:nvSpPr>
        <p:spPr>
          <a:xfrm>
            <a:off x="2880360" y="2642616"/>
            <a:ext cx="1463040" cy="246888"/>
          </a:xfrm>
          <a:prstGeom prst="rect">
            <a:avLst/>
          </a:prstGeom>
          <a:noFill/>
          <a:ln/>
        </p:spPr>
        <p:txBody>
          <a:bodyPr wrap="square" lIns="0" tIns="0" rIns="0" bIns="0" rtlCol="0" anchor="t"/>
          <a:lstStyle/>
          <a:p>
            <a:pPr algn="r" indent="0" marL="0">
              <a:buNone/>
            </a:pPr>
            <a:r>
              <a:rPr lang="en-US" sz="950" i="1" dirty="0">
                <a:solidFill>
                  <a:srgbClr val="767A71"/>
                </a:solidFill>
                <a:latin typeface="Calibri" pitchFamily="34" charset="0"/>
                <a:ea typeface="Calibri" pitchFamily="34" charset="-122"/>
                <a:cs typeface="Calibri" pitchFamily="34" charset="-120"/>
              </a:rPr>
              <a:t>fiche + actions</a:t>
            </a:r>
            <a:endParaRPr lang="en-US" sz="950" dirty="0"/>
          </a:p>
        </p:txBody>
      </p:sp>
      <p:sp>
        <p:nvSpPr>
          <p:cNvPr id="17" name="Text 14"/>
          <p:cNvSpPr txBox="1"/>
          <p:nvPr/>
        </p:nvSpPr>
        <p:spPr>
          <a:xfrm>
            <a:off x="822960" y="2907792"/>
            <a:ext cx="2926080" cy="246888"/>
          </a:xfrm>
          <a:prstGeom prst="rect">
            <a:avLst/>
          </a:prstGeom>
          <a:noFill/>
          <a:ln/>
        </p:spPr>
        <p:txBody>
          <a:bodyPr wrap="square" lIns="0" tIns="0" rIns="0" bIns="0" rtlCol="0" anchor="t"/>
          <a:lstStyle/>
          <a:p>
            <a:pPr indent="0" marL="0">
              <a:buNone/>
            </a:pPr>
            <a:r>
              <a:rPr lang="en-US" sz="1000" dirty="0">
                <a:solidFill>
                  <a:srgbClr val="17211C"/>
                </a:solidFill>
                <a:latin typeface="Consolas" pitchFamily="34" charset="0"/>
                <a:ea typeface="Consolas" pitchFamily="34" charset="-122"/>
                <a:cs typeface="Consolas" pitchFamily="34" charset="-120"/>
              </a:rPr>
              <a:t>├─ materiel_form.php</a:t>
            </a:r>
            <a:endParaRPr lang="en-US" sz="1000" dirty="0"/>
          </a:p>
        </p:txBody>
      </p:sp>
      <p:sp>
        <p:nvSpPr>
          <p:cNvPr id="18" name="Text 15"/>
          <p:cNvSpPr txBox="1"/>
          <p:nvPr/>
        </p:nvSpPr>
        <p:spPr>
          <a:xfrm>
            <a:off x="822960" y="3172968"/>
            <a:ext cx="2926080" cy="246888"/>
          </a:xfrm>
          <a:prstGeom prst="rect">
            <a:avLst/>
          </a:prstGeom>
          <a:noFill/>
          <a:ln/>
        </p:spPr>
        <p:txBody>
          <a:bodyPr wrap="square" lIns="0" tIns="0" rIns="0" bIns="0" rtlCol="0" anchor="t"/>
          <a:lstStyle/>
          <a:p>
            <a:pPr indent="0" marL="0">
              <a:buNone/>
            </a:pPr>
            <a:r>
              <a:rPr lang="en-US" sz="1000" dirty="0">
                <a:solidFill>
                  <a:srgbClr val="17211C"/>
                </a:solidFill>
                <a:latin typeface="Consolas" pitchFamily="34" charset="0"/>
                <a:ea typeface="Consolas" pitchFamily="34" charset="-122"/>
                <a:cs typeface="Consolas" pitchFamily="34" charset="-120"/>
              </a:rPr>
              <a:t>├─ transferts.php</a:t>
            </a:r>
            <a:endParaRPr lang="en-US" sz="1000" dirty="0"/>
          </a:p>
        </p:txBody>
      </p:sp>
      <p:sp>
        <p:nvSpPr>
          <p:cNvPr id="19" name="Text 16"/>
          <p:cNvSpPr txBox="1"/>
          <p:nvPr/>
        </p:nvSpPr>
        <p:spPr>
          <a:xfrm>
            <a:off x="822960" y="3438144"/>
            <a:ext cx="2926080" cy="246888"/>
          </a:xfrm>
          <a:prstGeom prst="rect">
            <a:avLst/>
          </a:prstGeom>
          <a:noFill/>
          <a:ln/>
        </p:spPr>
        <p:txBody>
          <a:bodyPr wrap="square" lIns="0" tIns="0" rIns="0" bIns="0" rtlCol="0" anchor="t"/>
          <a:lstStyle/>
          <a:p>
            <a:pPr indent="0" marL="0">
              <a:buNone/>
            </a:pPr>
            <a:r>
              <a:rPr lang="en-US" sz="1000" dirty="0">
                <a:solidFill>
                  <a:srgbClr val="17211C"/>
                </a:solidFill>
                <a:latin typeface="Consolas" pitchFamily="34" charset="0"/>
                <a:ea typeface="Consolas" pitchFamily="34" charset="-122"/>
                <a:cs typeface="Consolas" pitchFamily="34" charset="-120"/>
              </a:rPr>
              <a:t>├─ mouvements.php</a:t>
            </a:r>
            <a:endParaRPr lang="en-US" sz="1000" dirty="0"/>
          </a:p>
        </p:txBody>
      </p:sp>
      <p:sp>
        <p:nvSpPr>
          <p:cNvPr id="20" name="Text 17"/>
          <p:cNvSpPr txBox="1"/>
          <p:nvPr/>
        </p:nvSpPr>
        <p:spPr>
          <a:xfrm>
            <a:off x="2880360" y="3438144"/>
            <a:ext cx="1463040" cy="246888"/>
          </a:xfrm>
          <a:prstGeom prst="rect">
            <a:avLst/>
          </a:prstGeom>
          <a:noFill/>
          <a:ln/>
        </p:spPr>
        <p:txBody>
          <a:bodyPr wrap="square" lIns="0" tIns="0" rIns="0" bIns="0" rtlCol="0" anchor="t"/>
          <a:lstStyle/>
          <a:p>
            <a:pPr algn="r" indent="0" marL="0">
              <a:buNone/>
            </a:pPr>
            <a:r>
              <a:rPr lang="en-US" sz="950" i="1" dirty="0">
                <a:solidFill>
                  <a:srgbClr val="767A71"/>
                </a:solidFill>
                <a:latin typeface="Calibri" pitchFamily="34" charset="0"/>
                <a:ea typeface="Calibri" pitchFamily="34" charset="-122"/>
                <a:cs typeface="Calibri" pitchFamily="34" charset="-120"/>
              </a:rPr>
              <a:t>historique, CSV</a:t>
            </a:r>
            <a:endParaRPr lang="en-US" sz="950" dirty="0"/>
          </a:p>
        </p:txBody>
      </p:sp>
      <p:sp>
        <p:nvSpPr>
          <p:cNvPr id="21" name="Text 18"/>
          <p:cNvSpPr txBox="1"/>
          <p:nvPr/>
        </p:nvSpPr>
        <p:spPr>
          <a:xfrm>
            <a:off x="822960" y="3703320"/>
            <a:ext cx="2926080" cy="246888"/>
          </a:xfrm>
          <a:prstGeom prst="rect">
            <a:avLst/>
          </a:prstGeom>
          <a:noFill/>
          <a:ln/>
        </p:spPr>
        <p:txBody>
          <a:bodyPr wrap="square" lIns="0" tIns="0" rIns="0" bIns="0" rtlCol="0" anchor="t"/>
          <a:lstStyle/>
          <a:p>
            <a:pPr indent="0" marL="0">
              <a:buNone/>
            </a:pPr>
            <a:r>
              <a:rPr lang="en-US" sz="1000" dirty="0">
                <a:solidFill>
                  <a:srgbClr val="17211C"/>
                </a:solidFill>
                <a:latin typeface="Consolas" pitchFamily="34" charset="0"/>
                <a:ea typeface="Consolas" pitchFamily="34" charset="-122"/>
                <a:cs typeface="Consolas" pitchFamily="34" charset="-120"/>
              </a:rPr>
              <a:t>├─ directions.php · categories.php</a:t>
            </a:r>
            <a:endParaRPr lang="en-US" sz="1000" dirty="0"/>
          </a:p>
        </p:txBody>
      </p:sp>
      <p:sp>
        <p:nvSpPr>
          <p:cNvPr id="22" name="Text 19"/>
          <p:cNvSpPr txBox="1"/>
          <p:nvPr/>
        </p:nvSpPr>
        <p:spPr>
          <a:xfrm>
            <a:off x="822960" y="3968496"/>
            <a:ext cx="2926080" cy="246888"/>
          </a:xfrm>
          <a:prstGeom prst="rect">
            <a:avLst/>
          </a:prstGeom>
          <a:noFill/>
          <a:ln/>
        </p:spPr>
        <p:txBody>
          <a:bodyPr wrap="square" lIns="0" tIns="0" rIns="0" bIns="0" rtlCol="0" anchor="t"/>
          <a:lstStyle/>
          <a:p>
            <a:pPr indent="0" marL="0">
              <a:buNone/>
            </a:pPr>
            <a:r>
              <a:rPr lang="en-US" sz="1000" dirty="0">
                <a:solidFill>
                  <a:srgbClr val="17211C"/>
                </a:solidFill>
                <a:latin typeface="Consolas" pitchFamily="34" charset="0"/>
                <a:ea typeface="Consolas" pitchFamily="34" charset="-122"/>
                <a:cs typeface="Consolas" pitchFamily="34" charset="-120"/>
              </a:rPr>
              <a:t>├─ utilisateurs.php · connexion.php</a:t>
            </a:r>
            <a:endParaRPr lang="en-US" sz="1000" dirty="0"/>
          </a:p>
        </p:txBody>
      </p:sp>
      <p:sp>
        <p:nvSpPr>
          <p:cNvPr id="23" name="Text 20"/>
          <p:cNvSpPr txBox="1"/>
          <p:nvPr/>
        </p:nvSpPr>
        <p:spPr>
          <a:xfrm>
            <a:off x="822960" y="4233672"/>
            <a:ext cx="2926080" cy="246888"/>
          </a:xfrm>
          <a:prstGeom prst="rect">
            <a:avLst/>
          </a:prstGeom>
          <a:noFill/>
          <a:ln/>
        </p:spPr>
        <p:txBody>
          <a:bodyPr wrap="square" lIns="0" tIns="0" rIns="0" bIns="0" rtlCol="0" anchor="t"/>
          <a:lstStyle/>
          <a:p>
            <a:pPr indent="0" marL="0">
              <a:buNone/>
            </a:pPr>
            <a:r>
              <a:rPr lang="en-US" sz="1000" b="1" dirty="0">
                <a:solidFill>
                  <a:srgbClr val="1F4A3A"/>
                </a:solidFill>
                <a:latin typeface="Consolas" pitchFamily="34" charset="0"/>
                <a:ea typeface="Consolas" pitchFamily="34" charset="-122"/>
                <a:cs typeface="Consolas" pitchFamily="34" charset="-120"/>
              </a:rPr>
              <a:t>├─ includes/</a:t>
            </a:r>
            <a:endParaRPr lang="en-US" sz="1000" dirty="0"/>
          </a:p>
        </p:txBody>
      </p:sp>
      <p:sp>
        <p:nvSpPr>
          <p:cNvPr id="24" name="Text 21"/>
          <p:cNvSpPr txBox="1"/>
          <p:nvPr/>
        </p:nvSpPr>
        <p:spPr>
          <a:xfrm>
            <a:off x="822960" y="4498848"/>
            <a:ext cx="2926080" cy="246888"/>
          </a:xfrm>
          <a:prstGeom prst="rect">
            <a:avLst/>
          </a:prstGeom>
          <a:noFill/>
          <a:ln/>
        </p:spPr>
        <p:txBody>
          <a:bodyPr wrap="square" lIns="0" tIns="0" rIns="0" bIns="0" rtlCol="0" anchor="t"/>
          <a:lstStyle/>
          <a:p>
            <a:pPr indent="0" marL="0">
              <a:buNone/>
            </a:pPr>
            <a:r>
              <a:rPr lang="en-US" sz="1000" dirty="0">
                <a:solidFill>
                  <a:srgbClr val="17211C"/>
                </a:solidFill>
                <a:latin typeface="Consolas" pitchFamily="34" charset="0"/>
                <a:ea typeface="Consolas" pitchFamily="34" charset="-122"/>
                <a:cs typeface="Consolas" pitchFamily="34" charset="-120"/>
              </a:rPr>
              <a:t>│   ├─ config.php · db.php</a:t>
            </a:r>
            <a:endParaRPr lang="en-US" sz="1000" dirty="0"/>
          </a:p>
        </p:txBody>
      </p:sp>
      <p:sp>
        <p:nvSpPr>
          <p:cNvPr id="25" name="Text 22"/>
          <p:cNvSpPr txBox="1"/>
          <p:nvPr/>
        </p:nvSpPr>
        <p:spPr>
          <a:xfrm>
            <a:off x="822960" y="4764024"/>
            <a:ext cx="2926080" cy="246888"/>
          </a:xfrm>
          <a:prstGeom prst="rect">
            <a:avLst/>
          </a:prstGeom>
          <a:noFill/>
          <a:ln/>
        </p:spPr>
        <p:txBody>
          <a:bodyPr wrap="square" lIns="0" tIns="0" rIns="0" bIns="0" rtlCol="0" anchor="t"/>
          <a:lstStyle/>
          <a:p>
            <a:pPr indent="0" marL="0">
              <a:buNone/>
            </a:pPr>
            <a:r>
              <a:rPr lang="en-US" sz="1000" dirty="0">
                <a:solidFill>
                  <a:srgbClr val="17211C"/>
                </a:solidFill>
                <a:latin typeface="Consolas" pitchFamily="34" charset="0"/>
                <a:ea typeface="Consolas" pitchFamily="34" charset="-122"/>
                <a:cs typeface="Consolas" pitchFamily="34" charset="-120"/>
              </a:rPr>
              <a:t>│   ├─ auth.php · fonctions.php</a:t>
            </a:r>
            <a:endParaRPr lang="en-US" sz="1000" dirty="0"/>
          </a:p>
        </p:txBody>
      </p:sp>
      <p:sp>
        <p:nvSpPr>
          <p:cNvPr id="26" name="Text 23"/>
          <p:cNvSpPr txBox="1"/>
          <p:nvPr/>
        </p:nvSpPr>
        <p:spPr>
          <a:xfrm>
            <a:off x="822960" y="5029200"/>
            <a:ext cx="2926080" cy="246888"/>
          </a:xfrm>
          <a:prstGeom prst="rect">
            <a:avLst/>
          </a:prstGeom>
          <a:noFill/>
          <a:ln/>
        </p:spPr>
        <p:txBody>
          <a:bodyPr wrap="square" lIns="0" tIns="0" rIns="0" bIns="0" rtlCol="0" anchor="t"/>
          <a:lstStyle/>
          <a:p>
            <a:pPr indent="0" marL="0">
              <a:buNone/>
            </a:pPr>
            <a:r>
              <a:rPr lang="en-US" sz="1000" dirty="0">
                <a:solidFill>
                  <a:srgbClr val="17211C"/>
                </a:solidFill>
                <a:latin typeface="Consolas" pitchFamily="34" charset="0"/>
                <a:ea typeface="Consolas" pitchFamily="34" charset="-122"/>
                <a:cs typeface="Consolas" pitchFamily="34" charset="-120"/>
              </a:rPr>
              <a:t>│   └─ haut.php · bas.php</a:t>
            </a:r>
            <a:endParaRPr lang="en-US" sz="1000" dirty="0"/>
          </a:p>
        </p:txBody>
      </p:sp>
      <p:sp>
        <p:nvSpPr>
          <p:cNvPr id="27" name="Text 24"/>
          <p:cNvSpPr txBox="1"/>
          <p:nvPr/>
        </p:nvSpPr>
        <p:spPr>
          <a:xfrm>
            <a:off x="2880360" y="5029200"/>
            <a:ext cx="1463040" cy="246888"/>
          </a:xfrm>
          <a:prstGeom prst="rect">
            <a:avLst/>
          </a:prstGeom>
          <a:noFill/>
          <a:ln/>
        </p:spPr>
        <p:txBody>
          <a:bodyPr wrap="square" lIns="0" tIns="0" rIns="0" bIns="0" rtlCol="0" anchor="t"/>
          <a:lstStyle/>
          <a:p>
            <a:pPr algn="r" indent="0" marL="0">
              <a:buNone/>
            </a:pPr>
            <a:r>
              <a:rPr lang="en-US" sz="950" i="1" dirty="0">
                <a:solidFill>
                  <a:srgbClr val="767A71"/>
                </a:solidFill>
                <a:latin typeface="Calibri" pitchFamily="34" charset="0"/>
                <a:ea typeface="Calibri" pitchFamily="34" charset="-122"/>
                <a:cs typeface="Calibri" pitchFamily="34" charset="-120"/>
              </a:rPr>
              <a:t>gabarit</a:t>
            </a:r>
            <a:endParaRPr lang="en-US" sz="950" dirty="0"/>
          </a:p>
        </p:txBody>
      </p:sp>
      <p:sp>
        <p:nvSpPr>
          <p:cNvPr id="28" name="Text 25"/>
          <p:cNvSpPr txBox="1"/>
          <p:nvPr/>
        </p:nvSpPr>
        <p:spPr>
          <a:xfrm>
            <a:off x="822960" y="5294376"/>
            <a:ext cx="2926080" cy="246888"/>
          </a:xfrm>
          <a:prstGeom prst="rect">
            <a:avLst/>
          </a:prstGeom>
          <a:noFill/>
          <a:ln/>
        </p:spPr>
        <p:txBody>
          <a:bodyPr wrap="square" lIns="0" tIns="0" rIns="0" bIns="0" rtlCol="0" anchor="t"/>
          <a:lstStyle/>
          <a:p>
            <a:pPr indent="0" marL="0">
              <a:buNone/>
            </a:pPr>
            <a:r>
              <a:rPr lang="en-US" sz="1000" b="1" dirty="0">
                <a:solidFill>
                  <a:srgbClr val="1F4A3A"/>
                </a:solidFill>
                <a:latin typeface="Consolas" pitchFamily="34" charset="0"/>
                <a:ea typeface="Consolas" pitchFamily="34" charset="-122"/>
                <a:cs typeface="Consolas" pitchFamily="34" charset="-120"/>
              </a:rPr>
              <a:t>├─ assets/  css · js · fonts</a:t>
            </a:r>
            <a:endParaRPr lang="en-US" sz="1000" dirty="0"/>
          </a:p>
        </p:txBody>
      </p:sp>
      <p:sp>
        <p:nvSpPr>
          <p:cNvPr id="29" name="Text 26"/>
          <p:cNvSpPr txBox="1"/>
          <p:nvPr/>
        </p:nvSpPr>
        <p:spPr>
          <a:xfrm>
            <a:off x="822960" y="5559552"/>
            <a:ext cx="2926080" cy="246888"/>
          </a:xfrm>
          <a:prstGeom prst="rect">
            <a:avLst/>
          </a:prstGeom>
          <a:noFill/>
          <a:ln/>
        </p:spPr>
        <p:txBody>
          <a:bodyPr wrap="square" lIns="0" tIns="0" rIns="0" bIns="0" rtlCol="0" anchor="t"/>
          <a:lstStyle/>
          <a:p>
            <a:pPr indent="0" marL="0">
              <a:buNone/>
            </a:pPr>
            <a:r>
              <a:rPr lang="en-US" sz="1000" b="1" dirty="0">
                <a:solidFill>
                  <a:srgbClr val="1F4A3A"/>
                </a:solidFill>
                <a:latin typeface="Consolas" pitchFamily="34" charset="0"/>
                <a:ea typeface="Consolas" pitchFamily="34" charset="-122"/>
                <a:cs typeface="Consolas" pitchFamily="34" charset="-120"/>
              </a:rPr>
              <a:t>└─ sql/  schema.sql · patrimo.sql</a:t>
            </a:r>
            <a:endParaRPr lang="en-US" sz="1000" dirty="0"/>
          </a:p>
        </p:txBody>
      </p:sp>
      <p:sp>
        <p:nvSpPr>
          <p:cNvPr id="30" name="Text 27"/>
          <p:cNvSpPr txBox="1"/>
          <p:nvPr/>
        </p:nvSpPr>
        <p:spPr>
          <a:xfrm>
            <a:off x="4937760" y="1691640"/>
            <a:ext cx="4572000" cy="228600"/>
          </a:xfrm>
          <a:prstGeom prst="rect">
            <a:avLst/>
          </a:prstGeom>
          <a:noFill/>
          <a:ln/>
        </p:spPr>
        <p:txBody>
          <a:bodyPr wrap="square" lIns="0" tIns="0" rIns="0" bIns="0" rtlCol="0" anchor="t"/>
          <a:lstStyle/>
          <a:p>
            <a:pPr indent="0" marL="0">
              <a:buNone/>
            </a:pPr>
            <a:r>
              <a:rPr lang="en-US" sz="1000" b="1" spc="200" kern="0" dirty="0">
                <a:solidFill>
                  <a:srgbClr val="1F4A3A"/>
                </a:solidFill>
                <a:latin typeface="Consolas" pitchFamily="34" charset="0"/>
                <a:ea typeface="Consolas" pitchFamily="34" charset="-122"/>
                <a:cs typeface="Consolas" pitchFamily="34" charset="-120"/>
              </a:rPr>
              <a:t>LE TRAJET D'UNE REQUÊTE</a:t>
            </a:r>
            <a:endParaRPr lang="en-US" sz="1000" dirty="0"/>
          </a:p>
        </p:txBody>
      </p:sp>
      <p:sp>
        <p:nvSpPr>
          <p:cNvPr id="31" name="Shape 28"/>
          <p:cNvSpPr/>
          <p:nvPr/>
        </p:nvSpPr>
        <p:spPr>
          <a:xfrm>
            <a:off x="5120640" y="2240280"/>
            <a:ext cx="0" cy="3611880"/>
          </a:xfrm>
          <a:prstGeom prst="line">
            <a:avLst/>
          </a:prstGeom>
          <a:noFill/>
          <a:ln w="15875">
            <a:solidFill>
              <a:srgbClr val="CBC2AD"/>
            </a:solidFill>
            <a:prstDash val="dash"/>
          </a:ln>
        </p:spPr>
      </p:sp>
      <p:sp>
        <p:nvSpPr>
          <p:cNvPr id="32" name="Shape 29"/>
          <p:cNvSpPr/>
          <p:nvPr/>
        </p:nvSpPr>
        <p:spPr>
          <a:xfrm>
            <a:off x="4937760" y="2103120"/>
            <a:ext cx="365760" cy="365760"/>
          </a:xfrm>
          <a:prstGeom prst="ellipse">
            <a:avLst/>
          </a:prstGeom>
          <a:solidFill>
            <a:srgbClr val="1F4A3A"/>
          </a:solidFill>
          <a:ln w="19050">
            <a:solidFill>
              <a:srgbClr val="1F4A3A"/>
            </a:solidFill>
            <a:prstDash val="solid"/>
          </a:ln>
        </p:spPr>
      </p:sp>
      <p:sp>
        <p:nvSpPr>
          <p:cNvPr id="33" name="Text 30"/>
          <p:cNvSpPr txBox="1"/>
          <p:nvPr/>
        </p:nvSpPr>
        <p:spPr>
          <a:xfrm>
            <a:off x="4937760" y="21031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1</a:t>
            </a:r>
            <a:endParaRPr lang="en-US" sz="1200" dirty="0"/>
          </a:p>
        </p:txBody>
      </p:sp>
      <p:sp>
        <p:nvSpPr>
          <p:cNvPr id="34" name="Text 31"/>
          <p:cNvSpPr txBox="1"/>
          <p:nvPr/>
        </p:nvSpPr>
        <p:spPr>
          <a:xfrm>
            <a:off x="5532120" y="2084832"/>
            <a:ext cx="6035040" cy="292608"/>
          </a:xfrm>
          <a:prstGeom prst="rect">
            <a:avLst/>
          </a:prstGeom>
          <a:noFill/>
          <a:ln/>
        </p:spPr>
        <p:txBody>
          <a:bodyPr wrap="square" lIns="0" tIns="0" rIns="0" bIns="0" rtlCol="0" anchor="t"/>
          <a:lstStyle/>
          <a:p>
            <a:pPr indent="0" marL="0">
              <a:buNone/>
            </a:pPr>
            <a:r>
              <a:rPr lang="en-US" sz="1500" b="1" dirty="0">
                <a:solidFill>
                  <a:srgbClr val="17211C"/>
                </a:solidFill>
                <a:latin typeface="Calibri" pitchFamily="34" charset="0"/>
                <a:ea typeface="Calibri" pitchFamily="34" charset="-122"/>
                <a:cs typeface="Calibri" pitchFamily="34" charset="-120"/>
              </a:rPr>
              <a:t>Le navigateur demande</a:t>
            </a:r>
            <a:endParaRPr lang="en-US" sz="1500" dirty="0"/>
          </a:p>
        </p:txBody>
      </p:sp>
      <p:sp>
        <p:nvSpPr>
          <p:cNvPr id="35" name="Text 32"/>
          <p:cNvSpPr txBox="1"/>
          <p:nvPr/>
        </p:nvSpPr>
        <p:spPr>
          <a:xfrm>
            <a:off x="5532120" y="2395728"/>
            <a:ext cx="6035040" cy="274320"/>
          </a:xfrm>
          <a:prstGeom prst="rect">
            <a:avLst/>
          </a:prstGeom>
          <a:noFill/>
          <a:ln/>
        </p:spPr>
        <p:txBody>
          <a:bodyPr wrap="square" lIns="0" tIns="0" rIns="0" bIns="0" rtlCol="0" anchor="t"/>
          <a:lstStyle/>
          <a:p>
            <a:pPr indent="0" marL="0">
              <a:buNone/>
            </a:pPr>
            <a:r>
              <a:rPr lang="en-US" sz="1250" dirty="0">
                <a:solidFill>
                  <a:srgbClr val="3F4842"/>
                </a:solidFill>
                <a:latin typeface="Consolas" pitchFamily="34" charset="0"/>
                <a:ea typeface="Consolas" pitchFamily="34" charset="-122"/>
                <a:cs typeface="Consolas" pitchFamily="34" charset="-120"/>
              </a:rPr>
              <a:t>materiel.php?id=15</a:t>
            </a:r>
            <a:endParaRPr lang="en-US" sz="1250" dirty="0"/>
          </a:p>
        </p:txBody>
      </p:sp>
      <p:sp>
        <p:nvSpPr>
          <p:cNvPr id="36" name="Shape 33"/>
          <p:cNvSpPr/>
          <p:nvPr/>
        </p:nvSpPr>
        <p:spPr>
          <a:xfrm>
            <a:off x="4937760" y="2953512"/>
            <a:ext cx="365760" cy="365760"/>
          </a:xfrm>
          <a:prstGeom prst="ellipse">
            <a:avLst/>
          </a:prstGeom>
          <a:solidFill>
            <a:srgbClr val="FBF9F4"/>
          </a:solidFill>
          <a:ln w="19050">
            <a:solidFill>
              <a:srgbClr val="1F4A3A"/>
            </a:solidFill>
            <a:prstDash val="solid"/>
          </a:ln>
        </p:spPr>
      </p:sp>
      <p:sp>
        <p:nvSpPr>
          <p:cNvPr id="37" name="Text 34"/>
          <p:cNvSpPr txBox="1"/>
          <p:nvPr/>
        </p:nvSpPr>
        <p:spPr>
          <a:xfrm>
            <a:off x="4937760" y="2953512"/>
            <a:ext cx="365760" cy="365760"/>
          </a:xfrm>
          <a:prstGeom prst="rect">
            <a:avLst/>
          </a:prstGeom>
          <a:noFill/>
          <a:ln/>
        </p:spPr>
        <p:txBody>
          <a:bodyPr wrap="square" lIns="0" tIns="0" rIns="0" bIns="0" rtlCol="0" anchor="ctr"/>
          <a:lstStyle/>
          <a:p>
            <a:pPr algn="ctr" indent="0" marL="0">
              <a:buNone/>
            </a:pPr>
            <a:r>
              <a:rPr lang="en-US" sz="1200" b="1" dirty="0">
                <a:solidFill>
                  <a:srgbClr val="1F4A3A"/>
                </a:solidFill>
                <a:latin typeface="Consolas" pitchFamily="34" charset="0"/>
                <a:ea typeface="Consolas" pitchFamily="34" charset="-122"/>
                <a:cs typeface="Consolas" pitchFamily="34" charset="-120"/>
              </a:rPr>
              <a:t>2</a:t>
            </a:r>
            <a:endParaRPr lang="en-US" sz="1200" dirty="0"/>
          </a:p>
        </p:txBody>
      </p:sp>
      <p:sp>
        <p:nvSpPr>
          <p:cNvPr id="38" name="Text 35"/>
          <p:cNvSpPr txBox="1"/>
          <p:nvPr/>
        </p:nvSpPr>
        <p:spPr>
          <a:xfrm>
            <a:off x="5532120" y="2935224"/>
            <a:ext cx="6035040" cy="292608"/>
          </a:xfrm>
          <a:prstGeom prst="rect">
            <a:avLst/>
          </a:prstGeom>
          <a:noFill/>
          <a:ln/>
        </p:spPr>
        <p:txBody>
          <a:bodyPr wrap="square" lIns="0" tIns="0" rIns="0" bIns="0" rtlCol="0" anchor="t"/>
          <a:lstStyle/>
          <a:p>
            <a:pPr indent="0" marL="0">
              <a:buNone/>
            </a:pPr>
            <a:r>
              <a:rPr lang="en-US" sz="1500" b="1" dirty="0">
                <a:solidFill>
                  <a:srgbClr val="17211C"/>
                </a:solidFill>
                <a:latin typeface="Calibri" pitchFamily="34" charset="0"/>
                <a:ea typeface="Calibri" pitchFamily="34" charset="-122"/>
                <a:cs typeface="Calibri" pitchFamily="34" charset="-120"/>
              </a:rPr>
              <a:t>auth.php vérifie</a:t>
            </a:r>
            <a:endParaRPr lang="en-US" sz="1500" dirty="0"/>
          </a:p>
        </p:txBody>
      </p:sp>
      <p:sp>
        <p:nvSpPr>
          <p:cNvPr id="39" name="Text 36"/>
          <p:cNvSpPr txBox="1"/>
          <p:nvPr/>
        </p:nvSpPr>
        <p:spPr>
          <a:xfrm>
            <a:off x="5532120" y="3246120"/>
            <a:ext cx="6035040" cy="274320"/>
          </a:xfrm>
          <a:prstGeom prst="rect">
            <a:avLst/>
          </a:prstGeom>
          <a:noFill/>
          <a:ln/>
        </p:spPr>
        <p:txBody>
          <a:bodyPr wrap="square" lIns="0" tIns="0" rIns="0" bIns="0" rtlCol="0" anchor="t"/>
          <a:lstStyle/>
          <a:p>
            <a:pPr indent="0" marL="0">
              <a:buNone/>
            </a:pPr>
            <a:r>
              <a:rPr lang="en-US" sz="1250" dirty="0">
                <a:solidFill>
                  <a:srgbClr val="3F4842"/>
                </a:solidFill>
                <a:latin typeface="Calibri" pitchFamily="34" charset="0"/>
                <a:ea typeface="Calibri" pitchFamily="34" charset="-122"/>
                <a:cs typeface="Calibri" pitchFamily="34" charset="-120"/>
              </a:rPr>
              <a:t>la session, son expiration et le rôle de l'utilisateur</a:t>
            </a:r>
            <a:endParaRPr lang="en-US" sz="1250" dirty="0"/>
          </a:p>
        </p:txBody>
      </p:sp>
      <p:sp>
        <p:nvSpPr>
          <p:cNvPr id="40" name="Shape 37"/>
          <p:cNvSpPr/>
          <p:nvPr/>
        </p:nvSpPr>
        <p:spPr>
          <a:xfrm>
            <a:off x="4937760" y="3803904"/>
            <a:ext cx="365760" cy="365760"/>
          </a:xfrm>
          <a:prstGeom prst="ellipse">
            <a:avLst/>
          </a:prstGeom>
          <a:solidFill>
            <a:srgbClr val="FBF9F4"/>
          </a:solidFill>
          <a:ln w="19050">
            <a:solidFill>
              <a:srgbClr val="1F4A3A"/>
            </a:solidFill>
            <a:prstDash val="solid"/>
          </a:ln>
        </p:spPr>
      </p:sp>
      <p:sp>
        <p:nvSpPr>
          <p:cNvPr id="41" name="Text 38"/>
          <p:cNvSpPr txBox="1"/>
          <p:nvPr/>
        </p:nvSpPr>
        <p:spPr>
          <a:xfrm>
            <a:off x="4937760" y="3803904"/>
            <a:ext cx="365760" cy="365760"/>
          </a:xfrm>
          <a:prstGeom prst="rect">
            <a:avLst/>
          </a:prstGeom>
          <a:noFill/>
          <a:ln/>
        </p:spPr>
        <p:txBody>
          <a:bodyPr wrap="square" lIns="0" tIns="0" rIns="0" bIns="0" rtlCol="0" anchor="ctr"/>
          <a:lstStyle/>
          <a:p>
            <a:pPr algn="ctr" indent="0" marL="0">
              <a:buNone/>
            </a:pPr>
            <a:r>
              <a:rPr lang="en-US" sz="1200" b="1" dirty="0">
                <a:solidFill>
                  <a:srgbClr val="1F4A3A"/>
                </a:solidFill>
                <a:latin typeface="Consolas" pitchFamily="34" charset="0"/>
                <a:ea typeface="Consolas" pitchFamily="34" charset="-122"/>
                <a:cs typeface="Consolas" pitchFamily="34" charset="-120"/>
              </a:rPr>
              <a:t>3</a:t>
            </a:r>
            <a:endParaRPr lang="en-US" sz="1200" dirty="0"/>
          </a:p>
        </p:txBody>
      </p:sp>
      <p:sp>
        <p:nvSpPr>
          <p:cNvPr id="42" name="Text 39"/>
          <p:cNvSpPr txBox="1"/>
          <p:nvPr/>
        </p:nvSpPr>
        <p:spPr>
          <a:xfrm>
            <a:off x="5532120" y="3785616"/>
            <a:ext cx="6035040" cy="292608"/>
          </a:xfrm>
          <a:prstGeom prst="rect">
            <a:avLst/>
          </a:prstGeom>
          <a:noFill/>
          <a:ln/>
        </p:spPr>
        <p:txBody>
          <a:bodyPr wrap="square" lIns="0" tIns="0" rIns="0" bIns="0" rtlCol="0" anchor="t"/>
          <a:lstStyle/>
          <a:p>
            <a:pPr indent="0" marL="0">
              <a:buNone/>
            </a:pPr>
            <a:r>
              <a:rPr lang="en-US" sz="1500" b="1" dirty="0">
                <a:solidFill>
                  <a:srgbClr val="17211C"/>
                </a:solidFill>
                <a:latin typeface="Calibri" pitchFamily="34" charset="0"/>
                <a:ea typeface="Calibri" pitchFamily="34" charset="-122"/>
                <a:cs typeface="Calibri" pitchFamily="34" charset="-120"/>
              </a:rPr>
              <a:t>Si un formulaire est envoyé</a:t>
            </a:r>
            <a:endParaRPr lang="en-US" sz="1500" dirty="0"/>
          </a:p>
        </p:txBody>
      </p:sp>
      <p:sp>
        <p:nvSpPr>
          <p:cNvPr id="43" name="Text 40"/>
          <p:cNvSpPr txBox="1"/>
          <p:nvPr/>
        </p:nvSpPr>
        <p:spPr>
          <a:xfrm>
            <a:off x="5532120" y="4096512"/>
            <a:ext cx="6035040" cy="274320"/>
          </a:xfrm>
          <a:prstGeom prst="rect">
            <a:avLst/>
          </a:prstGeom>
          <a:noFill/>
          <a:ln/>
        </p:spPr>
        <p:txBody>
          <a:bodyPr wrap="square" lIns="0" tIns="0" rIns="0" bIns="0" rtlCol="0" anchor="t"/>
          <a:lstStyle/>
          <a:p>
            <a:pPr indent="0" marL="0">
              <a:buNone/>
            </a:pPr>
            <a:r>
              <a:rPr lang="en-US" sz="1250" dirty="0">
                <a:solidFill>
                  <a:srgbClr val="3F4842"/>
                </a:solidFill>
                <a:latin typeface="Calibri" pitchFamily="34" charset="0"/>
                <a:ea typeface="Calibri" pitchFamily="34" charset="-122"/>
                <a:cs typeface="Calibri" pitchFamily="34" charset="-120"/>
              </a:rPr>
              <a:t>jeton CSRF, règles métier, puis écriture en transaction</a:t>
            </a:r>
            <a:endParaRPr lang="en-US" sz="1250" dirty="0"/>
          </a:p>
        </p:txBody>
      </p:sp>
      <p:sp>
        <p:nvSpPr>
          <p:cNvPr id="44" name="Shape 41"/>
          <p:cNvSpPr/>
          <p:nvPr/>
        </p:nvSpPr>
        <p:spPr>
          <a:xfrm>
            <a:off x="4937760" y="4654296"/>
            <a:ext cx="365760" cy="365760"/>
          </a:xfrm>
          <a:prstGeom prst="ellipse">
            <a:avLst/>
          </a:prstGeom>
          <a:solidFill>
            <a:srgbClr val="FBF9F4"/>
          </a:solidFill>
          <a:ln w="19050">
            <a:solidFill>
              <a:srgbClr val="1F4A3A"/>
            </a:solidFill>
            <a:prstDash val="solid"/>
          </a:ln>
        </p:spPr>
      </p:sp>
      <p:sp>
        <p:nvSpPr>
          <p:cNvPr id="45" name="Text 42"/>
          <p:cNvSpPr txBox="1"/>
          <p:nvPr/>
        </p:nvSpPr>
        <p:spPr>
          <a:xfrm>
            <a:off x="4937760" y="4654296"/>
            <a:ext cx="365760" cy="365760"/>
          </a:xfrm>
          <a:prstGeom prst="rect">
            <a:avLst/>
          </a:prstGeom>
          <a:noFill/>
          <a:ln/>
        </p:spPr>
        <p:txBody>
          <a:bodyPr wrap="square" lIns="0" tIns="0" rIns="0" bIns="0" rtlCol="0" anchor="ctr"/>
          <a:lstStyle/>
          <a:p>
            <a:pPr algn="ctr" indent="0" marL="0">
              <a:buNone/>
            </a:pPr>
            <a:r>
              <a:rPr lang="en-US" sz="1200" b="1" dirty="0">
                <a:solidFill>
                  <a:srgbClr val="1F4A3A"/>
                </a:solidFill>
                <a:latin typeface="Consolas" pitchFamily="34" charset="0"/>
                <a:ea typeface="Consolas" pitchFamily="34" charset="-122"/>
                <a:cs typeface="Consolas" pitchFamily="34" charset="-120"/>
              </a:rPr>
              <a:t>4</a:t>
            </a:r>
            <a:endParaRPr lang="en-US" sz="1200" dirty="0"/>
          </a:p>
        </p:txBody>
      </p:sp>
      <p:sp>
        <p:nvSpPr>
          <p:cNvPr id="46" name="Text 43"/>
          <p:cNvSpPr txBox="1"/>
          <p:nvPr/>
        </p:nvSpPr>
        <p:spPr>
          <a:xfrm>
            <a:off x="5532120" y="4636008"/>
            <a:ext cx="6035040" cy="292608"/>
          </a:xfrm>
          <a:prstGeom prst="rect">
            <a:avLst/>
          </a:prstGeom>
          <a:noFill/>
          <a:ln/>
        </p:spPr>
        <p:txBody>
          <a:bodyPr wrap="square" lIns="0" tIns="0" rIns="0" bIns="0" rtlCol="0" anchor="t"/>
          <a:lstStyle/>
          <a:p>
            <a:pPr indent="0" marL="0">
              <a:buNone/>
            </a:pPr>
            <a:r>
              <a:rPr lang="en-US" sz="1500" b="1" dirty="0">
                <a:solidFill>
                  <a:srgbClr val="17211C"/>
                </a:solidFill>
                <a:latin typeface="Calibri" pitchFamily="34" charset="0"/>
                <a:ea typeface="Calibri" pitchFamily="34" charset="-122"/>
                <a:cs typeface="Calibri" pitchFamily="34" charset="-120"/>
              </a:rPr>
              <a:t>db.php lit la base</a:t>
            </a:r>
            <a:endParaRPr lang="en-US" sz="1500" dirty="0"/>
          </a:p>
        </p:txBody>
      </p:sp>
      <p:sp>
        <p:nvSpPr>
          <p:cNvPr id="47" name="Text 44"/>
          <p:cNvSpPr txBox="1"/>
          <p:nvPr/>
        </p:nvSpPr>
        <p:spPr>
          <a:xfrm>
            <a:off x="5532120" y="4946904"/>
            <a:ext cx="6035040" cy="274320"/>
          </a:xfrm>
          <a:prstGeom prst="rect">
            <a:avLst/>
          </a:prstGeom>
          <a:noFill/>
          <a:ln/>
        </p:spPr>
        <p:txBody>
          <a:bodyPr wrap="square" lIns="0" tIns="0" rIns="0" bIns="0" rtlCol="0" anchor="t"/>
          <a:lstStyle/>
          <a:p>
            <a:pPr indent="0" marL="0">
              <a:buNone/>
            </a:pPr>
            <a:r>
              <a:rPr lang="en-US" sz="1250" dirty="0">
                <a:solidFill>
                  <a:srgbClr val="3F4842"/>
                </a:solidFill>
                <a:latin typeface="Calibri" pitchFamily="34" charset="0"/>
                <a:ea typeface="Calibri" pitchFamily="34" charset="-122"/>
                <a:cs typeface="Calibri" pitchFamily="34" charset="-120"/>
              </a:rPr>
              <a:t>requêtes préparées PDO, jamais de valeur collée dans le SQL</a:t>
            </a:r>
            <a:endParaRPr lang="en-US" sz="1250" dirty="0"/>
          </a:p>
        </p:txBody>
      </p:sp>
      <p:sp>
        <p:nvSpPr>
          <p:cNvPr id="48" name="Shape 45"/>
          <p:cNvSpPr/>
          <p:nvPr/>
        </p:nvSpPr>
        <p:spPr>
          <a:xfrm>
            <a:off x="4937760" y="5504688"/>
            <a:ext cx="365760" cy="365760"/>
          </a:xfrm>
          <a:prstGeom prst="ellipse">
            <a:avLst/>
          </a:prstGeom>
          <a:solidFill>
            <a:srgbClr val="FBF9F4"/>
          </a:solidFill>
          <a:ln w="19050">
            <a:solidFill>
              <a:srgbClr val="1F4A3A"/>
            </a:solidFill>
            <a:prstDash val="solid"/>
          </a:ln>
        </p:spPr>
      </p:sp>
      <p:sp>
        <p:nvSpPr>
          <p:cNvPr id="49" name="Text 46"/>
          <p:cNvSpPr txBox="1"/>
          <p:nvPr/>
        </p:nvSpPr>
        <p:spPr>
          <a:xfrm>
            <a:off x="4937760" y="5504688"/>
            <a:ext cx="365760" cy="365760"/>
          </a:xfrm>
          <a:prstGeom prst="rect">
            <a:avLst/>
          </a:prstGeom>
          <a:noFill/>
          <a:ln/>
        </p:spPr>
        <p:txBody>
          <a:bodyPr wrap="square" lIns="0" tIns="0" rIns="0" bIns="0" rtlCol="0" anchor="ctr"/>
          <a:lstStyle/>
          <a:p>
            <a:pPr algn="ctr" indent="0" marL="0">
              <a:buNone/>
            </a:pPr>
            <a:r>
              <a:rPr lang="en-US" sz="1200" b="1" dirty="0">
                <a:solidFill>
                  <a:srgbClr val="1F4A3A"/>
                </a:solidFill>
                <a:latin typeface="Consolas" pitchFamily="34" charset="0"/>
                <a:ea typeface="Consolas" pitchFamily="34" charset="-122"/>
                <a:cs typeface="Consolas" pitchFamily="34" charset="-120"/>
              </a:rPr>
              <a:t>5</a:t>
            </a:r>
            <a:endParaRPr lang="en-US" sz="1200" dirty="0"/>
          </a:p>
        </p:txBody>
      </p:sp>
      <p:sp>
        <p:nvSpPr>
          <p:cNvPr id="50" name="Text 47"/>
          <p:cNvSpPr txBox="1"/>
          <p:nvPr/>
        </p:nvSpPr>
        <p:spPr>
          <a:xfrm>
            <a:off x="5532120" y="5486400"/>
            <a:ext cx="6035040" cy="292608"/>
          </a:xfrm>
          <a:prstGeom prst="rect">
            <a:avLst/>
          </a:prstGeom>
          <a:noFill/>
          <a:ln/>
        </p:spPr>
        <p:txBody>
          <a:bodyPr wrap="square" lIns="0" tIns="0" rIns="0" bIns="0" rtlCol="0" anchor="t"/>
          <a:lstStyle/>
          <a:p>
            <a:pPr indent="0" marL="0">
              <a:buNone/>
            </a:pPr>
            <a:r>
              <a:rPr lang="en-US" sz="1500" b="1" dirty="0">
                <a:solidFill>
                  <a:srgbClr val="17211C"/>
                </a:solidFill>
                <a:latin typeface="Calibri" pitchFamily="34" charset="0"/>
                <a:ea typeface="Calibri" pitchFamily="34" charset="-122"/>
                <a:cs typeface="Calibri" pitchFamily="34" charset="-120"/>
              </a:rPr>
              <a:t>haut.php + contenu + bas.php</a:t>
            </a:r>
            <a:endParaRPr lang="en-US" sz="1500" dirty="0"/>
          </a:p>
        </p:txBody>
      </p:sp>
      <p:sp>
        <p:nvSpPr>
          <p:cNvPr id="51" name="Text 48"/>
          <p:cNvSpPr txBox="1"/>
          <p:nvPr/>
        </p:nvSpPr>
        <p:spPr>
          <a:xfrm>
            <a:off x="5532120" y="5797296"/>
            <a:ext cx="6035040" cy="274320"/>
          </a:xfrm>
          <a:prstGeom prst="rect">
            <a:avLst/>
          </a:prstGeom>
          <a:noFill/>
          <a:ln/>
        </p:spPr>
        <p:txBody>
          <a:bodyPr wrap="square" lIns="0" tIns="0" rIns="0" bIns="0" rtlCol="0" anchor="t"/>
          <a:lstStyle/>
          <a:p>
            <a:pPr indent="0" marL="0">
              <a:buNone/>
            </a:pPr>
            <a:r>
              <a:rPr lang="en-US" sz="1250" dirty="0">
                <a:solidFill>
                  <a:srgbClr val="3F4842"/>
                </a:solidFill>
                <a:latin typeface="Calibri" pitchFamily="34" charset="0"/>
                <a:ea typeface="Calibri" pitchFamily="34" charset="-122"/>
                <a:cs typeface="Calibri" pitchFamily="34" charset="-120"/>
              </a:rPr>
              <a:t>la page est affichée ; app.js ajoute validations et code-barres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EFE6"/>
        </a:solidFill>
      </p:bgPr>
    </p:bg>
    <p:spTree>
      <p:nvGrpSpPr>
        <p:cNvPr id="1" name=""/>
        <p:cNvGrpSpPr/>
        <p:nvPr/>
      </p:nvGrpSpPr>
      <p:grpSpPr>
        <a:xfrm>
          <a:off x="0" y="0"/>
          <a:ext cx="0" cy="0"/>
          <a:chOff x="0" y="0"/>
          <a:chExt cx="0" cy="0"/>
        </a:xfrm>
      </p:grpSpPr>
      <p:sp>
        <p:nvSpPr>
          <p:cNvPr id="2" name="Shape 0"/>
          <p:cNvSpPr/>
          <p:nvPr/>
        </p:nvSpPr>
        <p:spPr>
          <a:xfrm>
            <a:off x="548640" y="384048"/>
            <a:ext cx="1938528" cy="274320"/>
          </a:xfrm>
          <a:prstGeom prst="roundRect">
            <a:avLst>
              <a:gd name="adj" fmla="val 16667"/>
            </a:avLst>
          </a:prstGeom>
          <a:solidFill>
            <a:srgbClr val="FFFDF7"/>
          </a:solidFill>
          <a:ln w="9525">
            <a:solidFill>
              <a:srgbClr val="CBC2AD"/>
            </a:solidFill>
            <a:prstDash val="solid"/>
          </a:ln>
        </p:spPr>
      </p:sp>
      <p:sp>
        <p:nvSpPr>
          <p:cNvPr id="3" name="Shape 1"/>
          <p:cNvSpPr/>
          <p:nvPr/>
        </p:nvSpPr>
        <p:spPr>
          <a:xfrm>
            <a:off x="640080" y="489204"/>
            <a:ext cx="64008" cy="64008"/>
          </a:xfrm>
          <a:prstGeom prst="ellipse">
            <a:avLst/>
          </a:prstGeom>
          <a:solidFill>
            <a:srgbClr val="F3EFE6"/>
          </a:solidFill>
          <a:ln w="9525">
            <a:solidFill>
              <a:srgbClr val="CBC2AD"/>
            </a:solidFill>
            <a:prstDash val="solid"/>
          </a:ln>
        </p:spPr>
      </p:sp>
      <p:sp>
        <p:nvSpPr>
          <p:cNvPr id="4" name="Text 2"/>
          <p:cNvSpPr txBox="1"/>
          <p:nvPr/>
        </p:nvSpPr>
        <p:spPr>
          <a:xfrm>
            <a:off x="768096" y="384048"/>
            <a:ext cx="1700784" cy="274320"/>
          </a:xfrm>
          <a:prstGeom prst="rect">
            <a:avLst/>
          </a:prstGeom>
          <a:noFill/>
          <a:ln/>
        </p:spPr>
        <p:txBody>
          <a:bodyPr wrap="none" lIns="0" tIns="0" rIns="0" bIns="0" rtlCol="0" anchor="ctr"/>
          <a:lstStyle/>
          <a:p>
            <a:pPr indent="0" marL="0">
              <a:buNone/>
            </a:pPr>
            <a:r>
              <a:rPr lang="en-US" sz="1000" spc="100" kern="0" dirty="0">
                <a:solidFill>
                  <a:srgbClr val="17211C"/>
                </a:solidFill>
                <a:latin typeface="Consolas" pitchFamily="34" charset="0"/>
                <a:ea typeface="Consolas" pitchFamily="34" charset="-122"/>
                <a:cs typeface="Consolas" pitchFamily="34" charset="-120"/>
              </a:rPr>
              <a:t>07 · RÈGLE MÉTIER</a:t>
            </a:r>
            <a:endParaRPr lang="en-US" sz="1000" dirty="0"/>
          </a:p>
        </p:txBody>
      </p:sp>
      <p:sp>
        <p:nvSpPr>
          <p:cNvPr id="5" name="Text 3"/>
          <p:cNvSpPr txBox="1"/>
          <p:nvPr/>
        </p:nvSpPr>
        <p:spPr>
          <a:xfrm>
            <a:off x="548640" y="786384"/>
            <a:ext cx="11094415" cy="731520"/>
          </a:xfrm>
          <a:prstGeom prst="rect">
            <a:avLst/>
          </a:prstGeom>
          <a:noFill/>
          <a:ln/>
        </p:spPr>
        <p:txBody>
          <a:bodyPr wrap="square" lIns="0" tIns="0" rIns="0" bIns="0" rtlCol="0" anchor="ctr"/>
          <a:lstStyle/>
          <a:p>
            <a:pPr indent="0" marL="0">
              <a:buNone/>
            </a:pPr>
            <a:r>
              <a:rPr lang="en-US" sz="3200" dirty="0">
                <a:solidFill>
                  <a:srgbClr val="17211C"/>
                </a:solidFill>
                <a:latin typeface="Georgia" pitchFamily="34" charset="0"/>
                <a:ea typeface="Georgia" pitchFamily="34" charset="-122"/>
                <a:cs typeface="Georgia" pitchFamily="34" charset="-120"/>
              </a:rPr>
              <a:t>Le transfert à double validation</a:t>
            </a:r>
            <a:endParaRPr lang="en-US" sz="3200" dirty="0"/>
          </a:p>
        </p:txBody>
      </p:sp>
      <p:sp>
        <p:nvSpPr>
          <p:cNvPr id="7" name="Text 4"/>
          <p:cNvSpPr txBox="1"/>
          <p:nvPr/>
        </p:nvSpPr>
        <p:spPr>
          <a:xfrm>
            <a:off x="10545775" y="6473952"/>
            <a:ext cx="1097280" cy="228600"/>
          </a:xfrm>
          <a:prstGeom prst="rect">
            <a:avLst/>
          </a:prstGeom>
          <a:noFill/>
          <a:ln/>
        </p:spPr>
        <p:txBody>
          <a:bodyPr wrap="square" lIns="0" tIns="0" rIns="0" bIns="0" rtlCol="0" anchor="t"/>
          <a:lstStyle/>
          <a:p>
            <a:pPr algn="r" indent="0" marL="0">
              <a:buNone/>
            </a:pPr>
            <a:r>
              <a:rPr lang="en-US" sz="900" dirty="0">
                <a:solidFill>
                  <a:srgbClr val="767A71"/>
                </a:solidFill>
                <a:latin typeface="Consolas" pitchFamily="34" charset="0"/>
                <a:ea typeface="Consolas" pitchFamily="34" charset="-122"/>
                <a:cs typeface="Consolas" pitchFamily="34" charset="-120"/>
              </a:rPr>
              <a:t>08 / 17</a:t>
            </a:r>
            <a:endParaRPr lang="en-US" sz="900" dirty="0"/>
          </a:p>
        </p:txBody>
      </p:sp>
      <p:sp>
        <p:nvSpPr>
          <p:cNvPr id="8" name="Text 5"/>
          <p:cNvSpPr txBox="1"/>
          <p:nvPr/>
        </p:nvSpPr>
        <p:spPr>
          <a:xfrm>
            <a:off x="548640" y="6473952"/>
            <a:ext cx="1828800" cy="228600"/>
          </a:xfrm>
          <a:prstGeom prst="rect">
            <a:avLst/>
          </a:prstGeom>
          <a:noFill/>
          <a:ln/>
        </p:spPr>
        <p:txBody>
          <a:bodyPr wrap="square" lIns="0" tIns="0" rIns="0" bIns="0" rtlCol="0" anchor="t"/>
          <a:lstStyle/>
          <a:p>
            <a:pPr indent="0" marL="0">
              <a:buNone/>
            </a:pPr>
            <a:r>
              <a:rPr lang="en-US" sz="1000" i="1" dirty="0">
                <a:solidFill>
                  <a:srgbClr val="767A71"/>
                </a:solidFill>
                <a:latin typeface="Georgia" pitchFamily="34" charset="0"/>
                <a:ea typeface="Georgia" pitchFamily="34" charset="-122"/>
                <a:cs typeface="Georgia" pitchFamily="34" charset="-120"/>
              </a:rPr>
              <a:t>Patrimo</a:t>
            </a:r>
            <a:endParaRPr lang="en-US" sz="1000" dirty="0"/>
          </a:p>
        </p:txBody>
      </p:sp>
      <p:sp>
        <p:nvSpPr>
          <p:cNvPr id="9" name="Shape 6"/>
          <p:cNvSpPr/>
          <p:nvPr/>
        </p:nvSpPr>
        <p:spPr>
          <a:xfrm>
            <a:off x="548640" y="1691640"/>
            <a:ext cx="420624" cy="420624"/>
          </a:xfrm>
          <a:prstGeom prst="ellipse">
            <a:avLst/>
          </a:prstGeom>
          <a:solidFill>
            <a:srgbClr val="FBF9F4"/>
          </a:solidFill>
          <a:ln w="19050">
            <a:solidFill>
              <a:srgbClr val="1F4A3A"/>
            </a:solidFill>
            <a:prstDash val="solid"/>
          </a:ln>
        </p:spPr>
      </p:sp>
      <p:sp>
        <p:nvSpPr>
          <p:cNvPr id="10" name="Text 7"/>
          <p:cNvSpPr txBox="1"/>
          <p:nvPr/>
        </p:nvSpPr>
        <p:spPr>
          <a:xfrm>
            <a:off x="548640" y="1691640"/>
            <a:ext cx="420624" cy="420624"/>
          </a:xfrm>
          <a:prstGeom prst="rect">
            <a:avLst/>
          </a:prstGeom>
          <a:noFill/>
          <a:ln/>
        </p:spPr>
        <p:txBody>
          <a:bodyPr wrap="square" lIns="0" tIns="0" rIns="0" bIns="0" rtlCol="0" anchor="ctr"/>
          <a:lstStyle/>
          <a:p>
            <a:pPr algn="ctr" indent="0" marL="0">
              <a:buNone/>
            </a:pPr>
            <a:r>
              <a:rPr lang="en-US" sz="1400" b="1" dirty="0">
                <a:solidFill>
                  <a:srgbClr val="1F4A3A"/>
                </a:solidFill>
                <a:latin typeface="Consolas" pitchFamily="34" charset="0"/>
                <a:ea typeface="Consolas" pitchFamily="34" charset="-122"/>
                <a:cs typeface="Consolas" pitchFamily="34" charset="-120"/>
              </a:rPr>
              <a:t>1</a:t>
            </a:r>
            <a:endParaRPr lang="en-US" sz="1400" dirty="0"/>
          </a:p>
        </p:txBody>
      </p:sp>
      <p:sp>
        <p:nvSpPr>
          <p:cNvPr id="11" name="Shape 8"/>
          <p:cNvSpPr/>
          <p:nvPr/>
        </p:nvSpPr>
        <p:spPr>
          <a:xfrm>
            <a:off x="1060704" y="1901952"/>
            <a:ext cx="2212848" cy="0"/>
          </a:xfrm>
          <a:prstGeom prst="line">
            <a:avLst/>
          </a:prstGeom>
          <a:noFill/>
          <a:ln w="15875">
            <a:solidFill>
              <a:srgbClr val="CBC2AD"/>
            </a:solidFill>
            <a:prstDash val="dash"/>
          </a:ln>
        </p:spPr>
      </p:sp>
      <p:sp>
        <p:nvSpPr>
          <p:cNvPr id="12" name="Text 9"/>
          <p:cNvSpPr txBox="1"/>
          <p:nvPr/>
        </p:nvSpPr>
        <p:spPr>
          <a:xfrm>
            <a:off x="548640" y="2258568"/>
            <a:ext cx="2523744" cy="365760"/>
          </a:xfrm>
          <a:prstGeom prst="rect">
            <a:avLst/>
          </a:prstGeom>
          <a:noFill/>
          <a:ln/>
        </p:spPr>
        <p:txBody>
          <a:bodyPr wrap="square" lIns="0" tIns="0" rIns="0" bIns="0" rtlCol="0" anchor="t"/>
          <a:lstStyle/>
          <a:p>
            <a:pPr indent="0" marL="0">
              <a:buNone/>
            </a:pPr>
            <a:r>
              <a:rPr lang="en-US" sz="1800" dirty="0">
                <a:solidFill>
                  <a:srgbClr val="17211C"/>
                </a:solidFill>
                <a:latin typeface="Georgia" pitchFamily="34" charset="0"/>
                <a:ea typeface="Georgia" pitchFamily="34" charset="-122"/>
                <a:cs typeface="Georgia" pitchFamily="34" charset="-120"/>
              </a:rPr>
              <a:t>Demande</a:t>
            </a:r>
            <a:endParaRPr lang="en-US" sz="1800" dirty="0"/>
          </a:p>
        </p:txBody>
      </p:sp>
      <p:sp>
        <p:nvSpPr>
          <p:cNvPr id="13" name="Text 10"/>
          <p:cNvSpPr txBox="1"/>
          <p:nvPr/>
        </p:nvSpPr>
        <p:spPr>
          <a:xfrm>
            <a:off x="548640" y="2651760"/>
            <a:ext cx="2478024" cy="1188720"/>
          </a:xfrm>
          <a:prstGeom prst="rect">
            <a:avLst/>
          </a:prstGeom>
          <a:noFill/>
          <a:ln/>
        </p:spPr>
        <p:txBody>
          <a:bodyPr wrap="square" lIns="0" tIns="0" rIns="0" bIns="0" rtlCol="0" anchor="t"/>
          <a:lstStyle/>
          <a:p>
            <a:pPr indent="0" marL="0">
              <a:buNone/>
            </a:pPr>
            <a:r>
              <a:rPr lang="en-US" sz="1250" dirty="0">
                <a:solidFill>
                  <a:srgbClr val="3F4842"/>
                </a:solidFill>
                <a:latin typeface="Calibri" pitchFamily="34" charset="0"/>
                <a:ea typeface="Calibri" pitchFamily="34" charset="-122"/>
                <a:cs typeface="Calibri" pitchFamily="34" charset="-120"/>
              </a:rPr>
              <a:t>La responsable de la DRH demande le transfert de IMP-2024-0001 vers le SCA, avec un motif. Sa validation « départ » est automatique.</a:t>
            </a:r>
            <a:endParaRPr lang="en-US" sz="1250" dirty="0"/>
          </a:p>
        </p:txBody>
      </p:sp>
      <p:sp>
        <p:nvSpPr>
          <p:cNvPr id="14" name="Shape 11"/>
          <p:cNvSpPr/>
          <p:nvPr/>
        </p:nvSpPr>
        <p:spPr>
          <a:xfrm>
            <a:off x="3364992" y="1691640"/>
            <a:ext cx="420624" cy="420624"/>
          </a:xfrm>
          <a:prstGeom prst="ellipse">
            <a:avLst/>
          </a:prstGeom>
          <a:solidFill>
            <a:srgbClr val="FBF9F4"/>
          </a:solidFill>
          <a:ln w="19050">
            <a:solidFill>
              <a:srgbClr val="1F4A3A"/>
            </a:solidFill>
            <a:prstDash val="solid"/>
          </a:ln>
        </p:spPr>
      </p:sp>
      <p:sp>
        <p:nvSpPr>
          <p:cNvPr id="15" name="Text 12"/>
          <p:cNvSpPr txBox="1"/>
          <p:nvPr/>
        </p:nvSpPr>
        <p:spPr>
          <a:xfrm>
            <a:off x="3364992" y="1691640"/>
            <a:ext cx="420624" cy="420624"/>
          </a:xfrm>
          <a:prstGeom prst="rect">
            <a:avLst/>
          </a:prstGeom>
          <a:noFill/>
          <a:ln/>
        </p:spPr>
        <p:txBody>
          <a:bodyPr wrap="square" lIns="0" tIns="0" rIns="0" bIns="0" rtlCol="0" anchor="ctr"/>
          <a:lstStyle/>
          <a:p>
            <a:pPr algn="ctr" indent="0" marL="0">
              <a:buNone/>
            </a:pPr>
            <a:r>
              <a:rPr lang="en-US" sz="1400" b="1" dirty="0">
                <a:solidFill>
                  <a:srgbClr val="1F4A3A"/>
                </a:solidFill>
                <a:latin typeface="Consolas" pitchFamily="34" charset="0"/>
                <a:ea typeface="Consolas" pitchFamily="34" charset="-122"/>
                <a:cs typeface="Consolas" pitchFamily="34" charset="-120"/>
              </a:rPr>
              <a:t>2</a:t>
            </a:r>
            <a:endParaRPr lang="en-US" sz="1400" dirty="0"/>
          </a:p>
        </p:txBody>
      </p:sp>
      <p:sp>
        <p:nvSpPr>
          <p:cNvPr id="16" name="Shape 13"/>
          <p:cNvSpPr/>
          <p:nvPr/>
        </p:nvSpPr>
        <p:spPr>
          <a:xfrm>
            <a:off x="3877056" y="1901952"/>
            <a:ext cx="2212848" cy="0"/>
          </a:xfrm>
          <a:prstGeom prst="line">
            <a:avLst/>
          </a:prstGeom>
          <a:noFill/>
          <a:ln w="15875">
            <a:solidFill>
              <a:srgbClr val="CBC2AD"/>
            </a:solidFill>
            <a:prstDash val="dash"/>
          </a:ln>
        </p:spPr>
      </p:sp>
      <p:sp>
        <p:nvSpPr>
          <p:cNvPr id="17" name="Text 14"/>
          <p:cNvSpPr txBox="1"/>
          <p:nvPr/>
        </p:nvSpPr>
        <p:spPr>
          <a:xfrm>
            <a:off x="3364992" y="2258568"/>
            <a:ext cx="2523744" cy="365760"/>
          </a:xfrm>
          <a:prstGeom prst="rect">
            <a:avLst/>
          </a:prstGeom>
          <a:noFill/>
          <a:ln/>
        </p:spPr>
        <p:txBody>
          <a:bodyPr wrap="square" lIns="0" tIns="0" rIns="0" bIns="0" rtlCol="0" anchor="t"/>
          <a:lstStyle/>
          <a:p>
            <a:pPr indent="0" marL="0">
              <a:buNone/>
            </a:pPr>
            <a:r>
              <a:rPr lang="en-US" sz="1800" dirty="0">
                <a:solidFill>
                  <a:srgbClr val="17211C"/>
                </a:solidFill>
                <a:latin typeface="Georgia" pitchFamily="34" charset="0"/>
                <a:ea typeface="Georgia" pitchFamily="34" charset="-122"/>
                <a:cs typeface="Georgia" pitchFamily="34" charset="-120"/>
              </a:rPr>
              <a:t>En attente</a:t>
            </a:r>
            <a:endParaRPr lang="en-US" sz="1800" dirty="0"/>
          </a:p>
        </p:txBody>
      </p:sp>
      <p:sp>
        <p:nvSpPr>
          <p:cNvPr id="18" name="Text 15"/>
          <p:cNvSpPr txBox="1"/>
          <p:nvPr/>
        </p:nvSpPr>
        <p:spPr>
          <a:xfrm>
            <a:off x="3364992" y="2651760"/>
            <a:ext cx="2478024" cy="1188720"/>
          </a:xfrm>
          <a:prstGeom prst="rect">
            <a:avLst/>
          </a:prstGeom>
          <a:noFill/>
          <a:ln/>
        </p:spPr>
        <p:txBody>
          <a:bodyPr wrap="square" lIns="0" tIns="0" rIns="0" bIns="0" rtlCol="0" anchor="t"/>
          <a:lstStyle/>
          <a:p>
            <a:pPr indent="0" marL="0">
              <a:buNone/>
            </a:pPr>
            <a:r>
              <a:rPr lang="en-US" sz="1250" dirty="0">
                <a:solidFill>
                  <a:srgbClr val="3F4842"/>
                </a:solidFill>
                <a:latin typeface="Calibri" pitchFamily="34" charset="0"/>
                <a:ea typeface="Calibri" pitchFamily="34" charset="-122"/>
                <a:cs typeface="Calibri" pitchFamily="34" charset="-120"/>
              </a:rPr>
              <a:t>Le matériel reste à la DRH. La demande apparaît dans « Transferts » et sur le tableau de bord du SCA.</a:t>
            </a:r>
            <a:endParaRPr lang="en-US" sz="1250" dirty="0"/>
          </a:p>
        </p:txBody>
      </p:sp>
      <p:sp>
        <p:nvSpPr>
          <p:cNvPr id="19" name="Shape 16"/>
          <p:cNvSpPr/>
          <p:nvPr/>
        </p:nvSpPr>
        <p:spPr>
          <a:xfrm>
            <a:off x="6181344" y="1691640"/>
            <a:ext cx="420624" cy="420624"/>
          </a:xfrm>
          <a:prstGeom prst="ellipse">
            <a:avLst/>
          </a:prstGeom>
          <a:solidFill>
            <a:srgbClr val="FBF9F4"/>
          </a:solidFill>
          <a:ln w="19050">
            <a:solidFill>
              <a:srgbClr val="1F4A3A"/>
            </a:solidFill>
            <a:prstDash val="solid"/>
          </a:ln>
        </p:spPr>
      </p:sp>
      <p:sp>
        <p:nvSpPr>
          <p:cNvPr id="20" name="Text 17"/>
          <p:cNvSpPr txBox="1"/>
          <p:nvPr/>
        </p:nvSpPr>
        <p:spPr>
          <a:xfrm>
            <a:off x="6181344" y="1691640"/>
            <a:ext cx="420624" cy="420624"/>
          </a:xfrm>
          <a:prstGeom prst="rect">
            <a:avLst/>
          </a:prstGeom>
          <a:noFill/>
          <a:ln/>
        </p:spPr>
        <p:txBody>
          <a:bodyPr wrap="square" lIns="0" tIns="0" rIns="0" bIns="0" rtlCol="0" anchor="ctr"/>
          <a:lstStyle/>
          <a:p>
            <a:pPr algn="ctr" indent="0" marL="0">
              <a:buNone/>
            </a:pPr>
            <a:r>
              <a:rPr lang="en-US" sz="1400" b="1" dirty="0">
                <a:solidFill>
                  <a:srgbClr val="1F4A3A"/>
                </a:solidFill>
                <a:latin typeface="Consolas" pitchFamily="34" charset="0"/>
                <a:ea typeface="Consolas" pitchFamily="34" charset="-122"/>
                <a:cs typeface="Consolas" pitchFamily="34" charset="-120"/>
              </a:rPr>
              <a:t>3</a:t>
            </a:r>
            <a:endParaRPr lang="en-US" sz="1400" dirty="0"/>
          </a:p>
        </p:txBody>
      </p:sp>
      <p:sp>
        <p:nvSpPr>
          <p:cNvPr id="21" name="Shape 18"/>
          <p:cNvSpPr/>
          <p:nvPr/>
        </p:nvSpPr>
        <p:spPr>
          <a:xfrm>
            <a:off x="6693408" y="1901952"/>
            <a:ext cx="2212848" cy="0"/>
          </a:xfrm>
          <a:prstGeom prst="line">
            <a:avLst/>
          </a:prstGeom>
          <a:noFill/>
          <a:ln w="15875">
            <a:solidFill>
              <a:srgbClr val="CBC2AD"/>
            </a:solidFill>
            <a:prstDash val="dash"/>
          </a:ln>
        </p:spPr>
      </p:sp>
      <p:sp>
        <p:nvSpPr>
          <p:cNvPr id="22" name="Text 19"/>
          <p:cNvSpPr txBox="1"/>
          <p:nvPr/>
        </p:nvSpPr>
        <p:spPr>
          <a:xfrm>
            <a:off x="6181344" y="2258568"/>
            <a:ext cx="2523744" cy="365760"/>
          </a:xfrm>
          <a:prstGeom prst="rect">
            <a:avLst/>
          </a:prstGeom>
          <a:noFill/>
          <a:ln/>
        </p:spPr>
        <p:txBody>
          <a:bodyPr wrap="square" lIns="0" tIns="0" rIns="0" bIns="0" rtlCol="0" anchor="t"/>
          <a:lstStyle/>
          <a:p>
            <a:pPr indent="0" marL="0">
              <a:buNone/>
            </a:pPr>
            <a:r>
              <a:rPr lang="en-US" sz="1800" dirty="0">
                <a:solidFill>
                  <a:srgbClr val="17211C"/>
                </a:solidFill>
                <a:latin typeface="Georgia" pitchFamily="34" charset="0"/>
                <a:ea typeface="Georgia" pitchFamily="34" charset="-122"/>
                <a:cs typeface="Georgia" pitchFamily="34" charset="-120"/>
              </a:rPr>
              <a:t>Validation d'arrivée</a:t>
            </a:r>
            <a:endParaRPr lang="en-US" sz="1800" dirty="0"/>
          </a:p>
        </p:txBody>
      </p:sp>
      <p:sp>
        <p:nvSpPr>
          <p:cNvPr id="23" name="Text 20"/>
          <p:cNvSpPr txBox="1"/>
          <p:nvPr/>
        </p:nvSpPr>
        <p:spPr>
          <a:xfrm>
            <a:off x="6181344" y="2651760"/>
            <a:ext cx="2478024" cy="1188720"/>
          </a:xfrm>
          <a:prstGeom prst="rect">
            <a:avLst/>
          </a:prstGeom>
          <a:noFill/>
          <a:ln/>
        </p:spPr>
        <p:txBody>
          <a:bodyPr wrap="square" lIns="0" tIns="0" rIns="0" bIns="0" rtlCol="0" anchor="t"/>
          <a:lstStyle/>
          <a:p>
            <a:pPr indent="0" marL="0">
              <a:buNone/>
            </a:pPr>
            <a:r>
              <a:rPr lang="en-US" sz="1250" dirty="0">
                <a:solidFill>
                  <a:srgbClr val="3F4842"/>
                </a:solidFill>
                <a:latin typeface="Calibri" pitchFamily="34" charset="0"/>
                <a:ea typeface="Calibri" pitchFamily="34" charset="-122"/>
                <a:cs typeface="Calibri" pitchFamily="34" charset="-120"/>
              </a:rPr>
              <a:t>Le responsable du SCA valide… ou refuse, en indiquant la raison du refus.</a:t>
            </a:r>
            <a:endParaRPr lang="en-US" sz="1250" dirty="0"/>
          </a:p>
        </p:txBody>
      </p:sp>
      <p:sp>
        <p:nvSpPr>
          <p:cNvPr id="24" name="Shape 21"/>
          <p:cNvSpPr/>
          <p:nvPr/>
        </p:nvSpPr>
        <p:spPr>
          <a:xfrm>
            <a:off x="8997696" y="1691640"/>
            <a:ext cx="420624" cy="420624"/>
          </a:xfrm>
          <a:prstGeom prst="ellipse">
            <a:avLst/>
          </a:prstGeom>
          <a:solidFill>
            <a:srgbClr val="1F4A3A"/>
          </a:solidFill>
          <a:ln w="19050">
            <a:solidFill>
              <a:srgbClr val="1F4A3A"/>
            </a:solidFill>
            <a:prstDash val="solid"/>
          </a:ln>
        </p:spPr>
      </p:sp>
      <p:sp>
        <p:nvSpPr>
          <p:cNvPr id="25" name="Text 22"/>
          <p:cNvSpPr txBox="1"/>
          <p:nvPr/>
        </p:nvSpPr>
        <p:spPr>
          <a:xfrm>
            <a:off x="8997696" y="169164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onsolas" pitchFamily="34" charset="0"/>
                <a:ea typeface="Consolas" pitchFamily="34" charset="-122"/>
                <a:cs typeface="Consolas" pitchFamily="34" charset="-120"/>
              </a:rPr>
              <a:t>4</a:t>
            </a:r>
            <a:endParaRPr lang="en-US" sz="1400" dirty="0"/>
          </a:p>
        </p:txBody>
      </p:sp>
      <p:sp>
        <p:nvSpPr>
          <p:cNvPr id="26" name="Text 23"/>
          <p:cNvSpPr txBox="1"/>
          <p:nvPr/>
        </p:nvSpPr>
        <p:spPr>
          <a:xfrm>
            <a:off x="8997696" y="2258568"/>
            <a:ext cx="2523744" cy="365760"/>
          </a:xfrm>
          <a:prstGeom prst="rect">
            <a:avLst/>
          </a:prstGeom>
          <a:noFill/>
          <a:ln/>
        </p:spPr>
        <p:txBody>
          <a:bodyPr wrap="square" lIns="0" tIns="0" rIns="0" bIns="0" rtlCol="0" anchor="t"/>
          <a:lstStyle/>
          <a:p>
            <a:pPr indent="0" marL="0">
              <a:buNone/>
            </a:pPr>
            <a:r>
              <a:rPr lang="en-US" sz="1800" dirty="0">
                <a:solidFill>
                  <a:srgbClr val="17211C"/>
                </a:solidFill>
                <a:latin typeface="Georgia" pitchFamily="34" charset="0"/>
                <a:ea typeface="Georgia" pitchFamily="34" charset="-122"/>
                <a:cs typeface="Georgia" pitchFamily="34" charset="-120"/>
              </a:rPr>
              <a:t>Transfert exécuté</a:t>
            </a:r>
            <a:endParaRPr lang="en-US" sz="1800" dirty="0"/>
          </a:p>
        </p:txBody>
      </p:sp>
      <p:sp>
        <p:nvSpPr>
          <p:cNvPr id="27" name="Text 24"/>
          <p:cNvSpPr txBox="1"/>
          <p:nvPr/>
        </p:nvSpPr>
        <p:spPr>
          <a:xfrm>
            <a:off x="8997696" y="2651760"/>
            <a:ext cx="2478024" cy="1188720"/>
          </a:xfrm>
          <a:prstGeom prst="rect">
            <a:avLst/>
          </a:prstGeom>
          <a:noFill/>
          <a:ln/>
        </p:spPr>
        <p:txBody>
          <a:bodyPr wrap="square" lIns="0" tIns="0" rIns="0" bIns="0" rtlCol="0" anchor="t"/>
          <a:lstStyle/>
          <a:p>
            <a:pPr indent="0" marL="0">
              <a:buNone/>
            </a:pPr>
            <a:r>
              <a:rPr lang="en-US" sz="1250" dirty="0">
                <a:solidFill>
                  <a:srgbClr val="3F4842"/>
                </a:solidFill>
                <a:latin typeface="Calibri" pitchFamily="34" charset="0"/>
                <a:ea typeface="Calibri" pitchFamily="34" charset="-122"/>
                <a:cs typeface="Calibri" pitchFamily="34" charset="-120"/>
              </a:rPr>
              <a:t>Nouvelle direction + ligne dans l'historique, écrites dans la même transaction.</a:t>
            </a:r>
            <a:endParaRPr lang="en-US" sz="1250" dirty="0"/>
          </a:p>
        </p:txBody>
      </p:sp>
      <p:sp>
        <p:nvSpPr>
          <p:cNvPr id="28" name="Shape 25"/>
          <p:cNvSpPr/>
          <p:nvPr/>
        </p:nvSpPr>
        <p:spPr>
          <a:xfrm rot="-480000">
            <a:off x="10104120" y="1572768"/>
            <a:ext cx="1417320" cy="502920"/>
          </a:xfrm>
          <a:prstGeom prst="rect">
            <a:avLst/>
          </a:prstGeom>
          <a:solidFill>
            <a:srgbClr val="FFFFFF">
              <a:alpha val="0"/>
            </a:srgbClr>
          </a:solidFill>
          <a:ln w="28575">
            <a:solidFill>
              <a:srgbClr val="2E7250"/>
            </a:solidFill>
            <a:prstDash val="solid"/>
          </a:ln>
        </p:spPr>
      </p:sp>
      <p:sp>
        <p:nvSpPr>
          <p:cNvPr id="29" name="Shape 26"/>
          <p:cNvSpPr/>
          <p:nvPr/>
        </p:nvSpPr>
        <p:spPr>
          <a:xfrm rot="-480000">
            <a:off x="10158984" y="1627632"/>
            <a:ext cx="1307592" cy="393192"/>
          </a:xfrm>
          <a:prstGeom prst="rect">
            <a:avLst/>
          </a:prstGeom>
          <a:solidFill>
            <a:srgbClr val="FFFFFF">
              <a:alpha val="0"/>
            </a:srgbClr>
          </a:solidFill>
          <a:ln w="9525">
            <a:solidFill>
              <a:srgbClr val="2E7250"/>
            </a:solidFill>
            <a:prstDash val="solid"/>
          </a:ln>
        </p:spPr>
      </p:sp>
      <p:sp>
        <p:nvSpPr>
          <p:cNvPr id="30" name="Text 27"/>
          <p:cNvSpPr txBox="1"/>
          <p:nvPr/>
        </p:nvSpPr>
        <p:spPr>
          <a:xfrm rot="-480000">
            <a:off x="10104120" y="1572768"/>
            <a:ext cx="1417320" cy="502920"/>
          </a:xfrm>
          <a:prstGeom prst="rect">
            <a:avLst/>
          </a:prstGeom>
          <a:noFill/>
          <a:ln/>
        </p:spPr>
        <p:txBody>
          <a:bodyPr wrap="square" lIns="0" tIns="0" rIns="0" bIns="0" rtlCol="0" anchor="ctr"/>
          <a:lstStyle/>
          <a:p>
            <a:pPr algn="ctr" indent="0" marL="0">
              <a:buNone/>
            </a:pPr>
            <a:r>
              <a:rPr lang="en-US" sz="1500" b="1" spc="400" kern="0" dirty="0">
                <a:solidFill>
                  <a:srgbClr val="2E7250"/>
                </a:solidFill>
                <a:latin typeface="Consolas" pitchFamily="34" charset="0"/>
                <a:ea typeface="Consolas" pitchFamily="34" charset="-122"/>
                <a:cs typeface="Consolas" pitchFamily="34" charset="-120"/>
              </a:rPr>
              <a:t>VALIDÉ</a:t>
            </a:r>
            <a:endParaRPr lang="en-US" sz="1500" dirty="0"/>
          </a:p>
        </p:txBody>
      </p:sp>
      <p:sp>
        <p:nvSpPr>
          <p:cNvPr id="31" name="Text 28"/>
          <p:cNvSpPr txBox="1"/>
          <p:nvPr/>
        </p:nvSpPr>
        <p:spPr>
          <a:xfrm>
            <a:off x="548640" y="3931920"/>
            <a:ext cx="5486400" cy="228600"/>
          </a:xfrm>
          <a:prstGeom prst="rect">
            <a:avLst/>
          </a:prstGeom>
          <a:noFill/>
          <a:ln/>
        </p:spPr>
        <p:txBody>
          <a:bodyPr wrap="square" lIns="0" tIns="0" rIns="0" bIns="0" rtlCol="0" anchor="t"/>
          <a:lstStyle/>
          <a:p>
            <a:pPr indent="0" marL="0">
              <a:buNone/>
            </a:pPr>
            <a:r>
              <a:rPr lang="en-US" sz="1000" b="1" spc="200" kern="0" dirty="0">
                <a:solidFill>
                  <a:srgbClr val="1F4A3A"/>
                </a:solidFill>
                <a:latin typeface="Consolas" pitchFamily="34" charset="0"/>
                <a:ea typeface="Consolas" pitchFamily="34" charset="-122"/>
                <a:cs typeface="Consolas" pitchFamily="34" charset="-120"/>
              </a:rPr>
              <a:t>CE QUE VOIT UN RESPONSABLE D'INVENTAIRE</a:t>
            </a:r>
            <a:endParaRPr lang="en-US" sz="1000" dirty="0"/>
          </a:p>
        </p:txBody>
      </p:sp>
      <p:sp>
        <p:nvSpPr>
          <p:cNvPr id="32" name="Shape 29"/>
          <p:cNvSpPr/>
          <p:nvPr/>
        </p:nvSpPr>
        <p:spPr>
          <a:xfrm>
            <a:off x="548640" y="4251960"/>
            <a:ext cx="11094415" cy="1386802"/>
          </a:xfrm>
          <a:prstGeom prst="rect">
            <a:avLst/>
          </a:prstGeom>
          <a:solidFill>
            <a:srgbClr val="FFFFFF"/>
          </a:solidFill>
          <a:ln w="9525">
            <a:solidFill>
              <a:srgbClr val="C9C0AC"/>
            </a:solidFill>
            <a:prstDash val="solid"/>
          </a:ln>
          <a:effectLst>
            <a:outerShdw sx="100000" sy="100000" kx="0" ky="0" algn="bl" rotWithShape="0" blurRad="177800" dist="50800" dir="5400000">
              <a:srgbClr val="1A2E25">
                <a:alpha val="16000"/>
              </a:srgbClr>
            </a:outerShdw>
          </a:effectLst>
        </p:spPr>
      </p:sp>
      <p:pic>
        <p:nvPicPr>
          <p:cNvPr id="33" name="Image 0" descr="/tmp/claude-0/-home-user-ourwa/8231f12d-bf28-5433-a361-75f92448dec8/scratchpad/slides-img/s-demande.png">    </p:cNvPr>
          <p:cNvPicPr>
            <a:picLocks noChangeAspect="1"/>
          </p:cNvPicPr>
          <p:nvPr/>
        </p:nvPicPr>
        <p:blipFill>
          <a:blip r:embed="rId1"/>
          <a:stretch>
            <a:fillRect/>
          </a:stretch>
        </p:blipFill>
        <p:spPr>
          <a:xfrm>
            <a:off x="548640" y="4251960"/>
            <a:ext cx="11094415" cy="1386802"/>
          </a:xfrm>
          <a:prstGeom prst="rect">
            <a:avLst/>
          </a:prstGeom>
        </p:spPr>
      </p:pic>
      <p:sp>
        <p:nvSpPr>
          <p:cNvPr id="34" name="Text 30"/>
          <p:cNvSpPr txBox="1"/>
          <p:nvPr/>
        </p:nvSpPr>
        <p:spPr>
          <a:xfrm>
            <a:off x="548640" y="5897880"/>
            <a:ext cx="11094415" cy="365760"/>
          </a:xfrm>
          <a:prstGeom prst="rect">
            <a:avLst/>
          </a:prstGeom>
          <a:noFill/>
          <a:ln/>
        </p:spPr>
        <p:txBody>
          <a:bodyPr wrap="square" lIns="0" tIns="0" rIns="0" bIns="0" rtlCol="0" anchor="t"/>
          <a:lstStyle/>
          <a:p>
            <a:pPr indent="0" marL="0">
              <a:buNone/>
            </a:pPr>
            <a:r>
              <a:rPr lang="en-US" sz="1200" b="1" dirty="0">
                <a:solidFill>
                  <a:srgbClr val="17211C"/>
                </a:solidFill>
                <a:latin typeface="Calibri" pitchFamily="34" charset="0"/>
                <a:ea typeface="Calibri" pitchFamily="34" charset="-122"/>
                <a:cs typeface="Calibri" pitchFamily="34" charset="-120"/>
              </a:rPr>
              <a:t>Garde-fous  </a:t>
            </a:r>
            <a:pPr indent="0" marL="0">
              <a:buNone/>
            </a:pPr>
            <a:r>
              <a:rPr lang="en-US" sz="1200" dirty="0">
                <a:solidFill>
                  <a:srgbClr val="3F4842"/>
                </a:solidFill>
                <a:latin typeface="Calibri" pitchFamily="34" charset="0"/>
                <a:ea typeface="Calibri" pitchFamily="34" charset="-122"/>
                <a:cs typeface="Calibri" pitchFamily="34" charset="-120"/>
              </a:rPr>
              <a:t>pas de transfert d'un matériel réformé · une demande à la fois · annulation automatique si le matériel a bougé entre-temps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EFE6"/>
        </a:solidFill>
      </p:bgPr>
    </p:bg>
    <p:spTree>
      <p:nvGrpSpPr>
        <p:cNvPr id="1" name=""/>
        <p:cNvGrpSpPr/>
        <p:nvPr/>
      </p:nvGrpSpPr>
      <p:grpSpPr>
        <a:xfrm>
          <a:off x="0" y="0"/>
          <a:ext cx="0" cy="0"/>
          <a:chOff x="0" y="0"/>
          <a:chExt cx="0" cy="0"/>
        </a:xfrm>
      </p:grpSpPr>
      <p:sp>
        <p:nvSpPr>
          <p:cNvPr id="2" name="Shape 0"/>
          <p:cNvSpPr/>
          <p:nvPr/>
        </p:nvSpPr>
        <p:spPr>
          <a:xfrm>
            <a:off x="548640" y="384048"/>
            <a:ext cx="2029968" cy="274320"/>
          </a:xfrm>
          <a:prstGeom prst="roundRect">
            <a:avLst>
              <a:gd name="adj" fmla="val 16667"/>
            </a:avLst>
          </a:prstGeom>
          <a:solidFill>
            <a:srgbClr val="FFFDF7"/>
          </a:solidFill>
          <a:ln w="9525">
            <a:solidFill>
              <a:srgbClr val="CBC2AD"/>
            </a:solidFill>
            <a:prstDash val="solid"/>
          </a:ln>
        </p:spPr>
      </p:sp>
      <p:sp>
        <p:nvSpPr>
          <p:cNvPr id="3" name="Shape 1"/>
          <p:cNvSpPr/>
          <p:nvPr/>
        </p:nvSpPr>
        <p:spPr>
          <a:xfrm>
            <a:off x="640080" y="489204"/>
            <a:ext cx="64008" cy="64008"/>
          </a:xfrm>
          <a:prstGeom prst="ellipse">
            <a:avLst/>
          </a:prstGeom>
          <a:solidFill>
            <a:srgbClr val="F3EFE6"/>
          </a:solidFill>
          <a:ln w="9525">
            <a:solidFill>
              <a:srgbClr val="CBC2AD"/>
            </a:solidFill>
            <a:prstDash val="solid"/>
          </a:ln>
        </p:spPr>
      </p:sp>
      <p:sp>
        <p:nvSpPr>
          <p:cNvPr id="4" name="Text 2"/>
          <p:cNvSpPr txBox="1"/>
          <p:nvPr/>
        </p:nvSpPr>
        <p:spPr>
          <a:xfrm>
            <a:off x="768096" y="384048"/>
            <a:ext cx="1792224" cy="274320"/>
          </a:xfrm>
          <a:prstGeom prst="rect">
            <a:avLst/>
          </a:prstGeom>
          <a:noFill/>
          <a:ln/>
        </p:spPr>
        <p:txBody>
          <a:bodyPr wrap="none" lIns="0" tIns="0" rIns="0" bIns="0" rtlCol="0" anchor="ctr"/>
          <a:lstStyle/>
          <a:p>
            <a:pPr indent="0" marL="0">
              <a:buNone/>
            </a:pPr>
            <a:r>
              <a:rPr lang="en-US" sz="1000" spc="100" kern="0" dirty="0">
                <a:solidFill>
                  <a:srgbClr val="17211C"/>
                </a:solidFill>
                <a:latin typeface="Consolas" pitchFamily="34" charset="0"/>
                <a:ea typeface="Consolas" pitchFamily="34" charset="-122"/>
                <a:cs typeface="Consolas" pitchFamily="34" charset="-120"/>
              </a:rPr>
              <a:t>08 · DÉMONSTRATION</a:t>
            </a:r>
            <a:endParaRPr lang="en-US" sz="1000" dirty="0"/>
          </a:p>
        </p:txBody>
      </p:sp>
      <p:sp>
        <p:nvSpPr>
          <p:cNvPr id="5" name="Text 3"/>
          <p:cNvSpPr txBox="1"/>
          <p:nvPr/>
        </p:nvSpPr>
        <p:spPr>
          <a:xfrm>
            <a:off x="548640" y="786384"/>
            <a:ext cx="11094415" cy="731520"/>
          </a:xfrm>
          <a:prstGeom prst="rect">
            <a:avLst/>
          </a:prstGeom>
          <a:noFill/>
          <a:ln/>
        </p:spPr>
        <p:txBody>
          <a:bodyPr wrap="square" lIns="0" tIns="0" rIns="0" bIns="0" rtlCol="0" anchor="ctr"/>
          <a:lstStyle/>
          <a:p>
            <a:pPr indent="0" marL="0">
              <a:buNone/>
            </a:pPr>
            <a:r>
              <a:rPr lang="en-US" sz="3200" dirty="0">
                <a:solidFill>
                  <a:srgbClr val="17211C"/>
                </a:solidFill>
                <a:latin typeface="Georgia" pitchFamily="34" charset="0"/>
                <a:ea typeface="Georgia" pitchFamily="34" charset="-122"/>
                <a:cs typeface="Georgia" pitchFamily="34" charset="-120"/>
              </a:rPr>
              <a:t>Le tableau de bord : l'état du parc en un coup d'œil</a:t>
            </a:r>
            <a:endParaRPr lang="en-US" sz="3200" dirty="0"/>
          </a:p>
        </p:txBody>
      </p:sp>
      <p:sp>
        <p:nvSpPr>
          <p:cNvPr id="7" name="Text 4"/>
          <p:cNvSpPr txBox="1"/>
          <p:nvPr/>
        </p:nvSpPr>
        <p:spPr>
          <a:xfrm>
            <a:off x="10545775" y="6473952"/>
            <a:ext cx="1097280" cy="228600"/>
          </a:xfrm>
          <a:prstGeom prst="rect">
            <a:avLst/>
          </a:prstGeom>
          <a:noFill/>
          <a:ln/>
        </p:spPr>
        <p:txBody>
          <a:bodyPr wrap="square" lIns="0" tIns="0" rIns="0" bIns="0" rtlCol="0" anchor="t"/>
          <a:lstStyle/>
          <a:p>
            <a:pPr algn="r" indent="0" marL="0">
              <a:buNone/>
            </a:pPr>
            <a:r>
              <a:rPr lang="en-US" sz="900" dirty="0">
                <a:solidFill>
                  <a:srgbClr val="767A71"/>
                </a:solidFill>
                <a:latin typeface="Consolas" pitchFamily="34" charset="0"/>
                <a:ea typeface="Consolas" pitchFamily="34" charset="-122"/>
                <a:cs typeface="Consolas" pitchFamily="34" charset="-120"/>
              </a:rPr>
              <a:t>09 / 17</a:t>
            </a:r>
            <a:endParaRPr lang="en-US" sz="900" dirty="0"/>
          </a:p>
        </p:txBody>
      </p:sp>
      <p:sp>
        <p:nvSpPr>
          <p:cNvPr id="8" name="Text 5"/>
          <p:cNvSpPr txBox="1"/>
          <p:nvPr/>
        </p:nvSpPr>
        <p:spPr>
          <a:xfrm>
            <a:off x="548640" y="6473952"/>
            <a:ext cx="1828800" cy="228600"/>
          </a:xfrm>
          <a:prstGeom prst="rect">
            <a:avLst/>
          </a:prstGeom>
          <a:noFill/>
          <a:ln/>
        </p:spPr>
        <p:txBody>
          <a:bodyPr wrap="square" lIns="0" tIns="0" rIns="0" bIns="0" rtlCol="0" anchor="t"/>
          <a:lstStyle/>
          <a:p>
            <a:pPr indent="0" marL="0">
              <a:buNone/>
            </a:pPr>
            <a:r>
              <a:rPr lang="en-US" sz="1000" i="1" dirty="0">
                <a:solidFill>
                  <a:srgbClr val="767A71"/>
                </a:solidFill>
                <a:latin typeface="Georgia" pitchFamily="34" charset="0"/>
                <a:ea typeface="Georgia" pitchFamily="34" charset="-122"/>
                <a:cs typeface="Georgia" pitchFamily="34" charset="-120"/>
              </a:rPr>
              <a:t>Patrimo</a:t>
            </a:r>
            <a:endParaRPr lang="en-US" sz="1000" dirty="0"/>
          </a:p>
        </p:txBody>
      </p:sp>
      <p:sp>
        <p:nvSpPr>
          <p:cNvPr id="9" name="Shape 6"/>
          <p:cNvSpPr/>
          <p:nvPr/>
        </p:nvSpPr>
        <p:spPr>
          <a:xfrm>
            <a:off x="548640" y="1645920"/>
            <a:ext cx="7498080" cy="4686300"/>
          </a:xfrm>
          <a:prstGeom prst="rect">
            <a:avLst/>
          </a:prstGeom>
          <a:solidFill>
            <a:srgbClr val="FFFFFF"/>
          </a:solidFill>
          <a:ln w="9525">
            <a:solidFill>
              <a:srgbClr val="C9C0AC"/>
            </a:solidFill>
            <a:prstDash val="solid"/>
          </a:ln>
          <a:effectLst>
            <a:outerShdw sx="100000" sy="100000" kx="0" ky="0" algn="bl" rotWithShape="0" blurRad="177800" dist="50800" dir="5400000">
              <a:srgbClr val="1A2E25">
                <a:alpha val="16000"/>
              </a:srgbClr>
            </a:outerShdw>
          </a:effectLst>
        </p:spPr>
      </p:sp>
      <p:pic>
        <p:nvPicPr>
          <p:cNvPr id="10" name="Image 0" descr="/tmp/claude-0/-home-user-ourwa/8231f12d-bf28-5433-a361-75f92448dec8/scratchpad/slides-img/s-accueil.png">    </p:cNvPr>
          <p:cNvPicPr>
            <a:picLocks noChangeAspect="1"/>
          </p:cNvPicPr>
          <p:nvPr/>
        </p:nvPicPr>
        <p:blipFill>
          <a:blip r:embed="rId1"/>
          <a:stretch>
            <a:fillRect/>
          </a:stretch>
        </p:blipFill>
        <p:spPr>
          <a:xfrm>
            <a:off x="548640" y="1645920"/>
            <a:ext cx="7498080" cy="4686300"/>
          </a:xfrm>
          <a:prstGeom prst="rect">
            <a:avLst/>
          </a:prstGeom>
        </p:spPr>
      </p:pic>
      <p:sp>
        <p:nvSpPr>
          <p:cNvPr id="11" name="Shape 7"/>
          <p:cNvSpPr/>
          <p:nvPr/>
        </p:nvSpPr>
        <p:spPr>
          <a:xfrm>
            <a:off x="1771193" y="2709139"/>
            <a:ext cx="329184" cy="329184"/>
          </a:xfrm>
          <a:prstGeom prst="ellipse">
            <a:avLst/>
          </a:prstGeom>
          <a:solidFill>
            <a:srgbClr val="1F4A3A"/>
          </a:solidFill>
          <a:ln w="19050">
            <a:solidFill>
              <a:srgbClr val="FFFFFF"/>
            </a:solidFill>
            <a:prstDash val="solid"/>
          </a:ln>
        </p:spPr>
      </p:sp>
      <p:sp>
        <p:nvSpPr>
          <p:cNvPr id="12" name="Text 8"/>
          <p:cNvSpPr txBox="1"/>
          <p:nvPr/>
        </p:nvSpPr>
        <p:spPr>
          <a:xfrm>
            <a:off x="1771193" y="2709139"/>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1</a:t>
            </a:r>
            <a:endParaRPr lang="en-US" sz="1200" dirty="0"/>
          </a:p>
        </p:txBody>
      </p:sp>
      <p:sp>
        <p:nvSpPr>
          <p:cNvPr id="13" name="Shape 9"/>
          <p:cNvSpPr/>
          <p:nvPr/>
        </p:nvSpPr>
        <p:spPr>
          <a:xfrm>
            <a:off x="1808683" y="3393338"/>
            <a:ext cx="329184" cy="329184"/>
          </a:xfrm>
          <a:prstGeom prst="ellipse">
            <a:avLst/>
          </a:prstGeom>
          <a:solidFill>
            <a:srgbClr val="1F4A3A"/>
          </a:solidFill>
          <a:ln w="19050">
            <a:solidFill>
              <a:srgbClr val="FFFFFF"/>
            </a:solidFill>
            <a:prstDash val="solid"/>
          </a:ln>
        </p:spPr>
      </p:sp>
      <p:sp>
        <p:nvSpPr>
          <p:cNvPr id="14" name="Text 10"/>
          <p:cNvSpPr txBox="1"/>
          <p:nvPr/>
        </p:nvSpPr>
        <p:spPr>
          <a:xfrm>
            <a:off x="1808683" y="339333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2</a:t>
            </a:r>
            <a:endParaRPr lang="en-US" sz="1200" dirty="0"/>
          </a:p>
        </p:txBody>
      </p:sp>
      <p:sp>
        <p:nvSpPr>
          <p:cNvPr id="15" name="Shape 11"/>
          <p:cNvSpPr/>
          <p:nvPr/>
        </p:nvSpPr>
        <p:spPr>
          <a:xfrm>
            <a:off x="5452750" y="3393338"/>
            <a:ext cx="329184" cy="329184"/>
          </a:xfrm>
          <a:prstGeom prst="ellipse">
            <a:avLst/>
          </a:prstGeom>
          <a:solidFill>
            <a:srgbClr val="1F4A3A"/>
          </a:solidFill>
          <a:ln w="19050">
            <a:solidFill>
              <a:srgbClr val="FFFFFF"/>
            </a:solidFill>
            <a:prstDash val="solid"/>
          </a:ln>
        </p:spPr>
      </p:sp>
      <p:sp>
        <p:nvSpPr>
          <p:cNvPr id="16" name="Text 12"/>
          <p:cNvSpPr txBox="1"/>
          <p:nvPr/>
        </p:nvSpPr>
        <p:spPr>
          <a:xfrm>
            <a:off x="5452750" y="339333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3</a:t>
            </a:r>
            <a:endParaRPr lang="en-US" sz="1200" dirty="0"/>
          </a:p>
        </p:txBody>
      </p:sp>
      <p:sp>
        <p:nvSpPr>
          <p:cNvPr id="17" name="Shape 13"/>
          <p:cNvSpPr/>
          <p:nvPr/>
        </p:nvSpPr>
        <p:spPr>
          <a:xfrm>
            <a:off x="8503920" y="1783080"/>
            <a:ext cx="329184" cy="329184"/>
          </a:xfrm>
          <a:prstGeom prst="ellipse">
            <a:avLst/>
          </a:prstGeom>
          <a:solidFill>
            <a:srgbClr val="1F4A3A"/>
          </a:solidFill>
          <a:ln w="19050">
            <a:solidFill>
              <a:srgbClr val="FFFFFF"/>
            </a:solidFill>
            <a:prstDash val="solid"/>
          </a:ln>
        </p:spPr>
      </p:sp>
      <p:sp>
        <p:nvSpPr>
          <p:cNvPr id="18" name="Text 14"/>
          <p:cNvSpPr txBox="1"/>
          <p:nvPr/>
        </p:nvSpPr>
        <p:spPr>
          <a:xfrm>
            <a:off x="8503920" y="178308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1</a:t>
            </a:r>
            <a:endParaRPr lang="en-US" sz="1200" dirty="0"/>
          </a:p>
        </p:txBody>
      </p:sp>
      <p:sp>
        <p:nvSpPr>
          <p:cNvPr id="19" name="Text 15"/>
          <p:cNvSpPr txBox="1"/>
          <p:nvPr/>
        </p:nvSpPr>
        <p:spPr>
          <a:xfrm>
            <a:off x="8961120" y="1764792"/>
            <a:ext cx="2651760" cy="347472"/>
          </a:xfrm>
          <a:prstGeom prst="rect">
            <a:avLst/>
          </a:prstGeom>
          <a:noFill/>
          <a:ln/>
        </p:spPr>
        <p:txBody>
          <a:bodyPr wrap="square" lIns="0" tIns="0" rIns="0" bIns="0" rtlCol="0" anchor="t"/>
          <a:lstStyle/>
          <a:p>
            <a:pPr indent="0" marL="0">
              <a:buNone/>
            </a:pPr>
            <a:r>
              <a:rPr lang="en-US" sz="1700" dirty="0">
                <a:solidFill>
                  <a:srgbClr val="17211C"/>
                </a:solidFill>
                <a:latin typeface="Georgia" pitchFamily="34" charset="0"/>
                <a:ea typeface="Georgia" pitchFamily="34" charset="-122"/>
                <a:cs typeface="Georgia" pitchFamily="34" charset="-120"/>
              </a:rPr>
              <a:t>Les chiffres clés</a:t>
            </a:r>
            <a:endParaRPr lang="en-US" sz="1700" dirty="0"/>
          </a:p>
        </p:txBody>
      </p:sp>
      <p:sp>
        <p:nvSpPr>
          <p:cNvPr id="20" name="Text 16"/>
          <p:cNvSpPr txBox="1"/>
          <p:nvPr/>
        </p:nvSpPr>
        <p:spPr>
          <a:xfrm>
            <a:off x="8961120" y="2148840"/>
            <a:ext cx="2651760" cy="868680"/>
          </a:xfrm>
          <a:prstGeom prst="rect">
            <a:avLst/>
          </a:prstGeom>
          <a:noFill/>
          <a:ln/>
        </p:spPr>
        <p:txBody>
          <a:bodyPr wrap="square" lIns="0" tIns="0" rIns="0" bIns="0" rtlCol="0" anchor="t"/>
          <a:lstStyle/>
          <a:p>
            <a:pPr indent="0" marL="0">
              <a:buNone/>
            </a:pPr>
            <a:r>
              <a:rPr lang="en-US" sz="1200" dirty="0">
                <a:solidFill>
                  <a:srgbClr val="3F4842"/>
                </a:solidFill>
                <a:latin typeface="Calibri" pitchFamily="34" charset="0"/>
                <a:ea typeface="Calibri" pitchFamily="34" charset="-122"/>
                <a:cs typeface="Calibri" pitchFamily="34" charset="-120"/>
              </a:rPr>
              <a:t>Total, en service, en panne, en réparation, réformés — chaque case ouvre la liste filtrée.</a:t>
            </a:r>
            <a:endParaRPr lang="en-US" sz="1200" dirty="0"/>
          </a:p>
        </p:txBody>
      </p:sp>
      <p:sp>
        <p:nvSpPr>
          <p:cNvPr id="21" name="Shape 17"/>
          <p:cNvSpPr/>
          <p:nvPr/>
        </p:nvSpPr>
        <p:spPr>
          <a:xfrm>
            <a:off x="8503920" y="3154680"/>
            <a:ext cx="329184" cy="329184"/>
          </a:xfrm>
          <a:prstGeom prst="ellipse">
            <a:avLst/>
          </a:prstGeom>
          <a:solidFill>
            <a:srgbClr val="1F4A3A"/>
          </a:solidFill>
          <a:ln w="19050">
            <a:solidFill>
              <a:srgbClr val="FFFFFF"/>
            </a:solidFill>
            <a:prstDash val="solid"/>
          </a:ln>
        </p:spPr>
      </p:sp>
      <p:sp>
        <p:nvSpPr>
          <p:cNvPr id="22" name="Text 18"/>
          <p:cNvSpPr txBox="1"/>
          <p:nvPr/>
        </p:nvSpPr>
        <p:spPr>
          <a:xfrm>
            <a:off x="8503920" y="315468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2</a:t>
            </a:r>
            <a:endParaRPr lang="en-US" sz="1200" dirty="0"/>
          </a:p>
        </p:txBody>
      </p:sp>
      <p:sp>
        <p:nvSpPr>
          <p:cNvPr id="23" name="Text 19"/>
          <p:cNvSpPr txBox="1"/>
          <p:nvPr/>
        </p:nvSpPr>
        <p:spPr>
          <a:xfrm>
            <a:off x="8961120" y="3136392"/>
            <a:ext cx="2651760" cy="347472"/>
          </a:xfrm>
          <a:prstGeom prst="rect">
            <a:avLst/>
          </a:prstGeom>
          <a:noFill/>
          <a:ln/>
        </p:spPr>
        <p:txBody>
          <a:bodyPr wrap="square" lIns="0" tIns="0" rIns="0" bIns="0" rtlCol="0" anchor="t"/>
          <a:lstStyle/>
          <a:p>
            <a:pPr indent="0" marL="0">
              <a:buNone/>
            </a:pPr>
            <a:r>
              <a:rPr lang="en-US" sz="1700" dirty="0">
                <a:solidFill>
                  <a:srgbClr val="17211C"/>
                </a:solidFill>
                <a:latin typeface="Georgia" pitchFamily="34" charset="0"/>
                <a:ea typeface="Georgia" pitchFamily="34" charset="-122"/>
                <a:cs typeface="Georgia" pitchFamily="34" charset="-120"/>
              </a:rPr>
              <a:t>Par direction</a:t>
            </a:r>
            <a:endParaRPr lang="en-US" sz="1700" dirty="0"/>
          </a:p>
        </p:txBody>
      </p:sp>
      <p:sp>
        <p:nvSpPr>
          <p:cNvPr id="24" name="Text 20"/>
          <p:cNvSpPr txBox="1"/>
          <p:nvPr/>
        </p:nvSpPr>
        <p:spPr>
          <a:xfrm>
            <a:off x="8961120" y="3520440"/>
            <a:ext cx="2651760" cy="868680"/>
          </a:xfrm>
          <a:prstGeom prst="rect">
            <a:avLst/>
          </a:prstGeom>
          <a:noFill/>
          <a:ln/>
        </p:spPr>
        <p:txBody>
          <a:bodyPr wrap="square" lIns="0" tIns="0" rIns="0" bIns="0" rtlCol="0" anchor="t"/>
          <a:lstStyle/>
          <a:p>
            <a:pPr indent="0" marL="0">
              <a:buNone/>
            </a:pPr>
            <a:r>
              <a:rPr lang="en-US" sz="1200" dirty="0">
                <a:solidFill>
                  <a:srgbClr val="3F4842"/>
                </a:solidFill>
                <a:latin typeface="Calibri" pitchFamily="34" charset="0"/>
                <a:ea typeface="Calibri" pitchFamily="34" charset="-122"/>
                <a:cs typeface="Calibri" pitchFamily="34" charset="-120"/>
              </a:rPr>
              <a:t>Barres empilées par état, dessinées en CSS pur à partir d'une seule requête SQL.</a:t>
            </a:r>
            <a:endParaRPr lang="en-US" sz="1200" dirty="0"/>
          </a:p>
        </p:txBody>
      </p:sp>
      <p:sp>
        <p:nvSpPr>
          <p:cNvPr id="25" name="Shape 21"/>
          <p:cNvSpPr/>
          <p:nvPr/>
        </p:nvSpPr>
        <p:spPr>
          <a:xfrm>
            <a:off x="8503920" y="4526280"/>
            <a:ext cx="329184" cy="329184"/>
          </a:xfrm>
          <a:prstGeom prst="ellipse">
            <a:avLst/>
          </a:prstGeom>
          <a:solidFill>
            <a:srgbClr val="1F4A3A"/>
          </a:solidFill>
          <a:ln w="19050">
            <a:solidFill>
              <a:srgbClr val="FFFFFF"/>
            </a:solidFill>
            <a:prstDash val="solid"/>
          </a:ln>
        </p:spPr>
      </p:sp>
      <p:sp>
        <p:nvSpPr>
          <p:cNvPr id="26" name="Text 22"/>
          <p:cNvSpPr txBox="1"/>
          <p:nvPr/>
        </p:nvSpPr>
        <p:spPr>
          <a:xfrm>
            <a:off x="8503920" y="452628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3</a:t>
            </a:r>
            <a:endParaRPr lang="en-US" sz="1200" dirty="0"/>
          </a:p>
        </p:txBody>
      </p:sp>
      <p:sp>
        <p:nvSpPr>
          <p:cNvPr id="27" name="Text 23"/>
          <p:cNvSpPr txBox="1"/>
          <p:nvPr/>
        </p:nvSpPr>
        <p:spPr>
          <a:xfrm>
            <a:off x="8961120" y="4507992"/>
            <a:ext cx="2651760" cy="347472"/>
          </a:xfrm>
          <a:prstGeom prst="rect">
            <a:avLst/>
          </a:prstGeom>
          <a:noFill/>
          <a:ln/>
        </p:spPr>
        <p:txBody>
          <a:bodyPr wrap="square" lIns="0" tIns="0" rIns="0" bIns="0" rtlCol="0" anchor="t"/>
          <a:lstStyle/>
          <a:p>
            <a:pPr indent="0" marL="0">
              <a:buNone/>
            </a:pPr>
            <a:r>
              <a:rPr lang="en-US" sz="1700" dirty="0">
                <a:solidFill>
                  <a:srgbClr val="17211C"/>
                </a:solidFill>
                <a:latin typeface="Georgia" pitchFamily="34" charset="0"/>
                <a:ea typeface="Georgia" pitchFamily="34" charset="-122"/>
                <a:cs typeface="Georgia" pitchFamily="34" charset="-120"/>
              </a:rPr>
              <a:t>À traiter</a:t>
            </a:r>
            <a:endParaRPr lang="en-US" sz="1700" dirty="0"/>
          </a:p>
        </p:txBody>
      </p:sp>
      <p:sp>
        <p:nvSpPr>
          <p:cNvPr id="28" name="Text 24"/>
          <p:cNvSpPr txBox="1"/>
          <p:nvPr/>
        </p:nvSpPr>
        <p:spPr>
          <a:xfrm>
            <a:off x="8961120" y="4892040"/>
            <a:ext cx="2651760" cy="868680"/>
          </a:xfrm>
          <a:prstGeom prst="rect">
            <a:avLst/>
          </a:prstGeom>
          <a:noFill/>
          <a:ln/>
        </p:spPr>
        <p:txBody>
          <a:bodyPr wrap="square" lIns="0" tIns="0" rIns="0" bIns="0" rtlCol="0" anchor="t"/>
          <a:lstStyle/>
          <a:p>
            <a:pPr indent="0" marL="0">
              <a:buNone/>
            </a:pPr>
            <a:r>
              <a:rPr lang="en-US" sz="1200" dirty="0">
                <a:solidFill>
                  <a:srgbClr val="3F4842"/>
                </a:solidFill>
                <a:latin typeface="Calibri" pitchFamily="34" charset="0"/>
                <a:ea typeface="Calibri" pitchFamily="34" charset="-122"/>
                <a:cs typeface="Calibri" pitchFamily="34" charset="-120"/>
              </a:rPr>
              <a:t>Transferts en attente de validation et pannes, de la plus ancienne à la plus récente.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EFE6"/>
        </a:solidFill>
      </p:bgPr>
    </p:bg>
    <p:spTree>
      <p:nvGrpSpPr>
        <p:cNvPr id="1" name=""/>
        <p:cNvGrpSpPr/>
        <p:nvPr/>
      </p:nvGrpSpPr>
      <p:grpSpPr>
        <a:xfrm>
          <a:off x="0" y="0"/>
          <a:ext cx="0" cy="0"/>
          <a:chOff x="0" y="0"/>
          <a:chExt cx="0" cy="0"/>
        </a:xfrm>
      </p:grpSpPr>
      <p:sp>
        <p:nvSpPr>
          <p:cNvPr id="2" name="Shape 0"/>
          <p:cNvSpPr/>
          <p:nvPr/>
        </p:nvSpPr>
        <p:spPr>
          <a:xfrm>
            <a:off x="548640" y="384048"/>
            <a:ext cx="2029968" cy="274320"/>
          </a:xfrm>
          <a:prstGeom prst="roundRect">
            <a:avLst>
              <a:gd name="adj" fmla="val 16667"/>
            </a:avLst>
          </a:prstGeom>
          <a:solidFill>
            <a:srgbClr val="FFFDF7"/>
          </a:solidFill>
          <a:ln w="9525">
            <a:solidFill>
              <a:srgbClr val="CBC2AD"/>
            </a:solidFill>
            <a:prstDash val="solid"/>
          </a:ln>
        </p:spPr>
      </p:sp>
      <p:sp>
        <p:nvSpPr>
          <p:cNvPr id="3" name="Shape 1"/>
          <p:cNvSpPr/>
          <p:nvPr/>
        </p:nvSpPr>
        <p:spPr>
          <a:xfrm>
            <a:off x="640080" y="489204"/>
            <a:ext cx="64008" cy="64008"/>
          </a:xfrm>
          <a:prstGeom prst="ellipse">
            <a:avLst/>
          </a:prstGeom>
          <a:solidFill>
            <a:srgbClr val="F3EFE6"/>
          </a:solidFill>
          <a:ln w="9525">
            <a:solidFill>
              <a:srgbClr val="CBC2AD"/>
            </a:solidFill>
            <a:prstDash val="solid"/>
          </a:ln>
        </p:spPr>
      </p:sp>
      <p:sp>
        <p:nvSpPr>
          <p:cNvPr id="4" name="Text 2"/>
          <p:cNvSpPr txBox="1"/>
          <p:nvPr/>
        </p:nvSpPr>
        <p:spPr>
          <a:xfrm>
            <a:off x="768096" y="384048"/>
            <a:ext cx="1792224" cy="274320"/>
          </a:xfrm>
          <a:prstGeom prst="rect">
            <a:avLst/>
          </a:prstGeom>
          <a:noFill/>
          <a:ln/>
        </p:spPr>
        <p:txBody>
          <a:bodyPr wrap="none" lIns="0" tIns="0" rIns="0" bIns="0" rtlCol="0" anchor="ctr"/>
          <a:lstStyle/>
          <a:p>
            <a:pPr indent="0" marL="0">
              <a:buNone/>
            </a:pPr>
            <a:r>
              <a:rPr lang="en-US" sz="1000" spc="100" kern="0" dirty="0">
                <a:solidFill>
                  <a:srgbClr val="17211C"/>
                </a:solidFill>
                <a:latin typeface="Consolas" pitchFamily="34" charset="0"/>
                <a:ea typeface="Consolas" pitchFamily="34" charset="-122"/>
                <a:cs typeface="Consolas" pitchFamily="34" charset="-120"/>
              </a:rPr>
              <a:t>08 · DÉMONSTRATION</a:t>
            </a:r>
            <a:endParaRPr lang="en-US" sz="1000" dirty="0"/>
          </a:p>
        </p:txBody>
      </p:sp>
      <p:sp>
        <p:nvSpPr>
          <p:cNvPr id="5" name="Text 3"/>
          <p:cNvSpPr txBox="1"/>
          <p:nvPr/>
        </p:nvSpPr>
        <p:spPr>
          <a:xfrm>
            <a:off x="548640" y="786384"/>
            <a:ext cx="11094415" cy="731520"/>
          </a:xfrm>
          <a:prstGeom prst="rect">
            <a:avLst/>
          </a:prstGeom>
          <a:noFill/>
          <a:ln/>
        </p:spPr>
        <p:txBody>
          <a:bodyPr wrap="square" lIns="0" tIns="0" rIns="0" bIns="0" rtlCol="0" anchor="ctr"/>
          <a:lstStyle/>
          <a:p>
            <a:pPr indent="0" marL="0">
              <a:buNone/>
            </a:pPr>
            <a:r>
              <a:rPr lang="en-US" sz="3200" dirty="0">
                <a:solidFill>
                  <a:srgbClr val="17211C"/>
                </a:solidFill>
                <a:latin typeface="Georgia" pitchFamily="34" charset="0"/>
                <a:ea typeface="Georgia" pitchFamily="34" charset="-122"/>
                <a:cs typeface="Georgia" pitchFamily="34" charset="-120"/>
              </a:rPr>
              <a:t>La fiche d'un matériel</a:t>
            </a:r>
            <a:endParaRPr lang="en-US" sz="3200" dirty="0"/>
          </a:p>
        </p:txBody>
      </p:sp>
      <p:sp>
        <p:nvSpPr>
          <p:cNvPr id="7" name="Text 4"/>
          <p:cNvSpPr txBox="1"/>
          <p:nvPr/>
        </p:nvSpPr>
        <p:spPr>
          <a:xfrm>
            <a:off x="10545775" y="6473952"/>
            <a:ext cx="1097280" cy="228600"/>
          </a:xfrm>
          <a:prstGeom prst="rect">
            <a:avLst/>
          </a:prstGeom>
          <a:noFill/>
          <a:ln/>
        </p:spPr>
        <p:txBody>
          <a:bodyPr wrap="square" lIns="0" tIns="0" rIns="0" bIns="0" rtlCol="0" anchor="t"/>
          <a:lstStyle/>
          <a:p>
            <a:pPr algn="r" indent="0" marL="0">
              <a:buNone/>
            </a:pPr>
            <a:r>
              <a:rPr lang="en-US" sz="900" dirty="0">
                <a:solidFill>
                  <a:srgbClr val="767A71"/>
                </a:solidFill>
                <a:latin typeface="Consolas" pitchFamily="34" charset="0"/>
                <a:ea typeface="Consolas" pitchFamily="34" charset="-122"/>
                <a:cs typeface="Consolas" pitchFamily="34" charset="-120"/>
              </a:rPr>
              <a:t>10 / 17</a:t>
            </a:r>
            <a:endParaRPr lang="en-US" sz="900" dirty="0"/>
          </a:p>
        </p:txBody>
      </p:sp>
      <p:sp>
        <p:nvSpPr>
          <p:cNvPr id="8" name="Text 5"/>
          <p:cNvSpPr txBox="1"/>
          <p:nvPr/>
        </p:nvSpPr>
        <p:spPr>
          <a:xfrm>
            <a:off x="548640" y="6473952"/>
            <a:ext cx="1828800" cy="228600"/>
          </a:xfrm>
          <a:prstGeom prst="rect">
            <a:avLst/>
          </a:prstGeom>
          <a:noFill/>
          <a:ln/>
        </p:spPr>
        <p:txBody>
          <a:bodyPr wrap="square" lIns="0" tIns="0" rIns="0" bIns="0" rtlCol="0" anchor="t"/>
          <a:lstStyle/>
          <a:p>
            <a:pPr indent="0" marL="0">
              <a:buNone/>
            </a:pPr>
            <a:r>
              <a:rPr lang="en-US" sz="1000" i="1" dirty="0">
                <a:solidFill>
                  <a:srgbClr val="767A71"/>
                </a:solidFill>
                <a:latin typeface="Georgia" pitchFamily="34" charset="0"/>
                <a:ea typeface="Georgia" pitchFamily="34" charset="-122"/>
                <a:cs typeface="Georgia" pitchFamily="34" charset="-120"/>
              </a:rPr>
              <a:t>Patrimo</a:t>
            </a:r>
            <a:endParaRPr lang="en-US" sz="1000" dirty="0"/>
          </a:p>
        </p:txBody>
      </p:sp>
      <p:sp>
        <p:nvSpPr>
          <p:cNvPr id="9" name="Shape 6"/>
          <p:cNvSpPr/>
          <p:nvPr/>
        </p:nvSpPr>
        <p:spPr>
          <a:xfrm>
            <a:off x="548640" y="1645920"/>
            <a:ext cx="5852160" cy="1963257"/>
          </a:xfrm>
          <a:prstGeom prst="rect">
            <a:avLst/>
          </a:prstGeom>
          <a:solidFill>
            <a:srgbClr val="FFFFFF"/>
          </a:solidFill>
          <a:ln w="9525">
            <a:solidFill>
              <a:srgbClr val="C9C0AC"/>
            </a:solidFill>
            <a:prstDash val="solid"/>
          </a:ln>
          <a:effectLst>
            <a:outerShdw sx="100000" sy="100000" kx="0" ky="0" algn="bl" rotWithShape="0" blurRad="177800" dist="50800" dir="5400000">
              <a:srgbClr val="1A2E25">
                <a:alpha val="16000"/>
              </a:srgbClr>
            </a:outerShdw>
          </a:effectLst>
        </p:spPr>
      </p:sp>
      <p:pic>
        <p:nvPicPr>
          <p:cNvPr id="10" name="Image 0" descr="/tmp/claude-0/-home-user-ourwa/8231f12d-bf28-5433-a361-75f92448dec8/scratchpad/slides-img/s-plaque.png">    </p:cNvPr>
          <p:cNvPicPr>
            <a:picLocks noChangeAspect="1"/>
          </p:cNvPicPr>
          <p:nvPr/>
        </p:nvPicPr>
        <p:blipFill>
          <a:blip r:embed="rId1"/>
          <a:stretch>
            <a:fillRect/>
          </a:stretch>
        </p:blipFill>
        <p:spPr>
          <a:xfrm>
            <a:off x="548640" y="1645920"/>
            <a:ext cx="5852160" cy="1963257"/>
          </a:xfrm>
          <a:prstGeom prst="rect">
            <a:avLst/>
          </a:prstGeom>
        </p:spPr>
      </p:pic>
      <p:sp>
        <p:nvSpPr>
          <p:cNvPr id="11" name="Text 7"/>
          <p:cNvSpPr txBox="1"/>
          <p:nvPr/>
        </p:nvSpPr>
        <p:spPr>
          <a:xfrm>
            <a:off x="548640" y="3901785"/>
            <a:ext cx="6309360" cy="274320"/>
          </a:xfrm>
          <a:prstGeom prst="rect">
            <a:avLst/>
          </a:prstGeom>
          <a:noFill/>
          <a:ln/>
        </p:spPr>
        <p:txBody>
          <a:bodyPr wrap="square" lIns="0" tIns="0" rIns="0" bIns="0" rtlCol="0" anchor="t"/>
          <a:lstStyle/>
          <a:p>
            <a:pPr indent="0" marL="0">
              <a:buNone/>
            </a:pPr>
            <a:r>
              <a:rPr lang="en-US" sz="1450" b="1" dirty="0">
                <a:solidFill>
                  <a:srgbClr val="17211C"/>
                </a:solidFill>
                <a:latin typeface="Calibri" pitchFamily="34" charset="0"/>
                <a:ea typeface="Calibri" pitchFamily="34" charset="-122"/>
                <a:cs typeface="Calibri" pitchFamily="34" charset="-120"/>
              </a:rPr>
              <a:t>Code-barres Code 39</a:t>
            </a:r>
            <a:endParaRPr lang="en-US" sz="1450" dirty="0"/>
          </a:p>
        </p:txBody>
      </p:sp>
      <p:sp>
        <p:nvSpPr>
          <p:cNvPr id="12" name="Text 8"/>
          <p:cNvSpPr txBox="1"/>
          <p:nvPr/>
        </p:nvSpPr>
        <p:spPr>
          <a:xfrm>
            <a:off x="548640" y="4185249"/>
            <a:ext cx="6309360" cy="457200"/>
          </a:xfrm>
          <a:prstGeom prst="rect">
            <a:avLst/>
          </a:prstGeom>
          <a:noFill/>
          <a:ln/>
        </p:spPr>
        <p:txBody>
          <a:bodyPr wrap="square" lIns="0" tIns="0" rIns="0" bIns="0" rtlCol="0" anchor="t"/>
          <a:lstStyle/>
          <a:p>
            <a:pPr indent="0" marL="0">
              <a:buNone/>
            </a:pPr>
            <a:r>
              <a:rPr lang="en-US" sz="1200" dirty="0">
                <a:solidFill>
                  <a:srgbClr val="3F4842"/>
                </a:solidFill>
                <a:latin typeface="Calibri" pitchFamily="34" charset="0"/>
                <a:ea typeface="Calibri" pitchFamily="34" charset="-122"/>
                <a:cs typeface="Calibri" pitchFamily="34" charset="-120"/>
              </a:rPr>
              <a:t>Généré en JavaScript depuis la table de la norme : il se lit avec une douchette. « Imprimer l'étiquette » ne sort que la plaque.</a:t>
            </a:r>
            <a:endParaRPr lang="en-US" sz="1200" dirty="0"/>
          </a:p>
        </p:txBody>
      </p:sp>
      <p:sp>
        <p:nvSpPr>
          <p:cNvPr id="13" name="Text 9"/>
          <p:cNvSpPr txBox="1"/>
          <p:nvPr/>
        </p:nvSpPr>
        <p:spPr>
          <a:xfrm>
            <a:off x="548640" y="4688169"/>
            <a:ext cx="6309360" cy="274320"/>
          </a:xfrm>
          <a:prstGeom prst="rect">
            <a:avLst/>
          </a:prstGeom>
          <a:noFill/>
          <a:ln/>
        </p:spPr>
        <p:txBody>
          <a:bodyPr wrap="square" lIns="0" tIns="0" rIns="0" bIns="0" rtlCol="0" anchor="t"/>
          <a:lstStyle/>
          <a:p>
            <a:pPr indent="0" marL="0">
              <a:buNone/>
            </a:pPr>
            <a:r>
              <a:rPr lang="en-US" sz="1450" b="1" dirty="0">
                <a:solidFill>
                  <a:srgbClr val="17211C"/>
                </a:solidFill>
                <a:latin typeface="Calibri" pitchFamily="34" charset="0"/>
                <a:ea typeface="Calibri" pitchFamily="34" charset="-122"/>
                <a:cs typeface="Calibri" pitchFamily="34" charset="-120"/>
              </a:rPr>
              <a:t>L'état en tampon</a:t>
            </a:r>
            <a:endParaRPr lang="en-US" sz="1450" dirty="0"/>
          </a:p>
        </p:txBody>
      </p:sp>
      <p:sp>
        <p:nvSpPr>
          <p:cNvPr id="14" name="Text 10"/>
          <p:cNvSpPr txBox="1"/>
          <p:nvPr/>
        </p:nvSpPr>
        <p:spPr>
          <a:xfrm>
            <a:off x="548640" y="4971633"/>
            <a:ext cx="6309360" cy="457200"/>
          </a:xfrm>
          <a:prstGeom prst="rect">
            <a:avLst/>
          </a:prstGeom>
          <a:noFill/>
          <a:ln/>
        </p:spPr>
        <p:txBody>
          <a:bodyPr wrap="square" lIns="0" tIns="0" rIns="0" bIns="0" rtlCol="0" anchor="t"/>
          <a:lstStyle/>
          <a:p>
            <a:pPr indent="0" marL="0">
              <a:buNone/>
            </a:pPr>
            <a:r>
              <a:rPr lang="en-US" sz="1200" dirty="0">
                <a:solidFill>
                  <a:srgbClr val="3F4842"/>
                </a:solidFill>
                <a:latin typeface="Calibri" pitchFamily="34" charset="0"/>
                <a:ea typeface="Calibri" pitchFamily="34" charset="-122"/>
                <a:cs typeface="Calibri" pitchFamily="34" charset="-120"/>
              </a:rPr>
              <a:t>En service, en panne, en réparation, réformé : on le lit avant même de lire le texte.</a:t>
            </a:r>
            <a:endParaRPr lang="en-US" sz="1200" dirty="0"/>
          </a:p>
        </p:txBody>
      </p:sp>
      <p:sp>
        <p:nvSpPr>
          <p:cNvPr id="15" name="Text 11"/>
          <p:cNvSpPr txBox="1"/>
          <p:nvPr/>
        </p:nvSpPr>
        <p:spPr>
          <a:xfrm>
            <a:off x="548640" y="5474553"/>
            <a:ext cx="6309360" cy="274320"/>
          </a:xfrm>
          <a:prstGeom prst="rect">
            <a:avLst/>
          </a:prstGeom>
          <a:noFill/>
          <a:ln/>
        </p:spPr>
        <p:txBody>
          <a:bodyPr wrap="square" lIns="0" tIns="0" rIns="0" bIns="0" rtlCol="0" anchor="t"/>
          <a:lstStyle/>
          <a:p>
            <a:pPr indent="0" marL="0">
              <a:buNone/>
            </a:pPr>
            <a:r>
              <a:rPr lang="en-US" sz="1450" b="1" dirty="0">
                <a:solidFill>
                  <a:srgbClr val="17211C"/>
                </a:solidFill>
                <a:latin typeface="Calibri" pitchFamily="34" charset="0"/>
                <a:ea typeface="Calibri" pitchFamily="34" charset="-122"/>
                <a:cs typeface="Calibri" pitchFamily="34" charset="-120"/>
              </a:rPr>
              <a:t>Actions selon le rôle</a:t>
            </a:r>
            <a:endParaRPr lang="en-US" sz="1450" dirty="0"/>
          </a:p>
        </p:txBody>
      </p:sp>
      <p:sp>
        <p:nvSpPr>
          <p:cNvPr id="16" name="Text 12"/>
          <p:cNvSpPr txBox="1"/>
          <p:nvPr/>
        </p:nvSpPr>
        <p:spPr>
          <a:xfrm>
            <a:off x="548640" y="5758017"/>
            <a:ext cx="6309360" cy="457200"/>
          </a:xfrm>
          <a:prstGeom prst="rect">
            <a:avLst/>
          </a:prstGeom>
          <a:noFill/>
          <a:ln/>
        </p:spPr>
        <p:txBody>
          <a:bodyPr wrap="square" lIns="0" tIns="0" rIns="0" bIns="0" rtlCol="0" anchor="t"/>
          <a:lstStyle/>
          <a:p>
            <a:pPr indent="0" marL="0">
              <a:buNone/>
            </a:pPr>
            <a:r>
              <a:rPr lang="en-US" sz="1200" dirty="0">
                <a:solidFill>
                  <a:srgbClr val="3F4842"/>
                </a:solidFill>
                <a:latin typeface="Calibri" pitchFamily="34" charset="0"/>
                <a:ea typeface="Calibri" pitchFamily="34" charset="-122"/>
                <a:cs typeface="Calibri" pitchFamily="34" charset="-120"/>
              </a:rPr>
              <a:t>Changer l'état ou demander un transfert : seulement pour le responsable de la direction — revérifié côté serveur.</a:t>
            </a:r>
            <a:endParaRPr lang="en-US" sz="1200" dirty="0"/>
          </a:p>
        </p:txBody>
      </p:sp>
      <p:sp>
        <p:nvSpPr>
          <p:cNvPr id="17" name="Text 13"/>
          <p:cNvSpPr txBox="1"/>
          <p:nvPr/>
        </p:nvSpPr>
        <p:spPr>
          <a:xfrm>
            <a:off x="7269480" y="1572768"/>
            <a:ext cx="4114800" cy="228600"/>
          </a:xfrm>
          <a:prstGeom prst="rect">
            <a:avLst/>
          </a:prstGeom>
          <a:noFill/>
          <a:ln/>
        </p:spPr>
        <p:txBody>
          <a:bodyPr wrap="square" lIns="0" tIns="0" rIns="0" bIns="0" rtlCol="0" anchor="t"/>
          <a:lstStyle/>
          <a:p>
            <a:pPr indent="0" marL="0">
              <a:buNone/>
            </a:pPr>
            <a:r>
              <a:rPr lang="en-US" sz="1000" b="1" spc="200" kern="0" dirty="0">
                <a:solidFill>
                  <a:srgbClr val="1F4A3A"/>
                </a:solidFill>
                <a:latin typeface="Consolas" pitchFamily="34" charset="0"/>
                <a:ea typeface="Consolas" pitchFamily="34" charset="-122"/>
                <a:cs typeface="Consolas" pitchFamily="34" charset="-120"/>
              </a:rPr>
              <a:t>HISTORIQUE DE IMP-2020-0001</a:t>
            </a:r>
            <a:endParaRPr lang="en-US" sz="1000" dirty="0"/>
          </a:p>
        </p:txBody>
      </p:sp>
      <p:sp>
        <p:nvSpPr>
          <p:cNvPr id="18" name="Shape 14"/>
          <p:cNvSpPr/>
          <p:nvPr/>
        </p:nvSpPr>
        <p:spPr>
          <a:xfrm>
            <a:off x="7269480" y="1874520"/>
            <a:ext cx="3526558" cy="4572000"/>
          </a:xfrm>
          <a:prstGeom prst="rect">
            <a:avLst/>
          </a:prstGeom>
          <a:solidFill>
            <a:srgbClr val="FFFFFF"/>
          </a:solidFill>
          <a:ln w="9525">
            <a:solidFill>
              <a:srgbClr val="C9C0AC"/>
            </a:solidFill>
            <a:prstDash val="solid"/>
          </a:ln>
          <a:effectLst>
            <a:outerShdw sx="100000" sy="100000" kx="0" ky="0" algn="bl" rotWithShape="0" blurRad="177800" dist="50800" dir="5400000">
              <a:srgbClr val="1A2E25">
                <a:alpha val="16000"/>
              </a:srgbClr>
            </a:outerShdw>
          </a:effectLst>
        </p:spPr>
      </p:sp>
      <p:pic>
        <p:nvPicPr>
          <p:cNvPr id="19" name="Image 1" descr="/tmp/claude-0/-home-user-ourwa/8231f12d-bf28-5433-a361-75f92448dec8/scratchpad/slides-img/s-chrono.png">    </p:cNvPr>
          <p:cNvPicPr>
            <a:picLocks noChangeAspect="1"/>
          </p:cNvPicPr>
          <p:nvPr/>
        </p:nvPicPr>
        <p:blipFill>
          <a:blip r:embed="rId2"/>
          <a:stretch>
            <a:fillRect/>
          </a:stretch>
        </p:blipFill>
        <p:spPr>
          <a:xfrm>
            <a:off x="7269480" y="1874520"/>
            <a:ext cx="3526558" cy="4572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EFE6"/>
        </a:solidFill>
      </p:bgPr>
    </p:bg>
    <p:spTree>
      <p:nvGrpSpPr>
        <p:cNvPr id="1" name=""/>
        <p:cNvGrpSpPr/>
        <p:nvPr/>
      </p:nvGrpSpPr>
      <p:grpSpPr>
        <a:xfrm>
          <a:off x="0" y="0"/>
          <a:ext cx="0" cy="0"/>
          <a:chOff x="0" y="0"/>
          <a:chExt cx="0" cy="0"/>
        </a:xfrm>
      </p:grpSpPr>
      <p:sp>
        <p:nvSpPr>
          <p:cNvPr id="2" name="Shape 0"/>
          <p:cNvSpPr/>
          <p:nvPr/>
        </p:nvSpPr>
        <p:spPr>
          <a:xfrm>
            <a:off x="548640" y="384048"/>
            <a:ext cx="2029968" cy="274320"/>
          </a:xfrm>
          <a:prstGeom prst="roundRect">
            <a:avLst>
              <a:gd name="adj" fmla="val 16667"/>
            </a:avLst>
          </a:prstGeom>
          <a:solidFill>
            <a:srgbClr val="FFFDF7"/>
          </a:solidFill>
          <a:ln w="9525">
            <a:solidFill>
              <a:srgbClr val="CBC2AD"/>
            </a:solidFill>
            <a:prstDash val="solid"/>
          </a:ln>
        </p:spPr>
      </p:sp>
      <p:sp>
        <p:nvSpPr>
          <p:cNvPr id="3" name="Shape 1"/>
          <p:cNvSpPr/>
          <p:nvPr/>
        </p:nvSpPr>
        <p:spPr>
          <a:xfrm>
            <a:off x="640080" y="489204"/>
            <a:ext cx="64008" cy="64008"/>
          </a:xfrm>
          <a:prstGeom prst="ellipse">
            <a:avLst/>
          </a:prstGeom>
          <a:solidFill>
            <a:srgbClr val="F3EFE6"/>
          </a:solidFill>
          <a:ln w="9525">
            <a:solidFill>
              <a:srgbClr val="CBC2AD"/>
            </a:solidFill>
            <a:prstDash val="solid"/>
          </a:ln>
        </p:spPr>
      </p:sp>
      <p:sp>
        <p:nvSpPr>
          <p:cNvPr id="4" name="Text 2"/>
          <p:cNvSpPr txBox="1"/>
          <p:nvPr/>
        </p:nvSpPr>
        <p:spPr>
          <a:xfrm>
            <a:off x="768096" y="384048"/>
            <a:ext cx="1792224" cy="274320"/>
          </a:xfrm>
          <a:prstGeom prst="rect">
            <a:avLst/>
          </a:prstGeom>
          <a:noFill/>
          <a:ln/>
        </p:spPr>
        <p:txBody>
          <a:bodyPr wrap="none" lIns="0" tIns="0" rIns="0" bIns="0" rtlCol="0" anchor="ctr"/>
          <a:lstStyle/>
          <a:p>
            <a:pPr indent="0" marL="0">
              <a:buNone/>
            </a:pPr>
            <a:r>
              <a:rPr lang="en-US" sz="1000" spc="100" kern="0" dirty="0">
                <a:solidFill>
                  <a:srgbClr val="17211C"/>
                </a:solidFill>
                <a:latin typeface="Consolas" pitchFamily="34" charset="0"/>
                <a:ea typeface="Consolas" pitchFamily="34" charset="-122"/>
                <a:cs typeface="Consolas" pitchFamily="34" charset="-120"/>
              </a:rPr>
              <a:t>08 · DÉMONSTRATION</a:t>
            </a:r>
            <a:endParaRPr lang="en-US" sz="1000" dirty="0"/>
          </a:p>
        </p:txBody>
      </p:sp>
      <p:sp>
        <p:nvSpPr>
          <p:cNvPr id="5" name="Text 3"/>
          <p:cNvSpPr txBox="1"/>
          <p:nvPr/>
        </p:nvSpPr>
        <p:spPr>
          <a:xfrm>
            <a:off x="548640" y="786384"/>
            <a:ext cx="11094415" cy="731520"/>
          </a:xfrm>
          <a:prstGeom prst="rect">
            <a:avLst/>
          </a:prstGeom>
          <a:noFill/>
          <a:ln/>
        </p:spPr>
        <p:txBody>
          <a:bodyPr wrap="square" lIns="0" tIns="0" rIns="0" bIns="0" rtlCol="0" anchor="ctr"/>
          <a:lstStyle/>
          <a:p>
            <a:pPr indent="0" marL="0">
              <a:buNone/>
            </a:pPr>
            <a:r>
              <a:rPr lang="en-US" sz="3200" dirty="0">
                <a:solidFill>
                  <a:srgbClr val="17211C"/>
                </a:solidFill>
                <a:latin typeface="Georgia" pitchFamily="34" charset="0"/>
                <a:ea typeface="Georgia" pitchFamily="34" charset="-122"/>
                <a:cs typeface="Georgia" pitchFamily="34" charset="-120"/>
              </a:rPr>
              <a:t>Retrouver un matériel, relire son passé</a:t>
            </a:r>
            <a:endParaRPr lang="en-US" sz="3200" dirty="0"/>
          </a:p>
        </p:txBody>
      </p:sp>
      <p:sp>
        <p:nvSpPr>
          <p:cNvPr id="7" name="Text 4"/>
          <p:cNvSpPr txBox="1"/>
          <p:nvPr/>
        </p:nvSpPr>
        <p:spPr>
          <a:xfrm>
            <a:off x="10545775" y="6473952"/>
            <a:ext cx="1097280" cy="228600"/>
          </a:xfrm>
          <a:prstGeom prst="rect">
            <a:avLst/>
          </a:prstGeom>
          <a:noFill/>
          <a:ln/>
        </p:spPr>
        <p:txBody>
          <a:bodyPr wrap="square" lIns="0" tIns="0" rIns="0" bIns="0" rtlCol="0" anchor="t"/>
          <a:lstStyle/>
          <a:p>
            <a:pPr algn="r" indent="0" marL="0">
              <a:buNone/>
            </a:pPr>
            <a:r>
              <a:rPr lang="en-US" sz="900" dirty="0">
                <a:solidFill>
                  <a:srgbClr val="767A71"/>
                </a:solidFill>
                <a:latin typeface="Consolas" pitchFamily="34" charset="0"/>
                <a:ea typeface="Consolas" pitchFamily="34" charset="-122"/>
                <a:cs typeface="Consolas" pitchFamily="34" charset="-120"/>
              </a:rPr>
              <a:t>11 / 17</a:t>
            </a:r>
            <a:endParaRPr lang="en-US" sz="900" dirty="0"/>
          </a:p>
        </p:txBody>
      </p:sp>
      <p:sp>
        <p:nvSpPr>
          <p:cNvPr id="8" name="Text 5"/>
          <p:cNvSpPr txBox="1"/>
          <p:nvPr/>
        </p:nvSpPr>
        <p:spPr>
          <a:xfrm>
            <a:off x="548640" y="6473952"/>
            <a:ext cx="1828800" cy="228600"/>
          </a:xfrm>
          <a:prstGeom prst="rect">
            <a:avLst/>
          </a:prstGeom>
          <a:noFill/>
          <a:ln/>
        </p:spPr>
        <p:txBody>
          <a:bodyPr wrap="square" lIns="0" tIns="0" rIns="0" bIns="0" rtlCol="0" anchor="t"/>
          <a:lstStyle/>
          <a:p>
            <a:pPr indent="0" marL="0">
              <a:buNone/>
            </a:pPr>
            <a:r>
              <a:rPr lang="en-US" sz="1000" i="1" dirty="0">
                <a:solidFill>
                  <a:srgbClr val="767A71"/>
                </a:solidFill>
                <a:latin typeface="Georgia" pitchFamily="34" charset="0"/>
                <a:ea typeface="Georgia" pitchFamily="34" charset="-122"/>
                <a:cs typeface="Georgia" pitchFamily="34" charset="-120"/>
              </a:rPr>
              <a:t>Patrimo</a:t>
            </a:r>
            <a:endParaRPr lang="en-US" sz="1000" dirty="0"/>
          </a:p>
        </p:txBody>
      </p:sp>
      <p:sp>
        <p:nvSpPr>
          <p:cNvPr id="9" name="Shape 6"/>
          <p:cNvSpPr/>
          <p:nvPr/>
        </p:nvSpPr>
        <p:spPr>
          <a:xfrm>
            <a:off x="548640" y="1691640"/>
            <a:ext cx="5440680" cy="3400425"/>
          </a:xfrm>
          <a:prstGeom prst="rect">
            <a:avLst/>
          </a:prstGeom>
          <a:solidFill>
            <a:srgbClr val="FFFFFF"/>
          </a:solidFill>
          <a:ln w="9525">
            <a:solidFill>
              <a:srgbClr val="C9C0AC"/>
            </a:solidFill>
            <a:prstDash val="solid"/>
          </a:ln>
          <a:effectLst>
            <a:outerShdw sx="100000" sy="100000" kx="0" ky="0" algn="bl" rotWithShape="0" blurRad="177800" dist="50800" dir="5400000">
              <a:srgbClr val="1A2E25">
                <a:alpha val="16000"/>
              </a:srgbClr>
            </a:outerShdw>
          </a:effectLst>
        </p:spPr>
      </p:sp>
      <p:pic>
        <p:nvPicPr>
          <p:cNvPr id="10" name="Image 0" descr="/tmp/claude-0/-home-user-ourwa/8231f12d-bf28-5433-a361-75f92448dec8/scratchpad/slides-img/s-recherche.png">    </p:cNvPr>
          <p:cNvPicPr>
            <a:picLocks noChangeAspect="1"/>
          </p:cNvPicPr>
          <p:nvPr/>
        </p:nvPicPr>
        <p:blipFill>
          <a:blip r:embed="rId1"/>
          <a:stretch>
            <a:fillRect/>
          </a:stretch>
        </p:blipFill>
        <p:spPr>
          <a:xfrm>
            <a:off x="548640" y="1691640"/>
            <a:ext cx="5440680" cy="3400425"/>
          </a:xfrm>
          <a:prstGeom prst="rect">
            <a:avLst/>
          </a:prstGeom>
        </p:spPr>
      </p:pic>
      <p:sp>
        <p:nvSpPr>
          <p:cNvPr id="11" name="Shape 7"/>
          <p:cNvSpPr/>
          <p:nvPr/>
        </p:nvSpPr>
        <p:spPr>
          <a:xfrm>
            <a:off x="6202375" y="1691640"/>
            <a:ext cx="5440680" cy="3400425"/>
          </a:xfrm>
          <a:prstGeom prst="rect">
            <a:avLst/>
          </a:prstGeom>
          <a:solidFill>
            <a:srgbClr val="FFFFFF"/>
          </a:solidFill>
          <a:ln w="9525">
            <a:solidFill>
              <a:srgbClr val="C9C0AC"/>
            </a:solidFill>
            <a:prstDash val="solid"/>
          </a:ln>
          <a:effectLst>
            <a:outerShdw sx="100000" sy="100000" kx="0" ky="0" algn="bl" rotWithShape="0" blurRad="177800" dist="50800" dir="5400000">
              <a:srgbClr val="1A2E25">
                <a:alpha val="16000"/>
              </a:srgbClr>
            </a:outerShdw>
          </a:effectLst>
        </p:spPr>
      </p:sp>
      <p:pic>
        <p:nvPicPr>
          <p:cNvPr id="12" name="Image 1" descr="/tmp/claude-0/-home-user-ourwa/8231f12d-bf28-5433-a361-75f92448dec8/scratchpad/slides-img/s-historique.png">    </p:cNvPr>
          <p:cNvPicPr>
            <a:picLocks noChangeAspect="1"/>
          </p:cNvPicPr>
          <p:nvPr/>
        </p:nvPicPr>
        <p:blipFill>
          <a:blip r:embed="rId2"/>
          <a:stretch>
            <a:fillRect/>
          </a:stretch>
        </p:blipFill>
        <p:spPr>
          <a:xfrm>
            <a:off x="6202375" y="1691640"/>
            <a:ext cx="5440680" cy="3400425"/>
          </a:xfrm>
          <a:prstGeom prst="rect">
            <a:avLst/>
          </a:prstGeom>
        </p:spPr>
      </p:pic>
      <p:sp>
        <p:nvSpPr>
          <p:cNvPr id="13" name="Text 8"/>
          <p:cNvSpPr txBox="1"/>
          <p:nvPr/>
        </p:nvSpPr>
        <p:spPr>
          <a:xfrm>
            <a:off x="548640" y="5366385"/>
            <a:ext cx="5440680" cy="320040"/>
          </a:xfrm>
          <a:prstGeom prst="rect">
            <a:avLst/>
          </a:prstGeom>
          <a:noFill/>
          <a:ln/>
        </p:spPr>
        <p:txBody>
          <a:bodyPr wrap="square" lIns="0" tIns="0" rIns="0" bIns="0" rtlCol="0" anchor="t"/>
          <a:lstStyle/>
          <a:p>
            <a:pPr indent="0" marL="0">
              <a:buNone/>
            </a:pPr>
            <a:r>
              <a:rPr lang="en-US" sz="1700" dirty="0">
                <a:solidFill>
                  <a:srgbClr val="17211C"/>
                </a:solidFill>
                <a:latin typeface="Georgia" pitchFamily="34" charset="0"/>
                <a:ea typeface="Georgia" pitchFamily="34" charset="-122"/>
                <a:cs typeface="Georgia" pitchFamily="34" charset="-120"/>
              </a:rPr>
              <a:t>Recherche</a:t>
            </a:r>
            <a:endParaRPr lang="en-US" sz="1700" dirty="0"/>
          </a:p>
        </p:txBody>
      </p:sp>
      <p:sp>
        <p:nvSpPr>
          <p:cNvPr id="14" name="Text 9"/>
          <p:cNvSpPr txBox="1"/>
          <p:nvPr/>
        </p:nvSpPr>
        <p:spPr>
          <a:xfrm>
            <a:off x="548640" y="5713857"/>
            <a:ext cx="5440680" cy="548640"/>
          </a:xfrm>
          <a:prstGeom prst="rect">
            <a:avLst/>
          </a:prstGeom>
          <a:noFill/>
          <a:ln/>
        </p:spPr>
        <p:txBody>
          <a:bodyPr wrap="square" lIns="0" tIns="0" rIns="0" bIns="0" rtlCol="0" anchor="t"/>
          <a:lstStyle/>
          <a:p>
            <a:pPr indent="0" marL="0">
              <a:buNone/>
            </a:pPr>
            <a:r>
              <a:rPr lang="en-US" sz="1250" dirty="0">
                <a:solidFill>
                  <a:srgbClr val="3F4842"/>
                </a:solidFill>
                <a:latin typeface="Calibri" pitchFamily="34" charset="0"/>
                <a:ea typeface="Calibri" pitchFamily="34" charset="-122"/>
                <a:cs typeface="Calibri" pitchFamily="34" charset="-120"/>
              </a:rPr>
              <a:t>Par n° d'inventaire, désignation, direction, marque ou n° de série — combinable avec les filtres.</a:t>
            </a:r>
            <a:endParaRPr lang="en-US" sz="1250" dirty="0"/>
          </a:p>
        </p:txBody>
      </p:sp>
      <p:sp>
        <p:nvSpPr>
          <p:cNvPr id="15" name="Text 10"/>
          <p:cNvSpPr txBox="1"/>
          <p:nvPr/>
        </p:nvSpPr>
        <p:spPr>
          <a:xfrm>
            <a:off x="6202375" y="5366385"/>
            <a:ext cx="5440680" cy="320040"/>
          </a:xfrm>
          <a:prstGeom prst="rect">
            <a:avLst/>
          </a:prstGeom>
          <a:noFill/>
          <a:ln/>
        </p:spPr>
        <p:txBody>
          <a:bodyPr wrap="square" lIns="0" tIns="0" rIns="0" bIns="0" rtlCol="0" anchor="t"/>
          <a:lstStyle/>
          <a:p>
            <a:pPr indent="0" marL="0">
              <a:buNone/>
            </a:pPr>
            <a:r>
              <a:rPr lang="en-US" sz="1700" dirty="0">
                <a:solidFill>
                  <a:srgbClr val="17211C"/>
                </a:solidFill>
                <a:latin typeface="Georgia" pitchFamily="34" charset="0"/>
                <a:ea typeface="Georgia" pitchFamily="34" charset="-122"/>
                <a:cs typeface="Georgia" pitchFamily="34" charset="-120"/>
              </a:rPr>
              <a:t>Historique</a:t>
            </a:r>
            <a:endParaRPr lang="en-US" sz="1700" dirty="0"/>
          </a:p>
        </p:txBody>
      </p:sp>
      <p:sp>
        <p:nvSpPr>
          <p:cNvPr id="16" name="Text 11"/>
          <p:cNvSpPr txBox="1"/>
          <p:nvPr/>
        </p:nvSpPr>
        <p:spPr>
          <a:xfrm>
            <a:off x="6202375" y="5713857"/>
            <a:ext cx="5440680" cy="548640"/>
          </a:xfrm>
          <a:prstGeom prst="rect">
            <a:avLst/>
          </a:prstGeom>
          <a:noFill/>
          <a:ln/>
        </p:spPr>
        <p:txBody>
          <a:bodyPr wrap="square" lIns="0" tIns="0" rIns="0" bIns="0" rtlCol="0" anchor="t"/>
          <a:lstStyle/>
          <a:p>
            <a:pPr indent="0" marL="0">
              <a:buNone/>
            </a:pPr>
            <a:r>
              <a:rPr lang="en-US" sz="1250" dirty="0">
                <a:solidFill>
                  <a:srgbClr val="3F4842"/>
                </a:solidFill>
                <a:latin typeface="Calibri" pitchFamily="34" charset="0"/>
                <a:ea typeface="Calibri" pitchFamily="34" charset="-122"/>
                <a:cs typeface="Calibri" pitchFamily="34" charset="-120"/>
              </a:rPr>
              <a:t>Regroupé par mois, filtrable par type, direction et période. Export CSV lisible dans Excel.</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EFE6"/>
        </a:solidFill>
      </p:bgPr>
    </p:bg>
    <p:spTree>
      <p:nvGrpSpPr>
        <p:cNvPr id="1" name=""/>
        <p:cNvGrpSpPr/>
        <p:nvPr/>
      </p:nvGrpSpPr>
      <p:grpSpPr>
        <a:xfrm>
          <a:off x="0" y="0"/>
          <a:ext cx="0" cy="0"/>
          <a:chOff x="0" y="0"/>
          <a:chExt cx="0" cy="0"/>
        </a:xfrm>
      </p:grpSpPr>
      <p:sp>
        <p:nvSpPr>
          <p:cNvPr id="2" name="Shape 0"/>
          <p:cNvSpPr/>
          <p:nvPr/>
        </p:nvSpPr>
        <p:spPr>
          <a:xfrm>
            <a:off x="548640" y="384048"/>
            <a:ext cx="1664208" cy="274320"/>
          </a:xfrm>
          <a:prstGeom prst="roundRect">
            <a:avLst>
              <a:gd name="adj" fmla="val 16667"/>
            </a:avLst>
          </a:prstGeom>
          <a:solidFill>
            <a:srgbClr val="FFFDF7"/>
          </a:solidFill>
          <a:ln w="9525">
            <a:solidFill>
              <a:srgbClr val="CBC2AD"/>
            </a:solidFill>
            <a:prstDash val="solid"/>
          </a:ln>
        </p:spPr>
      </p:sp>
      <p:sp>
        <p:nvSpPr>
          <p:cNvPr id="3" name="Shape 1"/>
          <p:cNvSpPr/>
          <p:nvPr/>
        </p:nvSpPr>
        <p:spPr>
          <a:xfrm>
            <a:off x="640080" y="489204"/>
            <a:ext cx="64008" cy="64008"/>
          </a:xfrm>
          <a:prstGeom prst="ellipse">
            <a:avLst/>
          </a:prstGeom>
          <a:solidFill>
            <a:srgbClr val="F3EFE6"/>
          </a:solidFill>
          <a:ln w="9525">
            <a:solidFill>
              <a:srgbClr val="CBC2AD"/>
            </a:solidFill>
            <a:prstDash val="solid"/>
          </a:ln>
        </p:spPr>
      </p:sp>
      <p:sp>
        <p:nvSpPr>
          <p:cNvPr id="4" name="Text 2"/>
          <p:cNvSpPr txBox="1"/>
          <p:nvPr/>
        </p:nvSpPr>
        <p:spPr>
          <a:xfrm>
            <a:off x="768096" y="384048"/>
            <a:ext cx="1426464" cy="274320"/>
          </a:xfrm>
          <a:prstGeom prst="rect">
            <a:avLst/>
          </a:prstGeom>
          <a:noFill/>
          <a:ln/>
        </p:spPr>
        <p:txBody>
          <a:bodyPr wrap="none" lIns="0" tIns="0" rIns="0" bIns="0" rtlCol="0" anchor="ctr"/>
          <a:lstStyle/>
          <a:p>
            <a:pPr indent="0" marL="0">
              <a:buNone/>
            </a:pPr>
            <a:r>
              <a:rPr lang="en-US" sz="1000" spc="100" kern="0" dirty="0">
                <a:solidFill>
                  <a:srgbClr val="17211C"/>
                </a:solidFill>
                <a:latin typeface="Consolas" pitchFamily="34" charset="0"/>
                <a:ea typeface="Consolas" pitchFamily="34" charset="-122"/>
                <a:cs typeface="Consolas" pitchFamily="34" charset="-120"/>
              </a:rPr>
              <a:t>09 · ERGONOMIE</a:t>
            </a:r>
            <a:endParaRPr lang="en-US" sz="1000" dirty="0"/>
          </a:p>
        </p:txBody>
      </p:sp>
      <p:sp>
        <p:nvSpPr>
          <p:cNvPr id="5" name="Text 3"/>
          <p:cNvSpPr txBox="1"/>
          <p:nvPr/>
        </p:nvSpPr>
        <p:spPr>
          <a:xfrm>
            <a:off x="548640" y="786384"/>
            <a:ext cx="11094415" cy="731520"/>
          </a:xfrm>
          <a:prstGeom prst="rect">
            <a:avLst/>
          </a:prstGeom>
          <a:noFill/>
          <a:ln/>
        </p:spPr>
        <p:txBody>
          <a:bodyPr wrap="square" lIns="0" tIns="0" rIns="0" bIns="0" rtlCol="0" anchor="ctr"/>
          <a:lstStyle/>
          <a:p>
            <a:pPr indent="0" marL="0">
              <a:buNone/>
            </a:pPr>
            <a:r>
              <a:rPr lang="en-US" sz="3200" dirty="0">
                <a:solidFill>
                  <a:srgbClr val="17211C"/>
                </a:solidFill>
                <a:latin typeface="Georgia" pitchFamily="34" charset="0"/>
                <a:ea typeface="Georgia" pitchFamily="34" charset="-122"/>
                <a:cs typeface="Georgia" pitchFamily="34" charset="-120"/>
              </a:rPr>
              <a:t>Pensé pour être utilisé dans les bureaux</a:t>
            </a:r>
            <a:endParaRPr lang="en-US" sz="3200" dirty="0"/>
          </a:p>
        </p:txBody>
      </p:sp>
      <p:sp>
        <p:nvSpPr>
          <p:cNvPr id="7" name="Text 4"/>
          <p:cNvSpPr txBox="1"/>
          <p:nvPr/>
        </p:nvSpPr>
        <p:spPr>
          <a:xfrm>
            <a:off x="10545775" y="6473952"/>
            <a:ext cx="1097280" cy="228600"/>
          </a:xfrm>
          <a:prstGeom prst="rect">
            <a:avLst/>
          </a:prstGeom>
          <a:noFill/>
          <a:ln/>
        </p:spPr>
        <p:txBody>
          <a:bodyPr wrap="square" lIns="0" tIns="0" rIns="0" bIns="0" rtlCol="0" anchor="t"/>
          <a:lstStyle/>
          <a:p>
            <a:pPr algn="r" indent="0" marL="0">
              <a:buNone/>
            </a:pPr>
            <a:r>
              <a:rPr lang="en-US" sz="900" dirty="0">
                <a:solidFill>
                  <a:srgbClr val="767A71"/>
                </a:solidFill>
                <a:latin typeface="Consolas" pitchFamily="34" charset="0"/>
                <a:ea typeface="Consolas" pitchFamily="34" charset="-122"/>
                <a:cs typeface="Consolas" pitchFamily="34" charset="-120"/>
              </a:rPr>
              <a:t>12 / 17</a:t>
            </a:r>
            <a:endParaRPr lang="en-US" sz="900" dirty="0"/>
          </a:p>
        </p:txBody>
      </p:sp>
      <p:sp>
        <p:nvSpPr>
          <p:cNvPr id="8" name="Text 5"/>
          <p:cNvSpPr txBox="1"/>
          <p:nvPr/>
        </p:nvSpPr>
        <p:spPr>
          <a:xfrm>
            <a:off x="548640" y="6473952"/>
            <a:ext cx="1828800" cy="228600"/>
          </a:xfrm>
          <a:prstGeom prst="rect">
            <a:avLst/>
          </a:prstGeom>
          <a:noFill/>
          <a:ln/>
        </p:spPr>
        <p:txBody>
          <a:bodyPr wrap="square" lIns="0" tIns="0" rIns="0" bIns="0" rtlCol="0" anchor="t"/>
          <a:lstStyle/>
          <a:p>
            <a:pPr indent="0" marL="0">
              <a:buNone/>
            </a:pPr>
            <a:r>
              <a:rPr lang="en-US" sz="1000" i="1" dirty="0">
                <a:solidFill>
                  <a:srgbClr val="767A71"/>
                </a:solidFill>
                <a:latin typeface="Georgia" pitchFamily="34" charset="0"/>
                <a:ea typeface="Georgia" pitchFamily="34" charset="-122"/>
                <a:cs typeface="Georgia" pitchFamily="34" charset="-120"/>
              </a:rPr>
              <a:t>Patrimo</a:t>
            </a:r>
            <a:endParaRPr lang="en-US" sz="1000" dirty="0"/>
          </a:p>
        </p:txBody>
      </p:sp>
      <p:sp>
        <p:nvSpPr>
          <p:cNvPr id="9" name="Shape 6"/>
          <p:cNvSpPr/>
          <p:nvPr/>
        </p:nvSpPr>
        <p:spPr>
          <a:xfrm>
            <a:off x="548640" y="1737360"/>
            <a:ext cx="4438486" cy="4206240"/>
          </a:xfrm>
          <a:prstGeom prst="rect">
            <a:avLst/>
          </a:prstGeom>
          <a:solidFill>
            <a:srgbClr val="FFFFFF"/>
          </a:solidFill>
          <a:ln w="9525">
            <a:solidFill>
              <a:srgbClr val="C9C0AC"/>
            </a:solidFill>
            <a:prstDash val="solid"/>
          </a:ln>
          <a:effectLst>
            <a:outerShdw sx="100000" sy="100000" kx="0" ky="0" algn="bl" rotWithShape="0" blurRad="177800" dist="50800" dir="5400000">
              <a:srgbClr val="1A2E25">
                <a:alpha val="16000"/>
              </a:srgbClr>
            </a:outerShdw>
          </a:effectLst>
        </p:spPr>
      </p:sp>
      <p:pic>
        <p:nvPicPr>
          <p:cNvPr id="10" name="Image 0" descr="/tmp/claude-0/-home-user-ourwa/8231f12d-bf28-5433-a361-75f92448dec8/scratchpad/slides-img/s-form-crop.png">    </p:cNvPr>
          <p:cNvPicPr>
            <a:picLocks noChangeAspect="1"/>
          </p:cNvPicPr>
          <p:nvPr/>
        </p:nvPicPr>
        <p:blipFill>
          <a:blip r:embed="rId1"/>
          <a:stretch>
            <a:fillRect/>
          </a:stretch>
        </p:blipFill>
        <p:spPr>
          <a:xfrm>
            <a:off x="548640" y="1737360"/>
            <a:ext cx="4438486" cy="4206240"/>
          </a:xfrm>
          <a:prstGeom prst="rect">
            <a:avLst/>
          </a:prstGeom>
        </p:spPr>
      </p:pic>
      <p:sp>
        <p:nvSpPr>
          <p:cNvPr id="11" name="Shape 7"/>
          <p:cNvSpPr/>
          <p:nvPr/>
        </p:nvSpPr>
        <p:spPr>
          <a:xfrm>
            <a:off x="5362030" y="1655064"/>
            <a:ext cx="2108234" cy="4370832"/>
          </a:xfrm>
          <a:prstGeom prst="roundRect">
            <a:avLst>
              <a:gd name="adj" fmla="val 9542"/>
            </a:avLst>
          </a:prstGeom>
          <a:solidFill>
            <a:srgbClr val="1A2E25"/>
          </a:solidFill>
          <a:ln w="12700">
            <a:solidFill>
              <a:srgbClr val="1A2E25"/>
            </a:solidFill>
            <a:prstDash val="solid"/>
          </a:ln>
          <a:effectLst>
            <a:outerShdw sx="100000" sy="100000" kx="0" ky="0" algn="bl" rotWithShape="0" blurRad="152400" dist="50800" dir="5400000">
              <a:srgbClr val="1A2E25">
                <a:alpha val="20000"/>
              </a:srgbClr>
            </a:outerShdw>
          </a:effectLst>
        </p:spPr>
      </p:sp>
      <p:pic>
        <p:nvPicPr>
          <p:cNvPr id="12" name="Image 1" descr="/tmp/claude-0/-home-user-ourwa/8231f12d-bf28-5433-a361-75f92448dec8/scratchpad/slides-img/s-mobile-fiche.png">    </p:cNvPr>
          <p:cNvPicPr>
            <a:picLocks noChangeAspect="1"/>
          </p:cNvPicPr>
          <p:nvPr/>
        </p:nvPicPr>
        <p:blipFill>
          <a:blip r:embed="rId2"/>
          <a:stretch>
            <a:fillRect/>
          </a:stretch>
        </p:blipFill>
        <p:spPr>
          <a:xfrm>
            <a:off x="5444326" y="1737360"/>
            <a:ext cx="1943642" cy="4206240"/>
          </a:xfrm>
          <a:prstGeom prst="rect">
            <a:avLst/>
          </a:prstGeom>
        </p:spPr>
      </p:pic>
      <p:sp>
        <p:nvSpPr>
          <p:cNvPr id="13" name="Text 8"/>
          <p:cNvSpPr txBox="1"/>
          <p:nvPr/>
        </p:nvSpPr>
        <p:spPr>
          <a:xfrm>
            <a:off x="7890888" y="1783080"/>
            <a:ext cx="3752167" cy="292608"/>
          </a:xfrm>
          <a:prstGeom prst="rect">
            <a:avLst/>
          </a:prstGeom>
          <a:noFill/>
          <a:ln/>
        </p:spPr>
        <p:txBody>
          <a:bodyPr wrap="square" lIns="0" tIns="0" rIns="0" bIns="0" rtlCol="0" anchor="t"/>
          <a:lstStyle/>
          <a:p>
            <a:pPr indent="0" marL="0">
              <a:buNone/>
            </a:pPr>
            <a:r>
              <a:rPr lang="en-US" sz="1500" b="1" dirty="0">
                <a:solidFill>
                  <a:srgbClr val="17211C"/>
                </a:solidFill>
                <a:latin typeface="Calibri" pitchFamily="34" charset="0"/>
                <a:ea typeface="Calibri" pitchFamily="34" charset="-122"/>
                <a:cs typeface="Calibri" pitchFamily="34" charset="-120"/>
              </a:rPr>
              <a:t>Validation immédiate</a:t>
            </a:r>
            <a:endParaRPr lang="en-US" sz="1500" dirty="0"/>
          </a:p>
        </p:txBody>
      </p:sp>
      <p:sp>
        <p:nvSpPr>
          <p:cNvPr id="14" name="Text 9"/>
          <p:cNvSpPr txBox="1"/>
          <p:nvPr/>
        </p:nvSpPr>
        <p:spPr>
          <a:xfrm>
            <a:off x="7890888" y="2103120"/>
            <a:ext cx="3752167" cy="594360"/>
          </a:xfrm>
          <a:prstGeom prst="rect">
            <a:avLst/>
          </a:prstGeom>
          <a:noFill/>
          <a:ln/>
        </p:spPr>
        <p:txBody>
          <a:bodyPr wrap="square" lIns="0" tIns="0" rIns="0" bIns="0" rtlCol="0" anchor="t"/>
          <a:lstStyle/>
          <a:p>
            <a:pPr indent="0" marL="0">
              <a:buNone/>
            </a:pPr>
            <a:r>
              <a:rPr lang="en-US" sz="1250" dirty="0">
                <a:solidFill>
                  <a:srgbClr val="3F4842"/>
                </a:solidFill>
                <a:latin typeface="Calibri" pitchFamily="34" charset="0"/>
                <a:ea typeface="Calibri" pitchFamily="34" charset="-122"/>
                <a:cs typeface="Calibri" pitchFamily="34" charset="-120"/>
              </a:rPr>
              <a:t>Le message s'affiche sous le champ concerné, avant même l'envoi.</a:t>
            </a:r>
            <a:endParaRPr lang="en-US" sz="1250" dirty="0"/>
          </a:p>
        </p:txBody>
      </p:sp>
      <p:sp>
        <p:nvSpPr>
          <p:cNvPr id="15" name="Text 10"/>
          <p:cNvSpPr txBox="1"/>
          <p:nvPr/>
        </p:nvSpPr>
        <p:spPr>
          <a:xfrm>
            <a:off x="7890888" y="2807208"/>
            <a:ext cx="3752167" cy="292608"/>
          </a:xfrm>
          <a:prstGeom prst="rect">
            <a:avLst/>
          </a:prstGeom>
          <a:noFill/>
          <a:ln/>
        </p:spPr>
        <p:txBody>
          <a:bodyPr wrap="square" lIns="0" tIns="0" rIns="0" bIns="0" rtlCol="0" anchor="t"/>
          <a:lstStyle/>
          <a:p>
            <a:pPr indent="0" marL="0">
              <a:buNone/>
            </a:pPr>
            <a:r>
              <a:rPr lang="en-US" sz="1500" b="1" dirty="0">
                <a:solidFill>
                  <a:srgbClr val="17211C"/>
                </a:solidFill>
                <a:latin typeface="Calibri" pitchFamily="34" charset="0"/>
                <a:ea typeface="Calibri" pitchFamily="34" charset="-122"/>
                <a:cs typeface="Calibri" pitchFamily="34" charset="-120"/>
              </a:rPr>
              <a:t>Numéro proposé</a:t>
            </a:r>
            <a:endParaRPr lang="en-US" sz="1500" dirty="0"/>
          </a:p>
        </p:txBody>
      </p:sp>
      <p:sp>
        <p:nvSpPr>
          <p:cNvPr id="16" name="Text 11"/>
          <p:cNvSpPr txBox="1"/>
          <p:nvPr/>
        </p:nvSpPr>
        <p:spPr>
          <a:xfrm>
            <a:off x="7890888" y="3127248"/>
            <a:ext cx="3752167" cy="594360"/>
          </a:xfrm>
          <a:prstGeom prst="rect">
            <a:avLst/>
          </a:prstGeom>
          <a:noFill/>
          <a:ln/>
        </p:spPr>
        <p:txBody>
          <a:bodyPr wrap="square" lIns="0" tIns="0" rIns="0" bIns="0" rtlCol="0" anchor="t"/>
          <a:lstStyle/>
          <a:p>
            <a:pPr indent="0" marL="0">
              <a:buNone/>
            </a:pPr>
            <a:r>
              <a:rPr lang="en-US" sz="1250" dirty="0">
                <a:solidFill>
                  <a:srgbClr val="3F4842"/>
                </a:solidFill>
                <a:latin typeface="Calibri" pitchFamily="34" charset="0"/>
                <a:ea typeface="Calibri" pitchFamily="34" charset="-122"/>
                <a:cs typeface="Calibri" pitchFamily="34" charset="-120"/>
              </a:rPr>
              <a:t>On choisit la catégorie et la date : le prochain numéro libre est proposé (INF-2026-0004).</a:t>
            </a:r>
            <a:endParaRPr lang="en-US" sz="1250" dirty="0"/>
          </a:p>
        </p:txBody>
      </p:sp>
      <p:sp>
        <p:nvSpPr>
          <p:cNvPr id="17" name="Text 12"/>
          <p:cNvSpPr txBox="1"/>
          <p:nvPr/>
        </p:nvSpPr>
        <p:spPr>
          <a:xfrm>
            <a:off x="7890888" y="3831336"/>
            <a:ext cx="3752167" cy="292608"/>
          </a:xfrm>
          <a:prstGeom prst="rect">
            <a:avLst/>
          </a:prstGeom>
          <a:noFill/>
          <a:ln/>
        </p:spPr>
        <p:txBody>
          <a:bodyPr wrap="square" lIns="0" tIns="0" rIns="0" bIns="0" rtlCol="0" anchor="t"/>
          <a:lstStyle/>
          <a:p>
            <a:pPr indent="0" marL="0">
              <a:buNone/>
            </a:pPr>
            <a:r>
              <a:rPr lang="en-US" sz="1500" b="1" dirty="0">
                <a:solidFill>
                  <a:srgbClr val="17211C"/>
                </a:solidFill>
                <a:latin typeface="Calibri" pitchFamily="34" charset="0"/>
                <a:ea typeface="Calibri" pitchFamily="34" charset="-122"/>
                <a:cs typeface="Calibri" pitchFamily="34" charset="-120"/>
              </a:rPr>
              <a:t>Sur téléphone</a:t>
            </a:r>
            <a:endParaRPr lang="en-US" sz="1500" dirty="0"/>
          </a:p>
        </p:txBody>
      </p:sp>
      <p:sp>
        <p:nvSpPr>
          <p:cNvPr id="18" name="Text 13"/>
          <p:cNvSpPr txBox="1"/>
          <p:nvPr/>
        </p:nvSpPr>
        <p:spPr>
          <a:xfrm>
            <a:off x="7890888" y="4151376"/>
            <a:ext cx="3752167" cy="594360"/>
          </a:xfrm>
          <a:prstGeom prst="rect">
            <a:avLst/>
          </a:prstGeom>
          <a:noFill/>
          <a:ln/>
        </p:spPr>
        <p:txBody>
          <a:bodyPr wrap="square" lIns="0" tIns="0" rIns="0" bIns="0" rtlCol="0" anchor="t"/>
          <a:lstStyle/>
          <a:p>
            <a:pPr indent="0" marL="0">
              <a:buNone/>
            </a:pPr>
            <a:r>
              <a:rPr lang="en-US" sz="1250" dirty="0">
                <a:solidFill>
                  <a:srgbClr val="3F4842"/>
                </a:solidFill>
                <a:latin typeface="Calibri" pitchFamily="34" charset="0"/>
                <a:ea typeface="Calibri" pitchFamily="34" charset="-122"/>
                <a:cs typeface="Calibri" pitchFamily="34" charset="-120"/>
              </a:rPr>
              <a:t>Pour l'inventaire de bureau en bureau : menu replié, fiche sur une colonne.</a:t>
            </a:r>
            <a:endParaRPr lang="en-US" sz="1250" dirty="0"/>
          </a:p>
        </p:txBody>
      </p:sp>
      <p:sp>
        <p:nvSpPr>
          <p:cNvPr id="19" name="Text 14"/>
          <p:cNvSpPr txBox="1"/>
          <p:nvPr/>
        </p:nvSpPr>
        <p:spPr>
          <a:xfrm>
            <a:off x="7890888" y="4855464"/>
            <a:ext cx="3752167" cy="292608"/>
          </a:xfrm>
          <a:prstGeom prst="rect">
            <a:avLst/>
          </a:prstGeom>
          <a:noFill/>
          <a:ln/>
        </p:spPr>
        <p:txBody>
          <a:bodyPr wrap="square" lIns="0" tIns="0" rIns="0" bIns="0" rtlCol="0" anchor="t"/>
          <a:lstStyle/>
          <a:p>
            <a:pPr indent="0" marL="0">
              <a:buNone/>
            </a:pPr>
            <a:r>
              <a:rPr lang="en-US" sz="1500" b="1" dirty="0">
                <a:solidFill>
                  <a:srgbClr val="17211C"/>
                </a:solidFill>
                <a:latin typeface="Calibri" pitchFamily="34" charset="0"/>
                <a:ea typeface="Calibri" pitchFamily="34" charset="-122"/>
                <a:cs typeface="Calibri" pitchFamily="34" charset="-120"/>
              </a:rPr>
              <a:t>Revérifié en PHP</a:t>
            </a:r>
            <a:endParaRPr lang="en-US" sz="1500" dirty="0"/>
          </a:p>
        </p:txBody>
      </p:sp>
      <p:sp>
        <p:nvSpPr>
          <p:cNvPr id="20" name="Text 15"/>
          <p:cNvSpPr txBox="1"/>
          <p:nvPr/>
        </p:nvSpPr>
        <p:spPr>
          <a:xfrm>
            <a:off x="7890888" y="5175504"/>
            <a:ext cx="3752167" cy="594360"/>
          </a:xfrm>
          <a:prstGeom prst="rect">
            <a:avLst/>
          </a:prstGeom>
          <a:noFill/>
          <a:ln/>
        </p:spPr>
        <p:txBody>
          <a:bodyPr wrap="square" lIns="0" tIns="0" rIns="0" bIns="0" rtlCol="0" anchor="t"/>
          <a:lstStyle/>
          <a:p>
            <a:pPr indent="0" marL="0">
              <a:buNone/>
            </a:pPr>
            <a:r>
              <a:rPr lang="en-US" sz="1250" dirty="0">
                <a:solidFill>
                  <a:srgbClr val="3F4842"/>
                </a:solidFill>
                <a:latin typeface="Calibri" pitchFamily="34" charset="0"/>
                <a:ea typeface="Calibri" pitchFamily="34" charset="-122"/>
                <a:cs typeface="Calibri" pitchFamily="34" charset="-120"/>
              </a:rPr>
              <a:t>Le JavaScript aide l'utilisateur ; c'est le serveur qui décide.</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EFE6"/>
        </a:solidFill>
      </p:bgPr>
    </p:bg>
    <p:spTree>
      <p:nvGrpSpPr>
        <p:cNvPr id="1" name=""/>
        <p:cNvGrpSpPr/>
        <p:nvPr/>
      </p:nvGrpSpPr>
      <p:grpSpPr>
        <a:xfrm>
          <a:off x="0" y="0"/>
          <a:ext cx="0" cy="0"/>
          <a:chOff x="0" y="0"/>
          <a:chExt cx="0" cy="0"/>
        </a:xfrm>
      </p:grpSpPr>
      <p:sp>
        <p:nvSpPr>
          <p:cNvPr id="2" name="Shape 0"/>
          <p:cNvSpPr/>
          <p:nvPr/>
        </p:nvSpPr>
        <p:spPr>
          <a:xfrm>
            <a:off x="548640" y="384048"/>
            <a:ext cx="1389888" cy="274320"/>
          </a:xfrm>
          <a:prstGeom prst="roundRect">
            <a:avLst>
              <a:gd name="adj" fmla="val 16667"/>
            </a:avLst>
          </a:prstGeom>
          <a:solidFill>
            <a:srgbClr val="FFFDF7"/>
          </a:solidFill>
          <a:ln w="9525">
            <a:solidFill>
              <a:srgbClr val="CBC2AD"/>
            </a:solidFill>
            <a:prstDash val="solid"/>
          </a:ln>
        </p:spPr>
      </p:sp>
      <p:sp>
        <p:nvSpPr>
          <p:cNvPr id="3" name="Shape 1"/>
          <p:cNvSpPr/>
          <p:nvPr/>
        </p:nvSpPr>
        <p:spPr>
          <a:xfrm>
            <a:off x="640080" y="489204"/>
            <a:ext cx="64008" cy="64008"/>
          </a:xfrm>
          <a:prstGeom prst="ellipse">
            <a:avLst/>
          </a:prstGeom>
          <a:solidFill>
            <a:srgbClr val="F3EFE6"/>
          </a:solidFill>
          <a:ln w="9525">
            <a:solidFill>
              <a:srgbClr val="CBC2AD"/>
            </a:solidFill>
            <a:prstDash val="solid"/>
          </a:ln>
        </p:spPr>
      </p:sp>
      <p:sp>
        <p:nvSpPr>
          <p:cNvPr id="4" name="Text 2"/>
          <p:cNvSpPr txBox="1"/>
          <p:nvPr/>
        </p:nvSpPr>
        <p:spPr>
          <a:xfrm>
            <a:off x="768096" y="384048"/>
            <a:ext cx="1152144" cy="274320"/>
          </a:xfrm>
          <a:prstGeom prst="rect">
            <a:avLst/>
          </a:prstGeom>
          <a:noFill/>
          <a:ln/>
        </p:spPr>
        <p:txBody>
          <a:bodyPr wrap="none" lIns="0" tIns="0" rIns="0" bIns="0" rtlCol="0" anchor="ctr"/>
          <a:lstStyle/>
          <a:p>
            <a:pPr indent="0" marL="0">
              <a:buNone/>
            </a:pPr>
            <a:r>
              <a:rPr lang="en-US" sz="1000" spc="100" kern="0" dirty="0">
                <a:solidFill>
                  <a:srgbClr val="17211C"/>
                </a:solidFill>
                <a:latin typeface="Consolas" pitchFamily="34" charset="0"/>
                <a:ea typeface="Consolas" pitchFamily="34" charset="-122"/>
                <a:cs typeface="Consolas" pitchFamily="34" charset="-120"/>
              </a:rPr>
              <a:t>10 · DESIGN</a:t>
            </a:r>
            <a:endParaRPr lang="en-US" sz="1000" dirty="0"/>
          </a:p>
        </p:txBody>
      </p:sp>
      <p:sp>
        <p:nvSpPr>
          <p:cNvPr id="5" name="Text 3"/>
          <p:cNvSpPr txBox="1"/>
          <p:nvPr/>
        </p:nvSpPr>
        <p:spPr>
          <a:xfrm>
            <a:off x="548640" y="786384"/>
            <a:ext cx="11094415" cy="731520"/>
          </a:xfrm>
          <a:prstGeom prst="rect">
            <a:avLst/>
          </a:prstGeom>
          <a:noFill/>
          <a:ln/>
        </p:spPr>
        <p:txBody>
          <a:bodyPr wrap="square" lIns="0" tIns="0" rIns="0" bIns="0" rtlCol="0" anchor="ctr"/>
          <a:lstStyle/>
          <a:p>
            <a:pPr indent="0" marL="0">
              <a:buNone/>
            </a:pPr>
            <a:r>
              <a:rPr lang="en-US" sz="3200" dirty="0">
                <a:solidFill>
                  <a:srgbClr val="17211C"/>
                </a:solidFill>
                <a:latin typeface="Georgia" pitchFamily="34" charset="0"/>
                <a:ea typeface="Georgia" pitchFamily="34" charset="-122"/>
                <a:cs typeface="Georgia" pitchFamily="34" charset="-120"/>
              </a:rPr>
              <a:t>Un registre, pas un tableur</a:t>
            </a:r>
            <a:endParaRPr lang="en-US" sz="3200" dirty="0"/>
          </a:p>
        </p:txBody>
      </p:sp>
      <p:sp>
        <p:nvSpPr>
          <p:cNvPr id="7" name="Text 4"/>
          <p:cNvSpPr txBox="1"/>
          <p:nvPr/>
        </p:nvSpPr>
        <p:spPr>
          <a:xfrm>
            <a:off x="10545775" y="6473952"/>
            <a:ext cx="1097280" cy="228600"/>
          </a:xfrm>
          <a:prstGeom prst="rect">
            <a:avLst/>
          </a:prstGeom>
          <a:noFill/>
          <a:ln/>
        </p:spPr>
        <p:txBody>
          <a:bodyPr wrap="square" lIns="0" tIns="0" rIns="0" bIns="0" rtlCol="0" anchor="t"/>
          <a:lstStyle/>
          <a:p>
            <a:pPr algn="r" indent="0" marL="0">
              <a:buNone/>
            </a:pPr>
            <a:r>
              <a:rPr lang="en-US" sz="900" dirty="0">
                <a:solidFill>
                  <a:srgbClr val="767A71"/>
                </a:solidFill>
                <a:latin typeface="Consolas" pitchFamily="34" charset="0"/>
                <a:ea typeface="Consolas" pitchFamily="34" charset="-122"/>
                <a:cs typeface="Consolas" pitchFamily="34" charset="-120"/>
              </a:rPr>
              <a:t>13 / 17</a:t>
            </a:r>
            <a:endParaRPr lang="en-US" sz="900" dirty="0"/>
          </a:p>
        </p:txBody>
      </p:sp>
      <p:sp>
        <p:nvSpPr>
          <p:cNvPr id="8" name="Text 5"/>
          <p:cNvSpPr txBox="1"/>
          <p:nvPr/>
        </p:nvSpPr>
        <p:spPr>
          <a:xfrm>
            <a:off x="548640" y="6473952"/>
            <a:ext cx="1828800" cy="228600"/>
          </a:xfrm>
          <a:prstGeom prst="rect">
            <a:avLst/>
          </a:prstGeom>
          <a:noFill/>
          <a:ln/>
        </p:spPr>
        <p:txBody>
          <a:bodyPr wrap="square" lIns="0" tIns="0" rIns="0" bIns="0" rtlCol="0" anchor="t"/>
          <a:lstStyle/>
          <a:p>
            <a:pPr indent="0" marL="0">
              <a:buNone/>
            </a:pPr>
            <a:r>
              <a:rPr lang="en-US" sz="1000" i="1" dirty="0">
                <a:solidFill>
                  <a:srgbClr val="767A71"/>
                </a:solidFill>
                <a:latin typeface="Georgia" pitchFamily="34" charset="0"/>
                <a:ea typeface="Georgia" pitchFamily="34" charset="-122"/>
                <a:cs typeface="Georgia" pitchFamily="34" charset="-120"/>
              </a:rPr>
              <a:t>Patrimo</a:t>
            </a:r>
            <a:endParaRPr lang="en-US" sz="1000" dirty="0"/>
          </a:p>
        </p:txBody>
      </p:sp>
      <p:sp>
        <p:nvSpPr>
          <p:cNvPr id="9" name="Text 6"/>
          <p:cNvSpPr txBox="1"/>
          <p:nvPr/>
        </p:nvSpPr>
        <p:spPr>
          <a:xfrm>
            <a:off x="548640" y="1691640"/>
            <a:ext cx="2743200" cy="228600"/>
          </a:xfrm>
          <a:prstGeom prst="rect">
            <a:avLst/>
          </a:prstGeom>
          <a:noFill/>
          <a:ln/>
        </p:spPr>
        <p:txBody>
          <a:bodyPr wrap="square" lIns="0" tIns="0" rIns="0" bIns="0" rtlCol="0" anchor="t"/>
          <a:lstStyle/>
          <a:p>
            <a:pPr indent="0" marL="0">
              <a:buNone/>
            </a:pPr>
            <a:r>
              <a:rPr lang="en-US" sz="1000" b="1" spc="200" kern="0" dirty="0">
                <a:solidFill>
                  <a:srgbClr val="1F4A3A"/>
                </a:solidFill>
                <a:latin typeface="Consolas" pitchFamily="34" charset="0"/>
                <a:ea typeface="Consolas" pitchFamily="34" charset="-122"/>
                <a:cs typeface="Consolas" pitchFamily="34" charset="-120"/>
              </a:rPr>
              <a:t>PALETTE</a:t>
            </a:r>
            <a:endParaRPr lang="en-US" sz="1000" dirty="0"/>
          </a:p>
        </p:txBody>
      </p:sp>
      <p:sp>
        <p:nvSpPr>
          <p:cNvPr id="10" name="Shape 7"/>
          <p:cNvSpPr/>
          <p:nvPr/>
        </p:nvSpPr>
        <p:spPr>
          <a:xfrm>
            <a:off x="548640" y="2011680"/>
            <a:ext cx="822960" cy="530352"/>
          </a:xfrm>
          <a:prstGeom prst="rect">
            <a:avLst/>
          </a:prstGeom>
          <a:solidFill>
            <a:srgbClr val="1A2E25"/>
          </a:solidFill>
          <a:ln w="9525">
            <a:solidFill>
              <a:srgbClr val="CBC2AD"/>
            </a:solidFill>
            <a:prstDash val="solid"/>
          </a:ln>
        </p:spPr>
      </p:sp>
      <p:sp>
        <p:nvSpPr>
          <p:cNvPr id="11" name="Text 8"/>
          <p:cNvSpPr txBox="1"/>
          <p:nvPr/>
        </p:nvSpPr>
        <p:spPr>
          <a:xfrm>
            <a:off x="1508760" y="2029968"/>
            <a:ext cx="1828800" cy="256032"/>
          </a:xfrm>
          <a:prstGeom prst="rect">
            <a:avLst/>
          </a:prstGeom>
          <a:noFill/>
          <a:ln/>
        </p:spPr>
        <p:txBody>
          <a:bodyPr wrap="square" lIns="0" tIns="0" rIns="0" bIns="0" rtlCol="0" anchor="t"/>
          <a:lstStyle/>
          <a:p>
            <a:pPr indent="0" marL="0">
              <a:buNone/>
            </a:pPr>
            <a:r>
              <a:rPr lang="en-US" sz="1300" b="1" dirty="0">
                <a:solidFill>
                  <a:srgbClr val="17211C"/>
                </a:solidFill>
                <a:latin typeface="Calibri" pitchFamily="34" charset="0"/>
                <a:ea typeface="Calibri" pitchFamily="34" charset="-122"/>
                <a:cs typeface="Calibri" pitchFamily="34" charset="-120"/>
              </a:rPr>
              <a:t>Reliure</a:t>
            </a:r>
            <a:endParaRPr lang="en-US" sz="1300" dirty="0"/>
          </a:p>
        </p:txBody>
      </p:sp>
      <p:sp>
        <p:nvSpPr>
          <p:cNvPr id="12" name="Text 9"/>
          <p:cNvSpPr txBox="1"/>
          <p:nvPr/>
        </p:nvSpPr>
        <p:spPr>
          <a:xfrm>
            <a:off x="1508760" y="2286000"/>
            <a:ext cx="1828800" cy="219456"/>
          </a:xfrm>
          <a:prstGeom prst="rect">
            <a:avLst/>
          </a:prstGeom>
          <a:noFill/>
          <a:ln/>
        </p:spPr>
        <p:txBody>
          <a:bodyPr wrap="square" lIns="0" tIns="0" rIns="0" bIns="0" rtlCol="0" anchor="t"/>
          <a:lstStyle/>
          <a:p>
            <a:pPr indent="0" marL="0">
              <a:buNone/>
            </a:pPr>
            <a:r>
              <a:rPr lang="en-US" sz="1000" dirty="0">
                <a:solidFill>
                  <a:srgbClr val="767A71"/>
                </a:solidFill>
                <a:latin typeface="Consolas" pitchFamily="34" charset="0"/>
                <a:ea typeface="Consolas" pitchFamily="34" charset="-122"/>
                <a:cs typeface="Consolas" pitchFamily="34" charset="-120"/>
              </a:rPr>
              <a:t>#1A2E25</a:t>
            </a:r>
            <a:endParaRPr lang="en-US" sz="1000" dirty="0"/>
          </a:p>
        </p:txBody>
      </p:sp>
      <p:sp>
        <p:nvSpPr>
          <p:cNvPr id="13" name="Shape 10"/>
          <p:cNvSpPr/>
          <p:nvPr/>
        </p:nvSpPr>
        <p:spPr>
          <a:xfrm>
            <a:off x="548640" y="2670048"/>
            <a:ext cx="822960" cy="530352"/>
          </a:xfrm>
          <a:prstGeom prst="rect">
            <a:avLst/>
          </a:prstGeom>
          <a:solidFill>
            <a:srgbClr val="1F4A3A"/>
          </a:solidFill>
          <a:ln w="9525">
            <a:solidFill>
              <a:srgbClr val="CBC2AD"/>
            </a:solidFill>
            <a:prstDash val="solid"/>
          </a:ln>
        </p:spPr>
      </p:sp>
      <p:sp>
        <p:nvSpPr>
          <p:cNvPr id="14" name="Text 11"/>
          <p:cNvSpPr txBox="1"/>
          <p:nvPr/>
        </p:nvSpPr>
        <p:spPr>
          <a:xfrm>
            <a:off x="1508760" y="2688336"/>
            <a:ext cx="1828800" cy="256032"/>
          </a:xfrm>
          <a:prstGeom prst="rect">
            <a:avLst/>
          </a:prstGeom>
          <a:noFill/>
          <a:ln/>
        </p:spPr>
        <p:txBody>
          <a:bodyPr wrap="square" lIns="0" tIns="0" rIns="0" bIns="0" rtlCol="0" anchor="t"/>
          <a:lstStyle/>
          <a:p>
            <a:pPr indent="0" marL="0">
              <a:buNone/>
            </a:pPr>
            <a:r>
              <a:rPr lang="en-US" sz="1300" b="1" dirty="0">
                <a:solidFill>
                  <a:srgbClr val="17211C"/>
                </a:solidFill>
                <a:latin typeface="Calibri" pitchFamily="34" charset="0"/>
                <a:ea typeface="Calibri" pitchFamily="34" charset="-122"/>
                <a:cs typeface="Calibri" pitchFamily="34" charset="-120"/>
              </a:rPr>
              <a:t>Vert registre</a:t>
            </a:r>
            <a:endParaRPr lang="en-US" sz="1300" dirty="0"/>
          </a:p>
        </p:txBody>
      </p:sp>
      <p:sp>
        <p:nvSpPr>
          <p:cNvPr id="15" name="Text 12"/>
          <p:cNvSpPr txBox="1"/>
          <p:nvPr/>
        </p:nvSpPr>
        <p:spPr>
          <a:xfrm>
            <a:off x="1508760" y="2944368"/>
            <a:ext cx="1828800" cy="219456"/>
          </a:xfrm>
          <a:prstGeom prst="rect">
            <a:avLst/>
          </a:prstGeom>
          <a:noFill/>
          <a:ln/>
        </p:spPr>
        <p:txBody>
          <a:bodyPr wrap="square" lIns="0" tIns="0" rIns="0" bIns="0" rtlCol="0" anchor="t"/>
          <a:lstStyle/>
          <a:p>
            <a:pPr indent="0" marL="0">
              <a:buNone/>
            </a:pPr>
            <a:r>
              <a:rPr lang="en-US" sz="1000" dirty="0">
                <a:solidFill>
                  <a:srgbClr val="767A71"/>
                </a:solidFill>
                <a:latin typeface="Consolas" pitchFamily="34" charset="0"/>
                <a:ea typeface="Consolas" pitchFamily="34" charset="-122"/>
                <a:cs typeface="Consolas" pitchFamily="34" charset="-120"/>
              </a:rPr>
              <a:t>#1F4A3A</a:t>
            </a:r>
            <a:endParaRPr lang="en-US" sz="1000" dirty="0"/>
          </a:p>
        </p:txBody>
      </p:sp>
      <p:sp>
        <p:nvSpPr>
          <p:cNvPr id="16" name="Shape 13"/>
          <p:cNvSpPr/>
          <p:nvPr/>
        </p:nvSpPr>
        <p:spPr>
          <a:xfrm>
            <a:off x="548640" y="3328416"/>
            <a:ext cx="822960" cy="530352"/>
          </a:xfrm>
          <a:prstGeom prst="rect">
            <a:avLst/>
          </a:prstGeom>
          <a:solidFill>
            <a:srgbClr val="F3EFE6"/>
          </a:solidFill>
          <a:ln w="9525">
            <a:solidFill>
              <a:srgbClr val="CBC2AD"/>
            </a:solidFill>
            <a:prstDash val="solid"/>
          </a:ln>
        </p:spPr>
      </p:sp>
      <p:sp>
        <p:nvSpPr>
          <p:cNvPr id="17" name="Text 14"/>
          <p:cNvSpPr txBox="1"/>
          <p:nvPr/>
        </p:nvSpPr>
        <p:spPr>
          <a:xfrm>
            <a:off x="1508760" y="3346704"/>
            <a:ext cx="1828800" cy="256032"/>
          </a:xfrm>
          <a:prstGeom prst="rect">
            <a:avLst/>
          </a:prstGeom>
          <a:noFill/>
          <a:ln/>
        </p:spPr>
        <p:txBody>
          <a:bodyPr wrap="square" lIns="0" tIns="0" rIns="0" bIns="0" rtlCol="0" anchor="t"/>
          <a:lstStyle/>
          <a:p>
            <a:pPr indent="0" marL="0">
              <a:buNone/>
            </a:pPr>
            <a:r>
              <a:rPr lang="en-US" sz="1300" b="1" dirty="0">
                <a:solidFill>
                  <a:srgbClr val="17211C"/>
                </a:solidFill>
                <a:latin typeface="Calibri" pitchFamily="34" charset="0"/>
                <a:ea typeface="Calibri" pitchFamily="34" charset="-122"/>
                <a:cs typeface="Calibri" pitchFamily="34" charset="-120"/>
              </a:rPr>
              <a:t>Papier</a:t>
            </a:r>
            <a:endParaRPr lang="en-US" sz="1300" dirty="0"/>
          </a:p>
        </p:txBody>
      </p:sp>
      <p:sp>
        <p:nvSpPr>
          <p:cNvPr id="18" name="Text 15"/>
          <p:cNvSpPr txBox="1"/>
          <p:nvPr/>
        </p:nvSpPr>
        <p:spPr>
          <a:xfrm>
            <a:off x="1508760" y="3602736"/>
            <a:ext cx="1828800" cy="219456"/>
          </a:xfrm>
          <a:prstGeom prst="rect">
            <a:avLst/>
          </a:prstGeom>
          <a:noFill/>
          <a:ln/>
        </p:spPr>
        <p:txBody>
          <a:bodyPr wrap="square" lIns="0" tIns="0" rIns="0" bIns="0" rtlCol="0" anchor="t"/>
          <a:lstStyle/>
          <a:p>
            <a:pPr indent="0" marL="0">
              <a:buNone/>
            </a:pPr>
            <a:r>
              <a:rPr lang="en-US" sz="1000" dirty="0">
                <a:solidFill>
                  <a:srgbClr val="767A71"/>
                </a:solidFill>
                <a:latin typeface="Consolas" pitchFamily="34" charset="0"/>
                <a:ea typeface="Consolas" pitchFamily="34" charset="-122"/>
                <a:cs typeface="Consolas" pitchFamily="34" charset="-120"/>
              </a:rPr>
              <a:t>#F3EFE6</a:t>
            </a:r>
            <a:endParaRPr lang="en-US" sz="1000" dirty="0"/>
          </a:p>
        </p:txBody>
      </p:sp>
      <p:sp>
        <p:nvSpPr>
          <p:cNvPr id="19" name="Shape 16"/>
          <p:cNvSpPr/>
          <p:nvPr/>
        </p:nvSpPr>
        <p:spPr>
          <a:xfrm>
            <a:off x="548640" y="3986784"/>
            <a:ext cx="822960" cy="530352"/>
          </a:xfrm>
          <a:prstGeom prst="rect">
            <a:avLst/>
          </a:prstGeom>
          <a:solidFill>
            <a:srgbClr val="17211C"/>
          </a:solidFill>
          <a:ln w="9525">
            <a:solidFill>
              <a:srgbClr val="CBC2AD"/>
            </a:solidFill>
            <a:prstDash val="solid"/>
          </a:ln>
        </p:spPr>
      </p:sp>
      <p:sp>
        <p:nvSpPr>
          <p:cNvPr id="20" name="Text 17"/>
          <p:cNvSpPr txBox="1"/>
          <p:nvPr/>
        </p:nvSpPr>
        <p:spPr>
          <a:xfrm>
            <a:off x="1508760" y="4005072"/>
            <a:ext cx="1828800" cy="256032"/>
          </a:xfrm>
          <a:prstGeom prst="rect">
            <a:avLst/>
          </a:prstGeom>
          <a:noFill/>
          <a:ln/>
        </p:spPr>
        <p:txBody>
          <a:bodyPr wrap="square" lIns="0" tIns="0" rIns="0" bIns="0" rtlCol="0" anchor="t"/>
          <a:lstStyle/>
          <a:p>
            <a:pPr indent="0" marL="0">
              <a:buNone/>
            </a:pPr>
            <a:r>
              <a:rPr lang="en-US" sz="1300" b="1" dirty="0">
                <a:solidFill>
                  <a:srgbClr val="17211C"/>
                </a:solidFill>
                <a:latin typeface="Calibri" pitchFamily="34" charset="0"/>
                <a:ea typeface="Calibri" pitchFamily="34" charset="-122"/>
                <a:cs typeface="Calibri" pitchFamily="34" charset="-120"/>
              </a:rPr>
              <a:t>Encre</a:t>
            </a:r>
            <a:endParaRPr lang="en-US" sz="1300" dirty="0"/>
          </a:p>
        </p:txBody>
      </p:sp>
      <p:sp>
        <p:nvSpPr>
          <p:cNvPr id="21" name="Text 18"/>
          <p:cNvSpPr txBox="1"/>
          <p:nvPr/>
        </p:nvSpPr>
        <p:spPr>
          <a:xfrm>
            <a:off x="1508760" y="4261104"/>
            <a:ext cx="1828800" cy="219456"/>
          </a:xfrm>
          <a:prstGeom prst="rect">
            <a:avLst/>
          </a:prstGeom>
          <a:noFill/>
          <a:ln/>
        </p:spPr>
        <p:txBody>
          <a:bodyPr wrap="square" lIns="0" tIns="0" rIns="0" bIns="0" rtlCol="0" anchor="t"/>
          <a:lstStyle/>
          <a:p>
            <a:pPr indent="0" marL="0">
              <a:buNone/>
            </a:pPr>
            <a:r>
              <a:rPr lang="en-US" sz="1000" dirty="0">
                <a:solidFill>
                  <a:srgbClr val="767A71"/>
                </a:solidFill>
                <a:latin typeface="Consolas" pitchFamily="34" charset="0"/>
                <a:ea typeface="Consolas" pitchFamily="34" charset="-122"/>
                <a:cs typeface="Consolas" pitchFamily="34" charset="-120"/>
              </a:rPr>
              <a:t>#17211C</a:t>
            </a:r>
            <a:endParaRPr lang="en-US" sz="1000" dirty="0"/>
          </a:p>
        </p:txBody>
      </p:sp>
      <p:sp>
        <p:nvSpPr>
          <p:cNvPr id="22" name="Shape 19"/>
          <p:cNvSpPr/>
          <p:nvPr/>
        </p:nvSpPr>
        <p:spPr>
          <a:xfrm>
            <a:off x="548640" y="4645152"/>
            <a:ext cx="822960" cy="530352"/>
          </a:xfrm>
          <a:prstGeom prst="rect">
            <a:avLst/>
          </a:prstGeom>
          <a:solidFill>
            <a:srgbClr val="E2C98F"/>
          </a:solidFill>
          <a:ln w="9525">
            <a:solidFill>
              <a:srgbClr val="CBC2AD"/>
            </a:solidFill>
            <a:prstDash val="solid"/>
          </a:ln>
        </p:spPr>
      </p:sp>
      <p:sp>
        <p:nvSpPr>
          <p:cNvPr id="23" name="Text 20"/>
          <p:cNvSpPr txBox="1"/>
          <p:nvPr/>
        </p:nvSpPr>
        <p:spPr>
          <a:xfrm>
            <a:off x="1508760" y="4663440"/>
            <a:ext cx="1828800" cy="256032"/>
          </a:xfrm>
          <a:prstGeom prst="rect">
            <a:avLst/>
          </a:prstGeom>
          <a:noFill/>
          <a:ln/>
        </p:spPr>
        <p:txBody>
          <a:bodyPr wrap="square" lIns="0" tIns="0" rIns="0" bIns="0" rtlCol="0" anchor="t"/>
          <a:lstStyle/>
          <a:p>
            <a:pPr indent="0" marL="0">
              <a:buNone/>
            </a:pPr>
            <a:r>
              <a:rPr lang="en-US" sz="1300" b="1" dirty="0">
                <a:solidFill>
                  <a:srgbClr val="17211C"/>
                </a:solidFill>
                <a:latin typeface="Calibri" pitchFamily="34" charset="0"/>
                <a:ea typeface="Calibri" pitchFamily="34" charset="-122"/>
                <a:cs typeface="Calibri" pitchFamily="34" charset="-120"/>
              </a:rPr>
              <a:t>Or</a:t>
            </a:r>
            <a:endParaRPr lang="en-US" sz="1300" dirty="0"/>
          </a:p>
        </p:txBody>
      </p:sp>
      <p:sp>
        <p:nvSpPr>
          <p:cNvPr id="24" name="Text 21"/>
          <p:cNvSpPr txBox="1"/>
          <p:nvPr/>
        </p:nvSpPr>
        <p:spPr>
          <a:xfrm>
            <a:off x="1508760" y="4919472"/>
            <a:ext cx="1828800" cy="219456"/>
          </a:xfrm>
          <a:prstGeom prst="rect">
            <a:avLst/>
          </a:prstGeom>
          <a:noFill/>
          <a:ln/>
        </p:spPr>
        <p:txBody>
          <a:bodyPr wrap="square" lIns="0" tIns="0" rIns="0" bIns="0" rtlCol="0" anchor="t"/>
          <a:lstStyle/>
          <a:p>
            <a:pPr indent="0" marL="0">
              <a:buNone/>
            </a:pPr>
            <a:r>
              <a:rPr lang="en-US" sz="1000" dirty="0">
                <a:solidFill>
                  <a:srgbClr val="767A71"/>
                </a:solidFill>
                <a:latin typeface="Consolas" pitchFamily="34" charset="0"/>
                <a:ea typeface="Consolas" pitchFamily="34" charset="-122"/>
                <a:cs typeface="Consolas" pitchFamily="34" charset="-120"/>
              </a:rPr>
              <a:t>#E2C98F</a:t>
            </a:r>
            <a:endParaRPr lang="en-US" sz="1000" dirty="0"/>
          </a:p>
        </p:txBody>
      </p:sp>
      <p:sp>
        <p:nvSpPr>
          <p:cNvPr id="25" name="Shape 22"/>
          <p:cNvSpPr/>
          <p:nvPr/>
        </p:nvSpPr>
        <p:spPr>
          <a:xfrm>
            <a:off x="676656" y="5440680"/>
            <a:ext cx="329184" cy="329184"/>
          </a:xfrm>
          <a:prstGeom prst="ellipse">
            <a:avLst/>
          </a:prstGeom>
          <a:solidFill>
            <a:srgbClr val="2E7250"/>
          </a:solidFill>
          <a:ln w="6350">
            <a:solidFill>
              <a:srgbClr val="2E7250"/>
            </a:solidFill>
            <a:prstDash val="solid"/>
          </a:ln>
        </p:spPr>
      </p:sp>
      <p:sp>
        <p:nvSpPr>
          <p:cNvPr id="26" name="Text 23"/>
          <p:cNvSpPr txBox="1"/>
          <p:nvPr/>
        </p:nvSpPr>
        <p:spPr>
          <a:xfrm>
            <a:off x="457200" y="5815584"/>
            <a:ext cx="768096" cy="201168"/>
          </a:xfrm>
          <a:prstGeom prst="rect">
            <a:avLst/>
          </a:prstGeom>
          <a:noFill/>
          <a:ln/>
        </p:spPr>
        <p:txBody>
          <a:bodyPr wrap="square" lIns="0" tIns="0" rIns="0" bIns="0" rtlCol="0" anchor="t"/>
          <a:lstStyle/>
          <a:p>
            <a:pPr algn="ctr" indent="0" marL="0">
              <a:buNone/>
            </a:pPr>
            <a:r>
              <a:rPr lang="en-US" sz="900" dirty="0">
                <a:solidFill>
                  <a:srgbClr val="767A71"/>
                </a:solidFill>
                <a:latin typeface="Calibri" pitchFamily="34" charset="0"/>
                <a:ea typeface="Calibri" pitchFamily="34" charset="-122"/>
                <a:cs typeface="Calibri" pitchFamily="34" charset="-120"/>
              </a:rPr>
              <a:t>Service</a:t>
            </a:r>
            <a:endParaRPr lang="en-US" sz="900" dirty="0"/>
          </a:p>
        </p:txBody>
      </p:sp>
      <p:sp>
        <p:nvSpPr>
          <p:cNvPr id="27" name="Shape 24"/>
          <p:cNvSpPr/>
          <p:nvPr/>
        </p:nvSpPr>
        <p:spPr>
          <a:xfrm>
            <a:off x="1408176" y="5440680"/>
            <a:ext cx="329184" cy="329184"/>
          </a:xfrm>
          <a:prstGeom prst="ellipse">
            <a:avLst/>
          </a:prstGeom>
          <a:solidFill>
            <a:srgbClr val="B23A2A"/>
          </a:solidFill>
          <a:ln w="6350">
            <a:solidFill>
              <a:srgbClr val="B23A2A"/>
            </a:solidFill>
            <a:prstDash val="solid"/>
          </a:ln>
        </p:spPr>
      </p:sp>
      <p:sp>
        <p:nvSpPr>
          <p:cNvPr id="28" name="Text 25"/>
          <p:cNvSpPr txBox="1"/>
          <p:nvPr/>
        </p:nvSpPr>
        <p:spPr>
          <a:xfrm>
            <a:off x="1188720" y="5815584"/>
            <a:ext cx="768096" cy="201168"/>
          </a:xfrm>
          <a:prstGeom prst="rect">
            <a:avLst/>
          </a:prstGeom>
          <a:noFill/>
          <a:ln/>
        </p:spPr>
        <p:txBody>
          <a:bodyPr wrap="square" lIns="0" tIns="0" rIns="0" bIns="0" rtlCol="0" anchor="t"/>
          <a:lstStyle/>
          <a:p>
            <a:pPr algn="ctr" indent="0" marL="0">
              <a:buNone/>
            </a:pPr>
            <a:r>
              <a:rPr lang="en-US" sz="900" dirty="0">
                <a:solidFill>
                  <a:srgbClr val="767A71"/>
                </a:solidFill>
                <a:latin typeface="Calibri" pitchFamily="34" charset="0"/>
                <a:ea typeface="Calibri" pitchFamily="34" charset="-122"/>
                <a:cs typeface="Calibri" pitchFamily="34" charset="-120"/>
              </a:rPr>
              <a:t>Panne</a:t>
            </a:r>
            <a:endParaRPr lang="en-US" sz="900" dirty="0"/>
          </a:p>
        </p:txBody>
      </p:sp>
      <p:sp>
        <p:nvSpPr>
          <p:cNvPr id="29" name="Shape 26"/>
          <p:cNvSpPr/>
          <p:nvPr/>
        </p:nvSpPr>
        <p:spPr>
          <a:xfrm>
            <a:off x="2139696" y="5440680"/>
            <a:ext cx="329184" cy="329184"/>
          </a:xfrm>
          <a:prstGeom prst="ellipse">
            <a:avLst/>
          </a:prstGeom>
          <a:solidFill>
            <a:srgbClr val="B27416"/>
          </a:solidFill>
          <a:ln w="6350">
            <a:solidFill>
              <a:srgbClr val="B27416"/>
            </a:solidFill>
            <a:prstDash val="solid"/>
          </a:ln>
        </p:spPr>
      </p:sp>
      <p:sp>
        <p:nvSpPr>
          <p:cNvPr id="30" name="Text 27"/>
          <p:cNvSpPr txBox="1"/>
          <p:nvPr/>
        </p:nvSpPr>
        <p:spPr>
          <a:xfrm>
            <a:off x="1920240" y="5815584"/>
            <a:ext cx="768096" cy="201168"/>
          </a:xfrm>
          <a:prstGeom prst="rect">
            <a:avLst/>
          </a:prstGeom>
          <a:noFill/>
          <a:ln/>
        </p:spPr>
        <p:txBody>
          <a:bodyPr wrap="square" lIns="0" tIns="0" rIns="0" bIns="0" rtlCol="0" anchor="t"/>
          <a:lstStyle/>
          <a:p>
            <a:pPr algn="ctr" indent="0" marL="0">
              <a:buNone/>
            </a:pPr>
            <a:r>
              <a:rPr lang="en-US" sz="900" dirty="0">
                <a:solidFill>
                  <a:srgbClr val="767A71"/>
                </a:solidFill>
                <a:latin typeface="Calibri" pitchFamily="34" charset="0"/>
                <a:ea typeface="Calibri" pitchFamily="34" charset="-122"/>
                <a:cs typeface="Calibri" pitchFamily="34" charset="-120"/>
              </a:rPr>
              <a:t>Réparation</a:t>
            </a:r>
            <a:endParaRPr lang="en-US" sz="900" dirty="0"/>
          </a:p>
        </p:txBody>
      </p:sp>
      <p:sp>
        <p:nvSpPr>
          <p:cNvPr id="31" name="Shape 28"/>
          <p:cNvSpPr/>
          <p:nvPr/>
        </p:nvSpPr>
        <p:spPr>
          <a:xfrm>
            <a:off x="2871216" y="5440680"/>
            <a:ext cx="329184" cy="329184"/>
          </a:xfrm>
          <a:prstGeom prst="ellipse">
            <a:avLst/>
          </a:prstGeom>
          <a:solidFill>
            <a:srgbClr val="9A988E"/>
          </a:solidFill>
          <a:ln w="6350">
            <a:solidFill>
              <a:srgbClr val="9A988E"/>
            </a:solidFill>
            <a:prstDash val="solid"/>
          </a:ln>
        </p:spPr>
      </p:sp>
      <p:sp>
        <p:nvSpPr>
          <p:cNvPr id="32" name="Text 29"/>
          <p:cNvSpPr txBox="1"/>
          <p:nvPr/>
        </p:nvSpPr>
        <p:spPr>
          <a:xfrm>
            <a:off x="2651760" y="5815584"/>
            <a:ext cx="768096" cy="201168"/>
          </a:xfrm>
          <a:prstGeom prst="rect">
            <a:avLst/>
          </a:prstGeom>
          <a:noFill/>
          <a:ln/>
        </p:spPr>
        <p:txBody>
          <a:bodyPr wrap="square" lIns="0" tIns="0" rIns="0" bIns="0" rtlCol="0" anchor="t"/>
          <a:lstStyle/>
          <a:p>
            <a:pPr algn="ctr" indent="0" marL="0">
              <a:buNone/>
            </a:pPr>
            <a:r>
              <a:rPr lang="en-US" sz="900" dirty="0">
                <a:solidFill>
                  <a:srgbClr val="767A71"/>
                </a:solidFill>
                <a:latin typeface="Calibri" pitchFamily="34" charset="0"/>
                <a:ea typeface="Calibri" pitchFamily="34" charset="-122"/>
                <a:cs typeface="Calibri" pitchFamily="34" charset="-120"/>
              </a:rPr>
              <a:t>Réformé</a:t>
            </a:r>
            <a:endParaRPr lang="en-US" sz="900" dirty="0"/>
          </a:p>
        </p:txBody>
      </p:sp>
      <p:sp>
        <p:nvSpPr>
          <p:cNvPr id="33" name="Shape 30"/>
          <p:cNvSpPr/>
          <p:nvPr/>
        </p:nvSpPr>
        <p:spPr>
          <a:xfrm>
            <a:off x="3794760" y="1645920"/>
            <a:ext cx="7848295" cy="4434840"/>
          </a:xfrm>
          <a:prstGeom prst="rect">
            <a:avLst/>
          </a:prstGeom>
          <a:solidFill>
            <a:srgbClr val="FFFDF7"/>
          </a:solidFill>
          <a:ln w="9525">
            <a:solidFill>
              <a:srgbClr val="DCD5C6"/>
            </a:solidFill>
            <a:prstDash val="solid"/>
          </a:ln>
          <a:effectLst>
            <a:outerShdw sx="100000" sy="100000" kx="0" ky="0" algn="bl" rotWithShape="0" blurRad="76200" dist="19050" dir="5400000">
              <a:srgbClr val="1A2E25">
                <a:alpha val="8000"/>
              </a:srgbClr>
            </a:outerShdw>
          </a:effectLst>
        </p:spPr>
      </p:sp>
      <p:pic>
        <p:nvPicPr>
          <p:cNvPr id="34" name="Image 0" descr="/tmp/claude-0/-home-user-ourwa/8231f12d-bf28-5433-a361-75f92448dec8/scratchpad/slides-img/a-board.png">    </p:cNvPr>
          <p:cNvPicPr>
            <a:picLocks noChangeAspect="1"/>
          </p:cNvPicPr>
          <p:nvPr/>
        </p:nvPicPr>
        <p:blipFill>
          <a:blip r:embed="rId1"/>
          <a:stretch>
            <a:fillRect/>
          </a:stretch>
        </p:blipFill>
        <p:spPr>
          <a:xfrm>
            <a:off x="4023360" y="2376671"/>
            <a:ext cx="7635240" cy="297333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EFE6"/>
        </a:solidFill>
      </p:bgPr>
    </p:bg>
    <p:spTree>
      <p:nvGrpSpPr>
        <p:cNvPr id="1" name=""/>
        <p:cNvGrpSpPr/>
        <p:nvPr/>
      </p:nvGrpSpPr>
      <p:grpSpPr>
        <a:xfrm>
          <a:off x="0" y="0"/>
          <a:ext cx="0" cy="0"/>
          <a:chOff x="0" y="0"/>
          <a:chExt cx="0" cy="0"/>
        </a:xfrm>
      </p:grpSpPr>
      <p:sp>
        <p:nvSpPr>
          <p:cNvPr id="2" name="Shape 0"/>
          <p:cNvSpPr/>
          <p:nvPr/>
        </p:nvSpPr>
        <p:spPr>
          <a:xfrm>
            <a:off x="548640" y="384048"/>
            <a:ext cx="1481328" cy="274320"/>
          </a:xfrm>
          <a:prstGeom prst="roundRect">
            <a:avLst>
              <a:gd name="adj" fmla="val 16667"/>
            </a:avLst>
          </a:prstGeom>
          <a:solidFill>
            <a:srgbClr val="FFFDF7"/>
          </a:solidFill>
          <a:ln w="9525">
            <a:solidFill>
              <a:srgbClr val="CBC2AD"/>
            </a:solidFill>
            <a:prstDash val="solid"/>
          </a:ln>
        </p:spPr>
      </p:sp>
      <p:sp>
        <p:nvSpPr>
          <p:cNvPr id="3" name="Shape 1"/>
          <p:cNvSpPr/>
          <p:nvPr/>
        </p:nvSpPr>
        <p:spPr>
          <a:xfrm>
            <a:off x="640080" y="489204"/>
            <a:ext cx="64008" cy="64008"/>
          </a:xfrm>
          <a:prstGeom prst="ellipse">
            <a:avLst/>
          </a:prstGeom>
          <a:solidFill>
            <a:srgbClr val="F3EFE6"/>
          </a:solidFill>
          <a:ln w="9525">
            <a:solidFill>
              <a:srgbClr val="CBC2AD"/>
            </a:solidFill>
            <a:prstDash val="solid"/>
          </a:ln>
        </p:spPr>
      </p:sp>
      <p:sp>
        <p:nvSpPr>
          <p:cNvPr id="4" name="Text 2"/>
          <p:cNvSpPr txBox="1"/>
          <p:nvPr/>
        </p:nvSpPr>
        <p:spPr>
          <a:xfrm>
            <a:off x="768096" y="384048"/>
            <a:ext cx="1243584" cy="274320"/>
          </a:xfrm>
          <a:prstGeom prst="rect">
            <a:avLst/>
          </a:prstGeom>
          <a:noFill/>
          <a:ln/>
        </p:spPr>
        <p:txBody>
          <a:bodyPr wrap="none" lIns="0" tIns="0" rIns="0" bIns="0" rtlCol="0" anchor="ctr"/>
          <a:lstStyle/>
          <a:p>
            <a:pPr indent="0" marL="0">
              <a:buNone/>
            </a:pPr>
            <a:r>
              <a:rPr lang="en-US" sz="1000" spc="100" kern="0" dirty="0">
                <a:solidFill>
                  <a:srgbClr val="17211C"/>
                </a:solidFill>
                <a:latin typeface="Consolas" pitchFamily="34" charset="0"/>
                <a:ea typeface="Consolas" pitchFamily="34" charset="-122"/>
                <a:cs typeface="Consolas" pitchFamily="34" charset="-120"/>
              </a:rPr>
              <a:t>11 · QUALITÉ</a:t>
            </a:r>
            <a:endParaRPr lang="en-US" sz="1000" dirty="0"/>
          </a:p>
        </p:txBody>
      </p:sp>
      <p:sp>
        <p:nvSpPr>
          <p:cNvPr id="5" name="Text 3"/>
          <p:cNvSpPr txBox="1"/>
          <p:nvPr/>
        </p:nvSpPr>
        <p:spPr>
          <a:xfrm>
            <a:off x="548640" y="786384"/>
            <a:ext cx="11094415" cy="731520"/>
          </a:xfrm>
          <a:prstGeom prst="rect">
            <a:avLst/>
          </a:prstGeom>
          <a:noFill/>
          <a:ln/>
        </p:spPr>
        <p:txBody>
          <a:bodyPr wrap="square" lIns="0" tIns="0" rIns="0" bIns="0" rtlCol="0" anchor="ctr"/>
          <a:lstStyle/>
          <a:p>
            <a:pPr indent="0" marL="0">
              <a:buNone/>
            </a:pPr>
            <a:r>
              <a:rPr lang="en-US" sz="3200" dirty="0">
                <a:solidFill>
                  <a:srgbClr val="17211C"/>
                </a:solidFill>
                <a:latin typeface="Georgia" pitchFamily="34" charset="0"/>
                <a:ea typeface="Georgia" pitchFamily="34" charset="-122"/>
                <a:cs typeface="Georgia" pitchFamily="34" charset="-120"/>
              </a:rPr>
              <a:t>Sécurité et tests</a:t>
            </a:r>
            <a:endParaRPr lang="en-US" sz="3200" dirty="0"/>
          </a:p>
        </p:txBody>
      </p:sp>
      <p:sp>
        <p:nvSpPr>
          <p:cNvPr id="7" name="Text 4"/>
          <p:cNvSpPr txBox="1"/>
          <p:nvPr/>
        </p:nvSpPr>
        <p:spPr>
          <a:xfrm>
            <a:off x="10545775" y="6473952"/>
            <a:ext cx="1097280" cy="228600"/>
          </a:xfrm>
          <a:prstGeom prst="rect">
            <a:avLst/>
          </a:prstGeom>
          <a:noFill/>
          <a:ln/>
        </p:spPr>
        <p:txBody>
          <a:bodyPr wrap="square" lIns="0" tIns="0" rIns="0" bIns="0" rtlCol="0" anchor="t"/>
          <a:lstStyle/>
          <a:p>
            <a:pPr algn="r" indent="0" marL="0">
              <a:buNone/>
            </a:pPr>
            <a:r>
              <a:rPr lang="en-US" sz="900" dirty="0">
                <a:solidFill>
                  <a:srgbClr val="767A71"/>
                </a:solidFill>
                <a:latin typeface="Consolas" pitchFamily="34" charset="0"/>
                <a:ea typeface="Consolas" pitchFamily="34" charset="-122"/>
                <a:cs typeface="Consolas" pitchFamily="34" charset="-120"/>
              </a:rPr>
              <a:t>14 / 17</a:t>
            </a:r>
            <a:endParaRPr lang="en-US" sz="900" dirty="0"/>
          </a:p>
        </p:txBody>
      </p:sp>
      <p:sp>
        <p:nvSpPr>
          <p:cNvPr id="8" name="Text 5"/>
          <p:cNvSpPr txBox="1"/>
          <p:nvPr/>
        </p:nvSpPr>
        <p:spPr>
          <a:xfrm>
            <a:off x="548640" y="6473952"/>
            <a:ext cx="1828800" cy="228600"/>
          </a:xfrm>
          <a:prstGeom prst="rect">
            <a:avLst/>
          </a:prstGeom>
          <a:noFill/>
          <a:ln/>
        </p:spPr>
        <p:txBody>
          <a:bodyPr wrap="square" lIns="0" tIns="0" rIns="0" bIns="0" rtlCol="0" anchor="t"/>
          <a:lstStyle/>
          <a:p>
            <a:pPr indent="0" marL="0">
              <a:buNone/>
            </a:pPr>
            <a:r>
              <a:rPr lang="en-US" sz="1000" i="1" dirty="0">
                <a:solidFill>
                  <a:srgbClr val="767A71"/>
                </a:solidFill>
                <a:latin typeface="Georgia" pitchFamily="34" charset="0"/>
                <a:ea typeface="Georgia" pitchFamily="34" charset="-122"/>
                <a:cs typeface="Georgia" pitchFamily="34" charset="-120"/>
              </a:rPr>
              <a:t>Patrimo</a:t>
            </a:r>
            <a:endParaRPr lang="en-US" sz="1000" dirty="0"/>
          </a:p>
        </p:txBody>
      </p:sp>
      <p:sp>
        <p:nvSpPr>
          <p:cNvPr id="9" name="Shape 6"/>
          <p:cNvSpPr/>
          <p:nvPr/>
        </p:nvSpPr>
        <p:spPr>
          <a:xfrm>
            <a:off x="548640" y="1691640"/>
            <a:ext cx="3246120" cy="1261872"/>
          </a:xfrm>
          <a:prstGeom prst="rect">
            <a:avLst/>
          </a:prstGeom>
          <a:solidFill>
            <a:srgbClr val="FBF9F4"/>
          </a:solidFill>
          <a:ln w="9525">
            <a:solidFill>
              <a:srgbClr val="DCD5C6"/>
            </a:solidFill>
            <a:prstDash val="solid"/>
          </a:ln>
          <a:effectLst>
            <a:outerShdw sx="100000" sy="100000" kx="0" ky="0" algn="bl" rotWithShape="0" blurRad="76200" dist="19050" dir="5400000">
              <a:srgbClr val="1A2E25">
                <a:alpha val="8000"/>
              </a:srgbClr>
            </a:outerShdw>
          </a:effectLst>
        </p:spPr>
      </p:sp>
      <p:sp>
        <p:nvSpPr>
          <p:cNvPr id="10" name="Shape 7"/>
          <p:cNvSpPr/>
          <p:nvPr/>
        </p:nvSpPr>
        <p:spPr>
          <a:xfrm>
            <a:off x="777240" y="1947672"/>
            <a:ext cx="274320" cy="274320"/>
          </a:xfrm>
          <a:prstGeom prst="ellipse">
            <a:avLst/>
          </a:prstGeom>
          <a:solidFill>
            <a:srgbClr val="E2EBE3"/>
          </a:solidFill>
          <a:ln w="6350">
            <a:solidFill>
              <a:srgbClr val="E2EBE3"/>
            </a:solidFill>
            <a:prstDash val="solid"/>
          </a:ln>
        </p:spPr>
      </p:sp>
      <p:sp>
        <p:nvSpPr>
          <p:cNvPr id="11" name="Text 8"/>
          <p:cNvSpPr txBox="1"/>
          <p:nvPr/>
        </p:nvSpPr>
        <p:spPr>
          <a:xfrm>
            <a:off x="777240" y="1947672"/>
            <a:ext cx="274320" cy="274320"/>
          </a:xfrm>
          <a:prstGeom prst="rect">
            <a:avLst/>
          </a:prstGeom>
          <a:noFill/>
          <a:ln/>
        </p:spPr>
        <p:txBody>
          <a:bodyPr wrap="square" lIns="0" tIns="0" rIns="0" bIns="0" rtlCol="0" anchor="ctr"/>
          <a:lstStyle/>
          <a:p>
            <a:pPr algn="ctr" indent="0" marL="0">
              <a:buNone/>
            </a:pPr>
            <a:r>
              <a:rPr lang="en-US" sz="1200" b="1" dirty="0">
                <a:solidFill>
                  <a:srgbClr val="1F4A3A"/>
                </a:solidFill>
                <a:latin typeface="Calibri" pitchFamily="34" charset="0"/>
                <a:ea typeface="Calibri" pitchFamily="34" charset="-122"/>
                <a:cs typeface="Calibri" pitchFamily="34" charset="-120"/>
              </a:rPr>
              <a:t>✓</a:t>
            </a:r>
            <a:endParaRPr lang="en-US" sz="1200" dirty="0"/>
          </a:p>
        </p:txBody>
      </p:sp>
      <p:sp>
        <p:nvSpPr>
          <p:cNvPr id="12" name="Text 9"/>
          <p:cNvSpPr txBox="1"/>
          <p:nvPr/>
        </p:nvSpPr>
        <p:spPr>
          <a:xfrm>
            <a:off x="1188720" y="1911096"/>
            <a:ext cx="2423160" cy="329184"/>
          </a:xfrm>
          <a:prstGeom prst="rect">
            <a:avLst/>
          </a:prstGeom>
          <a:noFill/>
          <a:ln/>
        </p:spPr>
        <p:txBody>
          <a:bodyPr wrap="square" lIns="0" tIns="0" rIns="0" bIns="0" rtlCol="0" anchor="t"/>
          <a:lstStyle/>
          <a:p>
            <a:pPr indent="0" marL="0">
              <a:buNone/>
            </a:pPr>
            <a:r>
              <a:rPr lang="en-US" sz="1450" b="1" dirty="0">
                <a:solidFill>
                  <a:srgbClr val="17211C"/>
                </a:solidFill>
                <a:latin typeface="Calibri" pitchFamily="34" charset="0"/>
                <a:ea typeface="Calibri" pitchFamily="34" charset="-122"/>
                <a:cs typeface="Calibri" pitchFamily="34" charset="-120"/>
              </a:rPr>
              <a:t>Requêtes préparées</a:t>
            </a:r>
            <a:endParaRPr lang="en-US" sz="1450" dirty="0"/>
          </a:p>
        </p:txBody>
      </p:sp>
      <p:sp>
        <p:nvSpPr>
          <p:cNvPr id="13" name="Text 10"/>
          <p:cNvSpPr txBox="1"/>
          <p:nvPr/>
        </p:nvSpPr>
        <p:spPr>
          <a:xfrm>
            <a:off x="1188720" y="2258568"/>
            <a:ext cx="2423160" cy="594360"/>
          </a:xfrm>
          <a:prstGeom prst="rect">
            <a:avLst/>
          </a:prstGeom>
          <a:noFill/>
          <a:ln/>
        </p:spPr>
        <p:txBody>
          <a:bodyPr wrap="square" lIns="0" tIns="0" rIns="0" bIns="0" rtlCol="0" anchor="t"/>
          <a:lstStyle/>
          <a:p>
            <a:pPr indent="0" marL="0">
              <a:buNone/>
            </a:pPr>
            <a:r>
              <a:rPr lang="en-US" sz="1200" dirty="0">
                <a:solidFill>
                  <a:srgbClr val="3F4842"/>
                </a:solidFill>
                <a:latin typeface="Calibri" pitchFamily="34" charset="0"/>
                <a:ea typeface="Calibri" pitchFamily="34" charset="-122"/>
                <a:cs typeface="Calibri" pitchFamily="34" charset="-120"/>
              </a:rPr>
              <a:t>PDO partout : aucune valeur n'est collée dans le SQL.</a:t>
            </a:r>
            <a:endParaRPr lang="en-US" sz="1200" dirty="0"/>
          </a:p>
        </p:txBody>
      </p:sp>
      <p:sp>
        <p:nvSpPr>
          <p:cNvPr id="14" name="Shape 11"/>
          <p:cNvSpPr/>
          <p:nvPr/>
        </p:nvSpPr>
        <p:spPr>
          <a:xfrm>
            <a:off x="4023360" y="1691640"/>
            <a:ext cx="3246120" cy="1261872"/>
          </a:xfrm>
          <a:prstGeom prst="rect">
            <a:avLst/>
          </a:prstGeom>
          <a:solidFill>
            <a:srgbClr val="FBF9F4"/>
          </a:solidFill>
          <a:ln w="9525">
            <a:solidFill>
              <a:srgbClr val="DCD5C6"/>
            </a:solidFill>
            <a:prstDash val="solid"/>
          </a:ln>
          <a:effectLst>
            <a:outerShdw sx="100000" sy="100000" kx="0" ky="0" algn="bl" rotWithShape="0" blurRad="76200" dist="19050" dir="5400000">
              <a:srgbClr val="1A2E25">
                <a:alpha val="8000"/>
              </a:srgbClr>
            </a:outerShdw>
          </a:effectLst>
        </p:spPr>
      </p:sp>
      <p:sp>
        <p:nvSpPr>
          <p:cNvPr id="15" name="Shape 12"/>
          <p:cNvSpPr/>
          <p:nvPr/>
        </p:nvSpPr>
        <p:spPr>
          <a:xfrm>
            <a:off x="4251960" y="1947672"/>
            <a:ext cx="274320" cy="274320"/>
          </a:xfrm>
          <a:prstGeom prst="ellipse">
            <a:avLst/>
          </a:prstGeom>
          <a:solidFill>
            <a:srgbClr val="E2EBE3"/>
          </a:solidFill>
          <a:ln w="6350">
            <a:solidFill>
              <a:srgbClr val="E2EBE3"/>
            </a:solidFill>
            <a:prstDash val="solid"/>
          </a:ln>
        </p:spPr>
      </p:sp>
      <p:sp>
        <p:nvSpPr>
          <p:cNvPr id="16" name="Text 13"/>
          <p:cNvSpPr txBox="1"/>
          <p:nvPr/>
        </p:nvSpPr>
        <p:spPr>
          <a:xfrm>
            <a:off x="4251960" y="1947672"/>
            <a:ext cx="274320" cy="274320"/>
          </a:xfrm>
          <a:prstGeom prst="rect">
            <a:avLst/>
          </a:prstGeom>
          <a:noFill/>
          <a:ln/>
        </p:spPr>
        <p:txBody>
          <a:bodyPr wrap="square" lIns="0" tIns="0" rIns="0" bIns="0" rtlCol="0" anchor="ctr"/>
          <a:lstStyle/>
          <a:p>
            <a:pPr algn="ctr" indent="0" marL="0">
              <a:buNone/>
            </a:pPr>
            <a:r>
              <a:rPr lang="en-US" sz="1200" b="1" dirty="0">
                <a:solidFill>
                  <a:srgbClr val="1F4A3A"/>
                </a:solidFill>
                <a:latin typeface="Calibri" pitchFamily="34" charset="0"/>
                <a:ea typeface="Calibri" pitchFamily="34" charset="-122"/>
                <a:cs typeface="Calibri" pitchFamily="34" charset="-120"/>
              </a:rPr>
              <a:t>✓</a:t>
            </a:r>
            <a:endParaRPr lang="en-US" sz="1200" dirty="0"/>
          </a:p>
        </p:txBody>
      </p:sp>
      <p:sp>
        <p:nvSpPr>
          <p:cNvPr id="17" name="Text 14"/>
          <p:cNvSpPr txBox="1"/>
          <p:nvPr/>
        </p:nvSpPr>
        <p:spPr>
          <a:xfrm>
            <a:off x="4663440" y="1911096"/>
            <a:ext cx="2423160" cy="329184"/>
          </a:xfrm>
          <a:prstGeom prst="rect">
            <a:avLst/>
          </a:prstGeom>
          <a:noFill/>
          <a:ln/>
        </p:spPr>
        <p:txBody>
          <a:bodyPr wrap="square" lIns="0" tIns="0" rIns="0" bIns="0" rtlCol="0" anchor="t"/>
          <a:lstStyle/>
          <a:p>
            <a:pPr indent="0" marL="0">
              <a:buNone/>
            </a:pPr>
            <a:r>
              <a:rPr lang="en-US" sz="1450" b="1" dirty="0">
                <a:solidFill>
                  <a:srgbClr val="17211C"/>
                </a:solidFill>
                <a:latin typeface="Calibri" pitchFamily="34" charset="0"/>
                <a:ea typeface="Calibri" pitchFamily="34" charset="-122"/>
                <a:cs typeface="Calibri" pitchFamily="34" charset="-120"/>
              </a:rPr>
              <a:t>Mots de passe hachés</a:t>
            </a:r>
            <a:endParaRPr lang="en-US" sz="1450" dirty="0"/>
          </a:p>
        </p:txBody>
      </p:sp>
      <p:sp>
        <p:nvSpPr>
          <p:cNvPr id="18" name="Text 15"/>
          <p:cNvSpPr txBox="1"/>
          <p:nvPr/>
        </p:nvSpPr>
        <p:spPr>
          <a:xfrm>
            <a:off x="4663440" y="2258568"/>
            <a:ext cx="2423160" cy="594360"/>
          </a:xfrm>
          <a:prstGeom prst="rect">
            <a:avLst/>
          </a:prstGeom>
          <a:noFill/>
          <a:ln/>
        </p:spPr>
        <p:txBody>
          <a:bodyPr wrap="square" lIns="0" tIns="0" rIns="0" bIns="0" rtlCol="0" anchor="t"/>
          <a:lstStyle/>
          <a:p>
            <a:pPr indent="0" marL="0">
              <a:buNone/>
            </a:pPr>
            <a:r>
              <a:rPr lang="en-US" sz="1200" dirty="0">
                <a:solidFill>
                  <a:srgbClr val="3F4842"/>
                </a:solidFill>
                <a:latin typeface="Calibri" pitchFamily="34" charset="0"/>
                <a:ea typeface="Calibri" pitchFamily="34" charset="-122"/>
                <a:cs typeface="Calibri" pitchFamily="34" charset="-120"/>
              </a:rPr>
              <a:t>password_hash / password_verify (bcrypt).</a:t>
            </a:r>
            <a:endParaRPr lang="en-US" sz="1200" dirty="0"/>
          </a:p>
        </p:txBody>
      </p:sp>
      <p:sp>
        <p:nvSpPr>
          <p:cNvPr id="19" name="Shape 16"/>
          <p:cNvSpPr/>
          <p:nvPr/>
        </p:nvSpPr>
        <p:spPr>
          <a:xfrm>
            <a:off x="548640" y="3182112"/>
            <a:ext cx="3246120" cy="1261872"/>
          </a:xfrm>
          <a:prstGeom prst="rect">
            <a:avLst/>
          </a:prstGeom>
          <a:solidFill>
            <a:srgbClr val="FBF9F4"/>
          </a:solidFill>
          <a:ln w="9525">
            <a:solidFill>
              <a:srgbClr val="DCD5C6"/>
            </a:solidFill>
            <a:prstDash val="solid"/>
          </a:ln>
          <a:effectLst>
            <a:outerShdw sx="100000" sy="100000" kx="0" ky="0" algn="bl" rotWithShape="0" blurRad="76200" dist="19050" dir="5400000">
              <a:srgbClr val="1A2E25">
                <a:alpha val="8000"/>
              </a:srgbClr>
            </a:outerShdw>
          </a:effectLst>
        </p:spPr>
      </p:sp>
      <p:sp>
        <p:nvSpPr>
          <p:cNvPr id="20" name="Shape 17"/>
          <p:cNvSpPr/>
          <p:nvPr/>
        </p:nvSpPr>
        <p:spPr>
          <a:xfrm>
            <a:off x="777240" y="3438144"/>
            <a:ext cx="274320" cy="274320"/>
          </a:xfrm>
          <a:prstGeom prst="ellipse">
            <a:avLst/>
          </a:prstGeom>
          <a:solidFill>
            <a:srgbClr val="E2EBE3"/>
          </a:solidFill>
          <a:ln w="6350">
            <a:solidFill>
              <a:srgbClr val="E2EBE3"/>
            </a:solidFill>
            <a:prstDash val="solid"/>
          </a:ln>
        </p:spPr>
      </p:sp>
      <p:sp>
        <p:nvSpPr>
          <p:cNvPr id="21" name="Text 18"/>
          <p:cNvSpPr txBox="1"/>
          <p:nvPr/>
        </p:nvSpPr>
        <p:spPr>
          <a:xfrm>
            <a:off x="777240" y="3438144"/>
            <a:ext cx="274320" cy="274320"/>
          </a:xfrm>
          <a:prstGeom prst="rect">
            <a:avLst/>
          </a:prstGeom>
          <a:noFill/>
          <a:ln/>
        </p:spPr>
        <p:txBody>
          <a:bodyPr wrap="square" lIns="0" tIns="0" rIns="0" bIns="0" rtlCol="0" anchor="ctr"/>
          <a:lstStyle/>
          <a:p>
            <a:pPr algn="ctr" indent="0" marL="0">
              <a:buNone/>
            </a:pPr>
            <a:r>
              <a:rPr lang="en-US" sz="1200" b="1" dirty="0">
                <a:solidFill>
                  <a:srgbClr val="1F4A3A"/>
                </a:solidFill>
                <a:latin typeface="Calibri" pitchFamily="34" charset="0"/>
                <a:ea typeface="Calibri" pitchFamily="34" charset="-122"/>
                <a:cs typeface="Calibri" pitchFamily="34" charset="-120"/>
              </a:rPr>
              <a:t>✓</a:t>
            </a:r>
            <a:endParaRPr lang="en-US" sz="1200" dirty="0"/>
          </a:p>
        </p:txBody>
      </p:sp>
      <p:sp>
        <p:nvSpPr>
          <p:cNvPr id="22" name="Text 19"/>
          <p:cNvSpPr txBox="1"/>
          <p:nvPr/>
        </p:nvSpPr>
        <p:spPr>
          <a:xfrm>
            <a:off x="1188720" y="3401568"/>
            <a:ext cx="2423160" cy="329184"/>
          </a:xfrm>
          <a:prstGeom prst="rect">
            <a:avLst/>
          </a:prstGeom>
          <a:noFill/>
          <a:ln/>
        </p:spPr>
        <p:txBody>
          <a:bodyPr wrap="square" lIns="0" tIns="0" rIns="0" bIns="0" rtlCol="0" anchor="t"/>
          <a:lstStyle/>
          <a:p>
            <a:pPr indent="0" marL="0">
              <a:buNone/>
            </a:pPr>
            <a:r>
              <a:rPr lang="en-US" sz="1450" b="1" dirty="0">
                <a:solidFill>
                  <a:srgbClr val="17211C"/>
                </a:solidFill>
                <a:latin typeface="Calibri" pitchFamily="34" charset="0"/>
                <a:ea typeface="Calibri" pitchFamily="34" charset="-122"/>
                <a:cs typeface="Calibri" pitchFamily="34" charset="-120"/>
              </a:rPr>
              <a:t>Jeton CSRF</a:t>
            </a:r>
            <a:endParaRPr lang="en-US" sz="1450" dirty="0"/>
          </a:p>
        </p:txBody>
      </p:sp>
      <p:sp>
        <p:nvSpPr>
          <p:cNvPr id="23" name="Text 20"/>
          <p:cNvSpPr txBox="1"/>
          <p:nvPr/>
        </p:nvSpPr>
        <p:spPr>
          <a:xfrm>
            <a:off x="1188720" y="3749040"/>
            <a:ext cx="2423160" cy="594360"/>
          </a:xfrm>
          <a:prstGeom prst="rect">
            <a:avLst/>
          </a:prstGeom>
          <a:noFill/>
          <a:ln/>
        </p:spPr>
        <p:txBody>
          <a:bodyPr wrap="square" lIns="0" tIns="0" rIns="0" bIns="0" rtlCol="0" anchor="t"/>
          <a:lstStyle/>
          <a:p>
            <a:pPr indent="0" marL="0">
              <a:buNone/>
            </a:pPr>
            <a:r>
              <a:rPr lang="en-US" sz="1200" dirty="0">
                <a:solidFill>
                  <a:srgbClr val="3F4842"/>
                </a:solidFill>
                <a:latin typeface="Calibri" pitchFamily="34" charset="0"/>
                <a:ea typeface="Calibri" pitchFamily="34" charset="-122"/>
                <a:cs typeface="Calibri" pitchFamily="34" charset="-120"/>
              </a:rPr>
              <a:t>Sur chaque formulaire qui modifie des données.</a:t>
            </a:r>
            <a:endParaRPr lang="en-US" sz="1200" dirty="0"/>
          </a:p>
        </p:txBody>
      </p:sp>
      <p:sp>
        <p:nvSpPr>
          <p:cNvPr id="24" name="Shape 21"/>
          <p:cNvSpPr/>
          <p:nvPr/>
        </p:nvSpPr>
        <p:spPr>
          <a:xfrm>
            <a:off x="4023360" y="3182112"/>
            <a:ext cx="3246120" cy="1261872"/>
          </a:xfrm>
          <a:prstGeom prst="rect">
            <a:avLst/>
          </a:prstGeom>
          <a:solidFill>
            <a:srgbClr val="FBF9F4"/>
          </a:solidFill>
          <a:ln w="9525">
            <a:solidFill>
              <a:srgbClr val="DCD5C6"/>
            </a:solidFill>
            <a:prstDash val="solid"/>
          </a:ln>
          <a:effectLst>
            <a:outerShdw sx="100000" sy="100000" kx="0" ky="0" algn="bl" rotWithShape="0" blurRad="76200" dist="19050" dir="5400000">
              <a:srgbClr val="1A2E25">
                <a:alpha val="8000"/>
              </a:srgbClr>
            </a:outerShdw>
          </a:effectLst>
        </p:spPr>
      </p:sp>
      <p:sp>
        <p:nvSpPr>
          <p:cNvPr id="25" name="Shape 22"/>
          <p:cNvSpPr/>
          <p:nvPr/>
        </p:nvSpPr>
        <p:spPr>
          <a:xfrm>
            <a:off x="4251960" y="3438144"/>
            <a:ext cx="274320" cy="274320"/>
          </a:xfrm>
          <a:prstGeom prst="ellipse">
            <a:avLst/>
          </a:prstGeom>
          <a:solidFill>
            <a:srgbClr val="E2EBE3"/>
          </a:solidFill>
          <a:ln w="6350">
            <a:solidFill>
              <a:srgbClr val="E2EBE3"/>
            </a:solidFill>
            <a:prstDash val="solid"/>
          </a:ln>
        </p:spPr>
      </p:sp>
      <p:sp>
        <p:nvSpPr>
          <p:cNvPr id="26" name="Text 23"/>
          <p:cNvSpPr txBox="1"/>
          <p:nvPr/>
        </p:nvSpPr>
        <p:spPr>
          <a:xfrm>
            <a:off x="4251960" y="3438144"/>
            <a:ext cx="274320" cy="274320"/>
          </a:xfrm>
          <a:prstGeom prst="rect">
            <a:avLst/>
          </a:prstGeom>
          <a:noFill/>
          <a:ln/>
        </p:spPr>
        <p:txBody>
          <a:bodyPr wrap="square" lIns="0" tIns="0" rIns="0" bIns="0" rtlCol="0" anchor="ctr"/>
          <a:lstStyle/>
          <a:p>
            <a:pPr algn="ctr" indent="0" marL="0">
              <a:buNone/>
            </a:pPr>
            <a:r>
              <a:rPr lang="en-US" sz="1200" b="1" dirty="0">
                <a:solidFill>
                  <a:srgbClr val="1F4A3A"/>
                </a:solidFill>
                <a:latin typeface="Calibri" pitchFamily="34" charset="0"/>
                <a:ea typeface="Calibri" pitchFamily="34" charset="-122"/>
                <a:cs typeface="Calibri" pitchFamily="34" charset="-120"/>
              </a:rPr>
              <a:t>✓</a:t>
            </a:r>
            <a:endParaRPr lang="en-US" sz="1200" dirty="0"/>
          </a:p>
        </p:txBody>
      </p:sp>
      <p:sp>
        <p:nvSpPr>
          <p:cNvPr id="27" name="Text 24"/>
          <p:cNvSpPr txBox="1"/>
          <p:nvPr/>
        </p:nvSpPr>
        <p:spPr>
          <a:xfrm>
            <a:off x="4663440" y="3401568"/>
            <a:ext cx="2423160" cy="329184"/>
          </a:xfrm>
          <a:prstGeom prst="rect">
            <a:avLst/>
          </a:prstGeom>
          <a:noFill/>
          <a:ln/>
        </p:spPr>
        <p:txBody>
          <a:bodyPr wrap="square" lIns="0" tIns="0" rIns="0" bIns="0" rtlCol="0" anchor="t"/>
          <a:lstStyle/>
          <a:p>
            <a:pPr indent="0" marL="0">
              <a:buNone/>
            </a:pPr>
            <a:r>
              <a:rPr lang="en-US" sz="1450" b="1" dirty="0">
                <a:solidFill>
                  <a:srgbClr val="17211C"/>
                </a:solidFill>
                <a:latin typeface="Calibri" pitchFamily="34" charset="0"/>
                <a:ea typeface="Calibri" pitchFamily="34" charset="-122"/>
                <a:cs typeface="Calibri" pitchFamily="34" charset="-120"/>
              </a:rPr>
              <a:t>Échappement HTML</a:t>
            </a:r>
            <a:endParaRPr lang="en-US" sz="1450" dirty="0"/>
          </a:p>
        </p:txBody>
      </p:sp>
      <p:sp>
        <p:nvSpPr>
          <p:cNvPr id="28" name="Text 25"/>
          <p:cNvSpPr txBox="1"/>
          <p:nvPr/>
        </p:nvSpPr>
        <p:spPr>
          <a:xfrm>
            <a:off x="4663440" y="3749040"/>
            <a:ext cx="2423160" cy="594360"/>
          </a:xfrm>
          <a:prstGeom prst="rect">
            <a:avLst/>
          </a:prstGeom>
          <a:noFill/>
          <a:ln/>
        </p:spPr>
        <p:txBody>
          <a:bodyPr wrap="square" lIns="0" tIns="0" rIns="0" bIns="0" rtlCol="0" anchor="t"/>
          <a:lstStyle/>
          <a:p>
            <a:pPr indent="0" marL="0">
              <a:buNone/>
            </a:pPr>
            <a:r>
              <a:rPr lang="en-US" sz="1200" dirty="0">
                <a:solidFill>
                  <a:srgbClr val="3F4842"/>
                </a:solidFill>
                <a:latin typeface="Calibri" pitchFamily="34" charset="0"/>
                <a:ea typeface="Calibri" pitchFamily="34" charset="-122"/>
                <a:cs typeface="Calibri" pitchFamily="34" charset="-120"/>
              </a:rPr>
              <a:t>Tout affichage passe par e() : pas de XSS.</a:t>
            </a:r>
            <a:endParaRPr lang="en-US" sz="1200" dirty="0"/>
          </a:p>
        </p:txBody>
      </p:sp>
      <p:sp>
        <p:nvSpPr>
          <p:cNvPr id="29" name="Shape 26"/>
          <p:cNvSpPr/>
          <p:nvPr/>
        </p:nvSpPr>
        <p:spPr>
          <a:xfrm>
            <a:off x="548640" y="4672584"/>
            <a:ext cx="3246120" cy="1261872"/>
          </a:xfrm>
          <a:prstGeom prst="rect">
            <a:avLst/>
          </a:prstGeom>
          <a:solidFill>
            <a:srgbClr val="FBF9F4"/>
          </a:solidFill>
          <a:ln w="9525">
            <a:solidFill>
              <a:srgbClr val="DCD5C6"/>
            </a:solidFill>
            <a:prstDash val="solid"/>
          </a:ln>
          <a:effectLst>
            <a:outerShdw sx="100000" sy="100000" kx="0" ky="0" algn="bl" rotWithShape="0" blurRad="76200" dist="19050" dir="5400000">
              <a:srgbClr val="1A2E25">
                <a:alpha val="8000"/>
              </a:srgbClr>
            </a:outerShdw>
          </a:effectLst>
        </p:spPr>
      </p:sp>
      <p:sp>
        <p:nvSpPr>
          <p:cNvPr id="30" name="Shape 27"/>
          <p:cNvSpPr/>
          <p:nvPr/>
        </p:nvSpPr>
        <p:spPr>
          <a:xfrm>
            <a:off x="777240" y="4928616"/>
            <a:ext cx="274320" cy="274320"/>
          </a:xfrm>
          <a:prstGeom prst="ellipse">
            <a:avLst/>
          </a:prstGeom>
          <a:solidFill>
            <a:srgbClr val="E2EBE3"/>
          </a:solidFill>
          <a:ln w="6350">
            <a:solidFill>
              <a:srgbClr val="E2EBE3"/>
            </a:solidFill>
            <a:prstDash val="solid"/>
          </a:ln>
        </p:spPr>
      </p:sp>
      <p:sp>
        <p:nvSpPr>
          <p:cNvPr id="31" name="Text 28"/>
          <p:cNvSpPr txBox="1"/>
          <p:nvPr/>
        </p:nvSpPr>
        <p:spPr>
          <a:xfrm>
            <a:off x="777240" y="4928616"/>
            <a:ext cx="274320" cy="274320"/>
          </a:xfrm>
          <a:prstGeom prst="rect">
            <a:avLst/>
          </a:prstGeom>
          <a:noFill/>
          <a:ln/>
        </p:spPr>
        <p:txBody>
          <a:bodyPr wrap="square" lIns="0" tIns="0" rIns="0" bIns="0" rtlCol="0" anchor="ctr"/>
          <a:lstStyle/>
          <a:p>
            <a:pPr algn="ctr" indent="0" marL="0">
              <a:buNone/>
            </a:pPr>
            <a:r>
              <a:rPr lang="en-US" sz="1200" b="1" dirty="0">
                <a:solidFill>
                  <a:srgbClr val="1F4A3A"/>
                </a:solidFill>
                <a:latin typeface="Calibri" pitchFamily="34" charset="0"/>
                <a:ea typeface="Calibri" pitchFamily="34" charset="-122"/>
                <a:cs typeface="Calibri" pitchFamily="34" charset="-120"/>
              </a:rPr>
              <a:t>✓</a:t>
            </a:r>
            <a:endParaRPr lang="en-US" sz="1200" dirty="0"/>
          </a:p>
        </p:txBody>
      </p:sp>
      <p:sp>
        <p:nvSpPr>
          <p:cNvPr id="32" name="Text 29"/>
          <p:cNvSpPr txBox="1"/>
          <p:nvPr/>
        </p:nvSpPr>
        <p:spPr>
          <a:xfrm>
            <a:off x="1188720" y="4892040"/>
            <a:ext cx="2423160" cy="329184"/>
          </a:xfrm>
          <a:prstGeom prst="rect">
            <a:avLst/>
          </a:prstGeom>
          <a:noFill/>
          <a:ln/>
        </p:spPr>
        <p:txBody>
          <a:bodyPr wrap="square" lIns="0" tIns="0" rIns="0" bIns="0" rtlCol="0" anchor="t"/>
          <a:lstStyle/>
          <a:p>
            <a:pPr indent="0" marL="0">
              <a:buNone/>
            </a:pPr>
            <a:r>
              <a:rPr lang="en-US" sz="1450" b="1" dirty="0">
                <a:solidFill>
                  <a:srgbClr val="17211C"/>
                </a:solidFill>
                <a:latin typeface="Calibri" pitchFamily="34" charset="0"/>
                <a:ea typeface="Calibri" pitchFamily="34" charset="-122"/>
                <a:cs typeface="Calibri" pitchFamily="34" charset="-120"/>
              </a:rPr>
              <a:t>Droits côté serveur</a:t>
            </a:r>
            <a:endParaRPr lang="en-US" sz="1450" dirty="0"/>
          </a:p>
        </p:txBody>
      </p:sp>
      <p:sp>
        <p:nvSpPr>
          <p:cNvPr id="33" name="Text 30"/>
          <p:cNvSpPr txBox="1"/>
          <p:nvPr/>
        </p:nvSpPr>
        <p:spPr>
          <a:xfrm>
            <a:off x="1188720" y="5239512"/>
            <a:ext cx="2423160" cy="594360"/>
          </a:xfrm>
          <a:prstGeom prst="rect">
            <a:avLst/>
          </a:prstGeom>
          <a:noFill/>
          <a:ln/>
        </p:spPr>
        <p:txBody>
          <a:bodyPr wrap="square" lIns="0" tIns="0" rIns="0" bIns="0" rtlCol="0" anchor="t"/>
          <a:lstStyle/>
          <a:p>
            <a:pPr indent="0" marL="0">
              <a:buNone/>
            </a:pPr>
            <a:r>
              <a:rPr lang="en-US" sz="1200" dirty="0">
                <a:solidFill>
                  <a:srgbClr val="3F4842"/>
                </a:solidFill>
                <a:latin typeface="Calibri" pitchFamily="34" charset="0"/>
                <a:ea typeface="Calibri" pitchFamily="34" charset="-122"/>
                <a:cs typeface="Calibri" pitchFamily="34" charset="-120"/>
              </a:rPr>
              <a:t>Rôle et direction revérifiés à chaque action.</a:t>
            </a:r>
            <a:endParaRPr lang="en-US" sz="1200" dirty="0"/>
          </a:p>
        </p:txBody>
      </p:sp>
      <p:sp>
        <p:nvSpPr>
          <p:cNvPr id="34" name="Shape 31"/>
          <p:cNvSpPr/>
          <p:nvPr/>
        </p:nvSpPr>
        <p:spPr>
          <a:xfrm>
            <a:off x="4023360" y="4672584"/>
            <a:ext cx="3246120" cy="1261872"/>
          </a:xfrm>
          <a:prstGeom prst="rect">
            <a:avLst/>
          </a:prstGeom>
          <a:solidFill>
            <a:srgbClr val="FBF9F4"/>
          </a:solidFill>
          <a:ln w="9525">
            <a:solidFill>
              <a:srgbClr val="DCD5C6"/>
            </a:solidFill>
            <a:prstDash val="solid"/>
          </a:ln>
          <a:effectLst>
            <a:outerShdw sx="100000" sy="100000" kx="0" ky="0" algn="bl" rotWithShape="0" blurRad="76200" dist="19050" dir="5400000">
              <a:srgbClr val="1A2E25">
                <a:alpha val="8000"/>
              </a:srgbClr>
            </a:outerShdw>
          </a:effectLst>
        </p:spPr>
      </p:sp>
      <p:sp>
        <p:nvSpPr>
          <p:cNvPr id="35" name="Shape 32"/>
          <p:cNvSpPr/>
          <p:nvPr/>
        </p:nvSpPr>
        <p:spPr>
          <a:xfrm>
            <a:off x="4251960" y="4928616"/>
            <a:ext cx="274320" cy="274320"/>
          </a:xfrm>
          <a:prstGeom prst="ellipse">
            <a:avLst/>
          </a:prstGeom>
          <a:solidFill>
            <a:srgbClr val="E2EBE3"/>
          </a:solidFill>
          <a:ln w="6350">
            <a:solidFill>
              <a:srgbClr val="E2EBE3"/>
            </a:solidFill>
            <a:prstDash val="solid"/>
          </a:ln>
        </p:spPr>
      </p:sp>
      <p:sp>
        <p:nvSpPr>
          <p:cNvPr id="36" name="Text 33"/>
          <p:cNvSpPr txBox="1"/>
          <p:nvPr/>
        </p:nvSpPr>
        <p:spPr>
          <a:xfrm>
            <a:off x="4251960" y="4928616"/>
            <a:ext cx="274320" cy="274320"/>
          </a:xfrm>
          <a:prstGeom prst="rect">
            <a:avLst/>
          </a:prstGeom>
          <a:noFill/>
          <a:ln/>
        </p:spPr>
        <p:txBody>
          <a:bodyPr wrap="square" lIns="0" tIns="0" rIns="0" bIns="0" rtlCol="0" anchor="ctr"/>
          <a:lstStyle/>
          <a:p>
            <a:pPr algn="ctr" indent="0" marL="0">
              <a:buNone/>
            </a:pPr>
            <a:r>
              <a:rPr lang="en-US" sz="1200" b="1" dirty="0">
                <a:solidFill>
                  <a:srgbClr val="1F4A3A"/>
                </a:solidFill>
                <a:latin typeface="Calibri" pitchFamily="34" charset="0"/>
                <a:ea typeface="Calibri" pitchFamily="34" charset="-122"/>
                <a:cs typeface="Calibri" pitchFamily="34" charset="-120"/>
              </a:rPr>
              <a:t>✓</a:t>
            </a:r>
            <a:endParaRPr lang="en-US" sz="1200" dirty="0"/>
          </a:p>
        </p:txBody>
      </p:sp>
      <p:sp>
        <p:nvSpPr>
          <p:cNvPr id="37" name="Text 34"/>
          <p:cNvSpPr txBox="1"/>
          <p:nvPr/>
        </p:nvSpPr>
        <p:spPr>
          <a:xfrm>
            <a:off x="4663440" y="4892040"/>
            <a:ext cx="2423160" cy="329184"/>
          </a:xfrm>
          <a:prstGeom prst="rect">
            <a:avLst/>
          </a:prstGeom>
          <a:noFill/>
          <a:ln/>
        </p:spPr>
        <p:txBody>
          <a:bodyPr wrap="square" lIns="0" tIns="0" rIns="0" bIns="0" rtlCol="0" anchor="t"/>
          <a:lstStyle/>
          <a:p>
            <a:pPr indent="0" marL="0">
              <a:buNone/>
            </a:pPr>
            <a:r>
              <a:rPr lang="en-US" sz="1450" b="1" dirty="0">
                <a:solidFill>
                  <a:srgbClr val="17211C"/>
                </a:solidFill>
                <a:latin typeface="Calibri" pitchFamily="34" charset="0"/>
                <a:ea typeface="Calibri" pitchFamily="34" charset="-122"/>
                <a:cs typeface="Calibri" pitchFamily="34" charset="-120"/>
              </a:rPr>
              <a:t>Anti force brute</a:t>
            </a:r>
            <a:endParaRPr lang="en-US" sz="1450" dirty="0"/>
          </a:p>
        </p:txBody>
      </p:sp>
      <p:sp>
        <p:nvSpPr>
          <p:cNvPr id="38" name="Text 35"/>
          <p:cNvSpPr txBox="1"/>
          <p:nvPr/>
        </p:nvSpPr>
        <p:spPr>
          <a:xfrm>
            <a:off x="4663440" y="5239512"/>
            <a:ext cx="2423160" cy="594360"/>
          </a:xfrm>
          <a:prstGeom prst="rect">
            <a:avLst/>
          </a:prstGeom>
          <a:noFill/>
          <a:ln/>
        </p:spPr>
        <p:txBody>
          <a:bodyPr wrap="square" lIns="0" tIns="0" rIns="0" bIns="0" rtlCol="0" anchor="t"/>
          <a:lstStyle/>
          <a:p>
            <a:pPr indent="0" marL="0">
              <a:buNone/>
            </a:pPr>
            <a:r>
              <a:rPr lang="en-US" sz="1200" dirty="0">
                <a:solidFill>
                  <a:srgbClr val="3F4842"/>
                </a:solidFill>
                <a:latin typeface="Calibri" pitchFamily="34" charset="0"/>
                <a:ea typeface="Calibri" pitchFamily="34" charset="-122"/>
                <a:cs typeface="Calibri" pitchFamily="34" charset="-120"/>
              </a:rPr>
              <a:t>5 échecs = 5 min d'attente ; session de 45 min.</a:t>
            </a:r>
            <a:endParaRPr lang="en-US" sz="1200" dirty="0"/>
          </a:p>
        </p:txBody>
      </p:sp>
      <p:sp>
        <p:nvSpPr>
          <p:cNvPr id="39" name="Shape 36"/>
          <p:cNvSpPr/>
          <p:nvPr/>
        </p:nvSpPr>
        <p:spPr>
          <a:xfrm>
            <a:off x="7680960" y="1691640"/>
            <a:ext cx="3962095" cy="4242816"/>
          </a:xfrm>
          <a:prstGeom prst="rect">
            <a:avLst/>
          </a:prstGeom>
          <a:solidFill>
            <a:srgbClr val="1A2E25"/>
          </a:solidFill>
          <a:ln w="12700">
            <a:solidFill>
              <a:srgbClr val="1A2E25"/>
            </a:solidFill>
            <a:prstDash val="solid"/>
          </a:ln>
        </p:spPr>
      </p:sp>
      <p:sp>
        <p:nvSpPr>
          <p:cNvPr id="40" name="Text 37"/>
          <p:cNvSpPr txBox="1"/>
          <p:nvPr/>
        </p:nvSpPr>
        <p:spPr>
          <a:xfrm>
            <a:off x="8046720" y="1965960"/>
            <a:ext cx="3230575" cy="228600"/>
          </a:xfrm>
          <a:prstGeom prst="rect">
            <a:avLst/>
          </a:prstGeom>
          <a:noFill/>
          <a:ln/>
        </p:spPr>
        <p:txBody>
          <a:bodyPr wrap="square" lIns="0" tIns="0" rIns="0" bIns="0" rtlCol="0" anchor="t"/>
          <a:lstStyle/>
          <a:p>
            <a:pPr indent="0" marL="0">
              <a:buNone/>
            </a:pPr>
            <a:r>
              <a:rPr lang="en-US" sz="1000" b="1" spc="200" kern="0" dirty="0">
                <a:solidFill>
                  <a:srgbClr val="E2C98F"/>
                </a:solidFill>
                <a:latin typeface="Consolas" pitchFamily="34" charset="0"/>
                <a:ea typeface="Consolas" pitchFamily="34" charset="-122"/>
                <a:cs typeface="Consolas" pitchFamily="34" charset="-120"/>
              </a:rPr>
              <a:t>TESTS DE BOUT EN BOUT</a:t>
            </a:r>
            <a:endParaRPr lang="en-US" sz="1000" dirty="0"/>
          </a:p>
        </p:txBody>
      </p:sp>
      <p:sp>
        <p:nvSpPr>
          <p:cNvPr id="41" name="Text 38"/>
          <p:cNvSpPr txBox="1"/>
          <p:nvPr/>
        </p:nvSpPr>
        <p:spPr>
          <a:xfrm>
            <a:off x="8001000" y="2240280"/>
            <a:ext cx="3322015" cy="1188720"/>
          </a:xfrm>
          <a:prstGeom prst="rect">
            <a:avLst/>
          </a:prstGeom>
          <a:noFill/>
          <a:ln/>
        </p:spPr>
        <p:txBody>
          <a:bodyPr wrap="square" lIns="0" tIns="0" rIns="0" bIns="0" rtlCol="0" anchor="ctr"/>
          <a:lstStyle/>
          <a:p>
            <a:pPr indent="0" marL="0">
              <a:buNone/>
            </a:pPr>
            <a:r>
              <a:rPr lang="en-US" sz="7200" dirty="0">
                <a:solidFill>
                  <a:srgbClr val="F1ECDD"/>
                </a:solidFill>
                <a:latin typeface="Georgia" pitchFamily="34" charset="0"/>
                <a:ea typeface="Georgia" pitchFamily="34" charset="-122"/>
                <a:cs typeface="Georgia" pitchFamily="34" charset="-120"/>
              </a:rPr>
              <a:t>25</a:t>
            </a:r>
            <a:pPr indent="0" marL="0">
              <a:buNone/>
            </a:pPr>
            <a:r>
              <a:rPr lang="en-US" sz="3000" dirty="0">
                <a:solidFill>
                  <a:srgbClr val="8F998E"/>
                </a:solidFill>
                <a:latin typeface="Georgia" pitchFamily="34" charset="0"/>
                <a:ea typeface="Georgia" pitchFamily="34" charset="-122"/>
                <a:cs typeface="Georgia" pitchFamily="34" charset="-120"/>
              </a:rPr>
              <a:t> / 25</a:t>
            </a:r>
            <a:endParaRPr lang="en-US" sz="1400" dirty="0"/>
          </a:p>
        </p:txBody>
      </p:sp>
      <p:sp>
        <p:nvSpPr>
          <p:cNvPr id="42" name="Text 39"/>
          <p:cNvSpPr txBox="1"/>
          <p:nvPr/>
        </p:nvSpPr>
        <p:spPr>
          <a:xfrm>
            <a:off x="8046720" y="3429000"/>
            <a:ext cx="3230575" cy="320040"/>
          </a:xfrm>
          <a:prstGeom prst="rect">
            <a:avLst/>
          </a:prstGeom>
          <a:noFill/>
          <a:ln/>
        </p:spPr>
        <p:txBody>
          <a:bodyPr wrap="square" lIns="0" tIns="0" rIns="0" bIns="0" rtlCol="0" anchor="t"/>
          <a:lstStyle/>
          <a:p>
            <a:pPr indent="0" marL="0">
              <a:buNone/>
            </a:pPr>
            <a:r>
              <a:rPr lang="en-US" sz="1400" dirty="0">
                <a:solidFill>
                  <a:srgbClr val="D9D6C8"/>
                </a:solidFill>
                <a:latin typeface="Calibri" pitchFamily="34" charset="0"/>
                <a:ea typeface="Calibri" pitchFamily="34" charset="-122"/>
                <a:cs typeface="Calibri" pitchFamily="34" charset="-120"/>
              </a:rPr>
              <a:t>scénarios réussis dans un vrai navigateur</a:t>
            </a:r>
            <a:endParaRPr lang="en-US" sz="1400" dirty="0"/>
          </a:p>
        </p:txBody>
      </p:sp>
      <p:sp>
        <p:nvSpPr>
          <p:cNvPr id="43" name="Text 40"/>
          <p:cNvSpPr txBox="1"/>
          <p:nvPr/>
        </p:nvSpPr>
        <p:spPr>
          <a:xfrm>
            <a:off x="8046720" y="3931920"/>
            <a:ext cx="3230575" cy="1143000"/>
          </a:xfrm>
          <a:prstGeom prst="rect">
            <a:avLst/>
          </a:prstGeom>
          <a:noFill/>
          <a:ln/>
        </p:spPr>
        <p:txBody>
          <a:bodyPr wrap="square" lIns="0" tIns="0" rIns="0" bIns="0" rtlCol="0" anchor="t"/>
          <a:lstStyle/>
          <a:p>
            <a:pPr indent="0" marL="0">
              <a:buNone/>
            </a:pPr>
            <a:r>
              <a:rPr lang="en-US" sz="1100" dirty="0">
                <a:solidFill>
                  <a:srgbClr val="A9B2A7"/>
                </a:solidFill>
                <a:latin typeface="Calibri" pitchFamily="34" charset="0"/>
                <a:ea typeface="Calibri" pitchFamily="34" charset="-122"/>
                <a:cs typeface="Calibri" pitchFamily="34" charset="-120"/>
              </a:rPr>
              <a:t>connexion refusée · formulaire vide bloqué · numéro proposé · doublon refusé · changement d'état · transfert complet · refus · CRUD directions, catégories, comptes · recherche · export CSV · suppression · déconnexion</a:t>
            </a:r>
            <a:endParaRPr lang="en-US" sz="1100" dirty="0"/>
          </a:p>
        </p:txBody>
      </p:sp>
      <p:sp>
        <p:nvSpPr>
          <p:cNvPr id="44" name="Text 41"/>
          <p:cNvSpPr txBox="1"/>
          <p:nvPr/>
        </p:nvSpPr>
        <p:spPr>
          <a:xfrm>
            <a:off x="8046720" y="5303520"/>
            <a:ext cx="3230575" cy="320040"/>
          </a:xfrm>
          <a:prstGeom prst="rect">
            <a:avLst/>
          </a:prstGeom>
          <a:noFill/>
          <a:ln/>
        </p:spPr>
        <p:txBody>
          <a:bodyPr wrap="square" lIns="0" tIns="0" rIns="0" bIns="0" rtlCol="0" anchor="t"/>
          <a:lstStyle/>
          <a:p>
            <a:pPr indent="0" marL="0">
              <a:buNone/>
            </a:pPr>
            <a:r>
              <a:rPr lang="en-US" sz="1050" dirty="0">
                <a:solidFill>
                  <a:srgbClr val="E2C98F"/>
                </a:solidFill>
                <a:latin typeface="Consolas" pitchFamily="34" charset="0"/>
                <a:ea typeface="Consolas" pitchFamily="34" charset="-122"/>
                <a:cs typeface="Consolas" pitchFamily="34" charset="-120"/>
              </a:rPr>
              <a:t>0 avertissement PHP · MySQL en mode strict</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EFE6"/>
        </a:solidFill>
      </p:bgPr>
    </p:bg>
    <p:spTree>
      <p:nvGrpSpPr>
        <p:cNvPr id="1" name=""/>
        <p:cNvGrpSpPr/>
        <p:nvPr/>
      </p:nvGrpSpPr>
      <p:grpSpPr>
        <a:xfrm>
          <a:off x="0" y="0"/>
          <a:ext cx="0" cy="0"/>
          <a:chOff x="0" y="0"/>
          <a:chExt cx="0" cy="0"/>
        </a:xfrm>
      </p:grpSpPr>
      <p:sp>
        <p:nvSpPr>
          <p:cNvPr id="2" name="Shape 0"/>
          <p:cNvSpPr/>
          <p:nvPr/>
        </p:nvSpPr>
        <p:spPr>
          <a:xfrm>
            <a:off x="548640" y="384048"/>
            <a:ext cx="2578608" cy="274320"/>
          </a:xfrm>
          <a:prstGeom prst="roundRect">
            <a:avLst>
              <a:gd name="adj" fmla="val 16667"/>
            </a:avLst>
          </a:prstGeom>
          <a:solidFill>
            <a:srgbClr val="FFFDF7"/>
          </a:solidFill>
          <a:ln w="9525">
            <a:solidFill>
              <a:srgbClr val="CBC2AD"/>
            </a:solidFill>
            <a:prstDash val="solid"/>
          </a:ln>
        </p:spPr>
      </p:sp>
      <p:sp>
        <p:nvSpPr>
          <p:cNvPr id="3" name="Shape 1"/>
          <p:cNvSpPr/>
          <p:nvPr/>
        </p:nvSpPr>
        <p:spPr>
          <a:xfrm>
            <a:off x="640080" y="489204"/>
            <a:ext cx="64008" cy="64008"/>
          </a:xfrm>
          <a:prstGeom prst="ellipse">
            <a:avLst/>
          </a:prstGeom>
          <a:solidFill>
            <a:srgbClr val="F3EFE6"/>
          </a:solidFill>
          <a:ln w="9525">
            <a:solidFill>
              <a:srgbClr val="CBC2AD"/>
            </a:solidFill>
            <a:prstDash val="solid"/>
          </a:ln>
        </p:spPr>
      </p:sp>
      <p:sp>
        <p:nvSpPr>
          <p:cNvPr id="4" name="Text 2"/>
          <p:cNvSpPr txBox="1"/>
          <p:nvPr/>
        </p:nvSpPr>
        <p:spPr>
          <a:xfrm>
            <a:off x="768096" y="384048"/>
            <a:ext cx="2340864" cy="274320"/>
          </a:xfrm>
          <a:prstGeom prst="rect">
            <a:avLst/>
          </a:prstGeom>
          <a:noFill/>
          <a:ln/>
        </p:spPr>
        <p:txBody>
          <a:bodyPr wrap="none" lIns="0" tIns="0" rIns="0" bIns="0" rtlCol="0" anchor="ctr"/>
          <a:lstStyle/>
          <a:p>
            <a:pPr indent="0" marL="0">
              <a:buNone/>
            </a:pPr>
            <a:r>
              <a:rPr lang="en-US" sz="1000" spc="100" kern="0" dirty="0">
                <a:solidFill>
                  <a:srgbClr val="17211C"/>
                </a:solidFill>
                <a:latin typeface="Consolas" pitchFamily="34" charset="0"/>
                <a:ea typeface="Consolas" pitchFamily="34" charset="-122"/>
                <a:cs typeface="Consolas" pitchFamily="34" charset="-120"/>
              </a:rPr>
              <a:t>12 · RETOUR D'EXPÉRIENCE</a:t>
            </a:r>
            <a:endParaRPr lang="en-US" sz="1000" dirty="0"/>
          </a:p>
        </p:txBody>
      </p:sp>
      <p:sp>
        <p:nvSpPr>
          <p:cNvPr id="5" name="Text 3"/>
          <p:cNvSpPr txBox="1"/>
          <p:nvPr/>
        </p:nvSpPr>
        <p:spPr>
          <a:xfrm>
            <a:off x="548640" y="786384"/>
            <a:ext cx="11094415" cy="731520"/>
          </a:xfrm>
          <a:prstGeom prst="rect">
            <a:avLst/>
          </a:prstGeom>
          <a:noFill/>
          <a:ln/>
        </p:spPr>
        <p:txBody>
          <a:bodyPr wrap="square" lIns="0" tIns="0" rIns="0" bIns="0" rtlCol="0" anchor="ctr"/>
          <a:lstStyle/>
          <a:p>
            <a:pPr indent="0" marL="0">
              <a:buNone/>
            </a:pPr>
            <a:r>
              <a:rPr lang="en-US" sz="3200" dirty="0">
                <a:solidFill>
                  <a:srgbClr val="17211C"/>
                </a:solidFill>
                <a:latin typeface="Georgia" pitchFamily="34" charset="0"/>
                <a:ea typeface="Georgia" pitchFamily="34" charset="-122"/>
                <a:cs typeface="Georgia" pitchFamily="34" charset="-120"/>
              </a:rPr>
              <a:t>Les difficultés, et ce que j'en ai fait</a:t>
            </a:r>
            <a:endParaRPr lang="en-US" sz="3200" dirty="0"/>
          </a:p>
        </p:txBody>
      </p:sp>
      <p:sp>
        <p:nvSpPr>
          <p:cNvPr id="7" name="Text 4"/>
          <p:cNvSpPr txBox="1"/>
          <p:nvPr/>
        </p:nvSpPr>
        <p:spPr>
          <a:xfrm>
            <a:off x="10545775" y="6473952"/>
            <a:ext cx="1097280" cy="228600"/>
          </a:xfrm>
          <a:prstGeom prst="rect">
            <a:avLst/>
          </a:prstGeom>
          <a:noFill/>
          <a:ln/>
        </p:spPr>
        <p:txBody>
          <a:bodyPr wrap="square" lIns="0" tIns="0" rIns="0" bIns="0" rtlCol="0" anchor="t"/>
          <a:lstStyle/>
          <a:p>
            <a:pPr algn="r" indent="0" marL="0">
              <a:buNone/>
            </a:pPr>
            <a:r>
              <a:rPr lang="en-US" sz="900" dirty="0">
                <a:solidFill>
                  <a:srgbClr val="767A71"/>
                </a:solidFill>
                <a:latin typeface="Consolas" pitchFamily="34" charset="0"/>
                <a:ea typeface="Consolas" pitchFamily="34" charset="-122"/>
                <a:cs typeface="Consolas" pitchFamily="34" charset="-120"/>
              </a:rPr>
              <a:t>15 / 17</a:t>
            </a:r>
            <a:endParaRPr lang="en-US" sz="900" dirty="0"/>
          </a:p>
        </p:txBody>
      </p:sp>
      <p:sp>
        <p:nvSpPr>
          <p:cNvPr id="8" name="Text 5"/>
          <p:cNvSpPr txBox="1"/>
          <p:nvPr/>
        </p:nvSpPr>
        <p:spPr>
          <a:xfrm>
            <a:off x="548640" y="6473952"/>
            <a:ext cx="1828800" cy="228600"/>
          </a:xfrm>
          <a:prstGeom prst="rect">
            <a:avLst/>
          </a:prstGeom>
          <a:noFill/>
          <a:ln/>
        </p:spPr>
        <p:txBody>
          <a:bodyPr wrap="square" lIns="0" tIns="0" rIns="0" bIns="0" rtlCol="0" anchor="t"/>
          <a:lstStyle/>
          <a:p>
            <a:pPr indent="0" marL="0">
              <a:buNone/>
            </a:pPr>
            <a:r>
              <a:rPr lang="en-US" sz="1000" i="1" dirty="0">
                <a:solidFill>
                  <a:srgbClr val="767A71"/>
                </a:solidFill>
                <a:latin typeface="Georgia" pitchFamily="34" charset="0"/>
                <a:ea typeface="Georgia" pitchFamily="34" charset="-122"/>
                <a:cs typeface="Georgia" pitchFamily="34" charset="-120"/>
              </a:rPr>
              <a:t>Patrimo</a:t>
            </a:r>
            <a:endParaRPr lang="en-US" sz="1000" dirty="0"/>
          </a:p>
        </p:txBody>
      </p:sp>
      <p:sp>
        <p:nvSpPr>
          <p:cNvPr id="9" name="Text 6"/>
          <p:cNvSpPr txBox="1"/>
          <p:nvPr/>
        </p:nvSpPr>
        <p:spPr>
          <a:xfrm>
            <a:off x="548640" y="1664208"/>
            <a:ext cx="3657600" cy="228600"/>
          </a:xfrm>
          <a:prstGeom prst="rect">
            <a:avLst/>
          </a:prstGeom>
          <a:noFill/>
          <a:ln/>
        </p:spPr>
        <p:txBody>
          <a:bodyPr wrap="square" lIns="0" tIns="0" rIns="0" bIns="0" rtlCol="0" anchor="t"/>
          <a:lstStyle/>
          <a:p>
            <a:pPr indent="0" marL="0">
              <a:buNone/>
            </a:pPr>
            <a:r>
              <a:rPr lang="en-US" sz="1000" b="1" spc="200" kern="0" dirty="0">
                <a:solidFill>
                  <a:srgbClr val="B23A2A"/>
                </a:solidFill>
                <a:latin typeface="Consolas" pitchFamily="34" charset="0"/>
                <a:ea typeface="Consolas" pitchFamily="34" charset="-122"/>
                <a:cs typeface="Consolas" pitchFamily="34" charset="-120"/>
              </a:rPr>
              <a:t>PROBLÈME</a:t>
            </a:r>
            <a:endParaRPr lang="en-US" sz="1000" dirty="0"/>
          </a:p>
        </p:txBody>
      </p:sp>
      <p:sp>
        <p:nvSpPr>
          <p:cNvPr id="10" name="Text 7"/>
          <p:cNvSpPr txBox="1"/>
          <p:nvPr/>
        </p:nvSpPr>
        <p:spPr>
          <a:xfrm>
            <a:off x="5074920" y="1664208"/>
            <a:ext cx="3657600" cy="228600"/>
          </a:xfrm>
          <a:prstGeom prst="rect">
            <a:avLst/>
          </a:prstGeom>
          <a:noFill/>
          <a:ln/>
        </p:spPr>
        <p:txBody>
          <a:bodyPr wrap="square" lIns="0" tIns="0" rIns="0" bIns="0" rtlCol="0" anchor="t"/>
          <a:lstStyle/>
          <a:p>
            <a:pPr indent="0" marL="0">
              <a:buNone/>
            </a:pPr>
            <a:r>
              <a:rPr lang="en-US" sz="1000" b="1" spc="200" kern="0" dirty="0">
                <a:solidFill>
                  <a:srgbClr val="2E7250"/>
                </a:solidFill>
                <a:latin typeface="Consolas" pitchFamily="34" charset="0"/>
                <a:ea typeface="Consolas" pitchFamily="34" charset="-122"/>
                <a:cs typeface="Consolas" pitchFamily="34" charset="-120"/>
              </a:rPr>
              <a:t>SOLUTION</a:t>
            </a:r>
            <a:endParaRPr lang="en-US" sz="1000" dirty="0"/>
          </a:p>
        </p:txBody>
      </p:sp>
      <p:sp>
        <p:nvSpPr>
          <p:cNvPr id="11" name="Shape 8"/>
          <p:cNvSpPr/>
          <p:nvPr/>
        </p:nvSpPr>
        <p:spPr>
          <a:xfrm>
            <a:off x="548640" y="2011680"/>
            <a:ext cx="11094415" cy="822960"/>
          </a:xfrm>
          <a:prstGeom prst="rect">
            <a:avLst/>
          </a:prstGeom>
          <a:solidFill>
            <a:srgbClr val="FBF9F4"/>
          </a:solidFill>
          <a:ln w="9525">
            <a:solidFill>
              <a:srgbClr val="DCD5C6"/>
            </a:solidFill>
            <a:prstDash val="solid"/>
          </a:ln>
          <a:effectLst>
            <a:outerShdw sx="100000" sy="100000" kx="0" ky="0" algn="bl" rotWithShape="0" blurRad="76200" dist="19050" dir="5400000">
              <a:srgbClr val="1A2E25">
                <a:alpha val="8000"/>
              </a:srgbClr>
            </a:outerShdw>
          </a:effectLst>
        </p:spPr>
      </p:sp>
      <p:sp>
        <p:nvSpPr>
          <p:cNvPr id="12" name="Text 9"/>
          <p:cNvSpPr txBox="1"/>
          <p:nvPr/>
        </p:nvSpPr>
        <p:spPr>
          <a:xfrm>
            <a:off x="822960" y="2011680"/>
            <a:ext cx="3931920" cy="822960"/>
          </a:xfrm>
          <a:prstGeom prst="rect">
            <a:avLst/>
          </a:prstGeom>
          <a:noFill/>
          <a:ln/>
        </p:spPr>
        <p:txBody>
          <a:bodyPr wrap="square" lIns="0" tIns="0" rIns="0" bIns="0" rtlCol="0" anchor="ctr"/>
          <a:lstStyle/>
          <a:p>
            <a:pPr indent="0" marL="0">
              <a:buNone/>
            </a:pPr>
            <a:r>
              <a:rPr lang="en-US" sz="1550" dirty="0">
                <a:solidFill>
                  <a:srgbClr val="17211C"/>
                </a:solidFill>
                <a:latin typeface="Georgia" pitchFamily="34" charset="0"/>
                <a:ea typeface="Georgia" pitchFamily="34" charset="-122"/>
                <a:cs typeface="Georgia" pitchFamily="34" charset="-120"/>
              </a:rPr>
              <a:t>Risque : contourner l'historique</a:t>
            </a:r>
            <a:endParaRPr lang="en-US" sz="1550" dirty="0"/>
          </a:p>
        </p:txBody>
      </p:sp>
      <p:sp>
        <p:nvSpPr>
          <p:cNvPr id="13" name="Text 10"/>
          <p:cNvSpPr txBox="1"/>
          <p:nvPr/>
        </p:nvSpPr>
        <p:spPr>
          <a:xfrm>
            <a:off x="4526280" y="2011680"/>
            <a:ext cx="365760" cy="822960"/>
          </a:xfrm>
          <a:prstGeom prst="rect">
            <a:avLst/>
          </a:prstGeom>
          <a:noFill/>
          <a:ln/>
        </p:spPr>
        <p:txBody>
          <a:bodyPr wrap="square" lIns="0" tIns="0" rIns="0" bIns="0" rtlCol="0" anchor="ctr"/>
          <a:lstStyle/>
          <a:p>
            <a:pPr algn="ctr" indent="0" marL="0">
              <a:buNone/>
            </a:pPr>
            <a:r>
              <a:rPr lang="en-US" sz="1800" dirty="0">
                <a:solidFill>
                  <a:srgbClr val="767A71"/>
                </a:solidFill>
                <a:latin typeface="Calibri" pitchFamily="34" charset="0"/>
                <a:ea typeface="Calibri" pitchFamily="34" charset="-122"/>
                <a:cs typeface="Calibri" pitchFamily="34" charset="-120"/>
              </a:rPr>
              <a:t>→</a:t>
            </a:r>
            <a:endParaRPr lang="en-US" sz="1800" dirty="0"/>
          </a:p>
        </p:txBody>
      </p:sp>
      <p:sp>
        <p:nvSpPr>
          <p:cNvPr id="14" name="Text 11"/>
          <p:cNvSpPr txBox="1"/>
          <p:nvPr/>
        </p:nvSpPr>
        <p:spPr>
          <a:xfrm>
            <a:off x="5074920" y="2011680"/>
            <a:ext cx="6400800" cy="822960"/>
          </a:xfrm>
          <a:prstGeom prst="rect">
            <a:avLst/>
          </a:prstGeom>
          <a:noFill/>
          <a:ln/>
        </p:spPr>
        <p:txBody>
          <a:bodyPr wrap="square" lIns="0" tIns="0" rIns="0" bIns="0" rtlCol="0" anchor="ctr"/>
          <a:lstStyle/>
          <a:p>
            <a:pPr indent="0" marL="0">
              <a:buNone/>
            </a:pPr>
            <a:r>
              <a:rPr lang="en-US" sz="1250" dirty="0">
                <a:solidFill>
                  <a:srgbClr val="3F4842"/>
                </a:solidFill>
                <a:latin typeface="Calibri" pitchFamily="34" charset="0"/>
                <a:ea typeface="Calibri" pitchFamily="34" charset="-122"/>
                <a:cs typeface="Calibri" pitchFamily="34" charset="-120"/>
              </a:rPr>
              <a:t>L'état et la direction ne sont pas dans le formulaire : ils ne changent que par une action, qui écrit toujours dans l'historique.</a:t>
            </a:r>
            <a:endParaRPr lang="en-US" sz="1250" dirty="0"/>
          </a:p>
        </p:txBody>
      </p:sp>
      <p:sp>
        <p:nvSpPr>
          <p:cNvPr id="15" name="Shape 12"/>
          <p:cNvSpPr/>
          <p:nvPr/>
        </p:nvSpPr>
        <p:spPr>
          <a:xfrm>
            <a:off x="548640" y="2999232"/>
            <a:ext cx="11094415" cy="822960"/>
          </a:xfrm>
          <a:prstGeom prst="rect">
            <a:avLst/>
          </a:prstGeom>
          <a:solidFill>
            <a:srgbClr val="FBF9F4"/>
          </a:solidFill>
          <a:ln w="9525">
            <a:solidFill>
              <a:srgbClr val="DCD5C6"/>
            </a:solidFill>
            <a:prstDash val="solid"/>
          </a:ln>
          <a:effectLst>
            <a:outerShdw sx="100000" sy="100000" kx="0" ky="0" algn="bl" rotWithShape="0" blurRad="76200" dist="19050" dir="5400000">
              <a:srgbClr val="1A2E25">
                <a:alpha val="8000"/>
              </a:srgbClr>
            </a:outerShdw>
          </a:effectLst>
        </p:spPr>
      </p:sp>
      <p:sp>
        <p:nvSpPr>
          <p:cNvPr id="16" name="Text 13"/>
          <p:cNvSpPr txBox="1"/>
          <p:nvPr/>
        </p:nvSpPr>
        <p:spPr>
          <a:xfrm>
            <a:off x="822960" y="2999232"/>
            <a:ext cx="3931920" cy="822960"/>
          </a:xfrm>
          <a:prstGeom prst="rect">
            <a:avLst/>
          </a:prstGeom>
          <a:noFill/>
          <a:ln/>
        </p:spPr>
        <p:txBody>
          <a:bodyPr wrap="square" lIns="0" tIns="0" rIns="0" bIns="0" rtlCol="0" anchor="ctr"/>
          <a:lstStyle/>
          <a:p>
            <a:pPr indent="0" marL="0">
              <a:buNone/>
            </a:pPr>
            <a:r>
              <a:rPr lang="en-US" sz="1550" dirty="0">
                <a:solidFill>
                  <a:srgbClr val="17211C"/>
                </a:solidFill>
                <a:latin typeface="Georgia" pitchFamily="34" charset="0"/>
                <a:ea typeface="Georgia" pitchFamily="34" charset="-122"/>
                <a:cs typeface="Georgia" pitchFamily="34" charset="-120"/>
              </a:rPr>
              <a:t>Un matériel change pendant un transfert</a:t>
            </a:r>
            <a:endParaRPr lang="en-US" sz="1550" dirty="0"/>
          </a:p>
        </p:txBody>
      </p:sp>
      <p:sp>
        <p:nvSpPr>
          <p:cNvPr id="17" name="Text 14"/>
          <p:cNvSpPr txBox="1"/>
          <p:nvPr/>
        </p:nvSpPr>
        <p:spPr>
          <a:xfrm>
            <a:off x="4526280" y="2999232"/>
            <a:ext cx="365760" cy="822960"/>
          </a:xfrm>
          <a:prstGeom prst="rect">
            <a:avLst/>
          </a:prstGeom>
          <a:noFill/>
          <a:ln/>
        </p:spPr>
        <p:txBody>
          <a:bodyPr wrap="square" lIns="0" tIns="0" rIns="0" bIns="0" rtlCol="0" anchor="ctr"/>
          <a:lstStyle/>
          <a:p>
            <a:pPr algn="ctr" indent="0" marL="0">
              <a:buNone/>
            </a:pPr>
            <a:r>
              <a:rPr lang="en-US" sz="1800" dirty="0">
                <a:solidFill>
                  <a:srgbClr val="767A71"/>
                </a:solidFill>
                <a:latin typeface="Calibri" pitchFamily="34" charset="0"/>
                <a:ea typeface="Calibri" pitchFamily="34" charset="-122"/>
                <a:cs typeface="Calibri" pitchFamily="34" charset="-120"/>
              </a:rPr>
              <a:t>→</a:t>
            </a:r>
            <a:endParaRPr lang="en-US" sz="1800" dirty="0"/>
          </a:p>
        </p:txBody>
      </p:sp>
      <p:sp>
        <p:nvSpPr>
          <p:cNvPr id="18" name="Text 15"/>
          <p:cNvSpPr txBox="1"/>
          <p:nvPr/>
        </p:nvSpPr>
        <p:spPr>
          <a:xfrm>
            <a:off x="5074920" y="2999232"/>
            <a:ext cx="6400800" cy="822960"/>
          </a:xfrm>
          <a:prstGeom prst="rect">
            <a:avLst/>
          </a:prstGeom>
          <a:noFill/>
          <a:ln/>
        </p:spPr>
        <p:txBody>
          <a:bodyPr wrap="square" lIns="0" tIns="0" rIns="0" bIns="0" rtlCol="0" anchor="ctr"/>
          <a:lstStyle/>
          <a:p>
            <a:pPr indent="0" marL="0">
              <a:buNone/>
            </a:pPr>
            <a:r>
              <a:rPr lang="en-US" sz="1250" dirty="0">
                <a:solidFill>
                  <a:srgbClr val="3F4842"/>
                </a:solidFill>
                <a:latin typeface="Calibri" pitchFamily="34" charset="0"/>
                <a:ea typeface="Calibri" pitchFamily="34" charset="-122"/>
                <a:cs typeface="Calibri" pitchFamily="34" charset="-120"/>
              </a:rPr>
              <a:t>À la dernière validation, on revérifie la direction et l'état ; si ça a bougé, la demande est annulée.</a:t>
            </a:r>
            <a:endParaRPr lang="en-US" sz="1250" dirty="0"/>
          </a:p>
        </p:txBody>
      </p:sp>
      <p:sp>
        <p:nvSpPr>
          <p:cNvPr id="19" name="Shape 16"/>
          <p:cNvSpPr/>
          <p:nvPr/>
        </p:nvSpPr>
        <p:spPr>
          <a:xfrm>
            <a:off x="548640" y="3986784"/>
            <a:ext cx="11094415" cy="822960"/>
          </a:xfrm>
          <a:prstGeom prst="rect">
            <a:avLst/>
          </a:prstGeom>
          <a:solidFill>
            <a:srgbClr val="FBF9F4"/>
          </a:solidFill>
          <a:ln w="9525">
            <a:solidFill>
              <a:srgbClr val="DCD5C6"/>
            </a:solidFill>
            <a:prstDash val="solid"/>
          </a:ln>
          <a:effectLst>
            <a:outerShdw sx="100000" sy="100000" kx="0" ky="0" algn="bl" rotWithShape="0" blurRad="76200" dist="19050" dir="5400000">
              <a:srgbClr val="1A2E25">
                <a:alpha val="8000"/>
              </a:srgbClr>
            </a:outerShdw>
          </a:effectLst>
        </p:spPr>
      </p:sp>
      <p:sp>
        <p:nvSpPr>
          <p:cNvPr id="20" name="Text 17"/>
          <p:cNvSpPr txBox="1"/>
          <p:nvPr/>
        </p:nvSpPr>
        <p:spPr>
          <a:xfrm>
            <a:off x="822960" y="3986784"/>
            <a:ext cx="3931920" cy="822960"/>
          </a:xfrm>
          <a:prstGeom prst="rect">
            <a:avLst/>
          </a:prstGeom>
          <a:noFill/>
          <a:ln/>
        </p:spPr>
        <p:txBody>
          <a:bodyPr wrap="square" lIns="0" tIns="0" rIns="0" bIns="0" rtlCol="0" anchor="ctr"/>
          <a:lstStyle/>
          <a:p>
            <a:pPr indent="0" marL="0">
              <a:buNone/>
            </a:pPr>
            <a:r>
              <a:rPr lang="en-US" sz="1550" dirty="0">
                <a:solidFill>
                  <a:srgbClr val="17211C"/>
                </a:solidFill>
                <a:latin typeface="Georgia" pitchFamily="34" charset="0"/>
                <a:ea typeface="Georgia" pitchFamily="34" charset="-122"/>
                <a:cs typeface="Georgia" pitchFamily="34" charset="-120"/>
              </a:rPr>
              <a:t>Requêtes refusées en MySQL strict</a:t>
            </a:r>
            <a:endParaRPr lang="en-US" sz="1550" dirty="0"/>
          </a:p>
        </p:txBody>
      </p:sp>
      <p:sp>
        <p:nvSpPr>
          <p:cNvPr id="21" name="Text 18"/>
          <p:cNvSpPr txBox="1"/>
          <p:nvPr/>
        </p:nvSpPr>
        <p:spPr>
          <a:xfrm>
            <a:off x="4526280" y="3986784"/>
            <a:ext cx="365760" cy="822960"/>
          </a:xfrm>
          <a:prstGeom prst="rect">
            <a:avLst/>
          </a:prstGeom>
          <a:noFill/>
          <a:ln/>
        </p:spPr>
        <p:txBody>
          <a:bodyPr wrap="square" lIns="0" tIns="0" rIns="0" bIns="0" rtlCol="0" anchor="ctr"/>
          <a:lstStyle/>
          <a:p>
            <a:pPr algn="ctr" indent="0" marL="0">
              <a:buNone/>
            </a:pPr>
            <a:r>
              <a:rPr lang="en-US" sz="1800" dirty="0">
                <a:solidFill>
                  <a:srgbClr val="767A71"/>
                </a:solidFill>
                <a:latin typeface="Calibri" pitchFamily="34" charset="0"/>
                <a:ea typeface="Calibri" pitchFamily="34" charset="-122"/>
                <a:cs typeface="Calibri" pitchFamily="34" charset="-120"/>
              </a:rPr>
              <a:t>→</a:t>
            </a:r>
            <a:endParaRPr lang="en-US" sz="1800" dirty="0"/>
          </a:p>
        </p:txBody>
      </p:sp>
      <p:sp>
        <p:nvSpPr>
          <p:cNvPr id="22" name="Text 19"/>
          <p:cNvSpPr txBox="1"/>
          <p:nvPr/>
        </p:nvSpPr>
        <p:spPr>
          <a:xfrm>
            <a:off x="5074920" y="3986784"/>
            <a:ext cx="6400800" cy="822960"/>
          </a:xfrm>
          <a:prstGeom prst="rect">
            <a:avLst/>
          </a:prstGeom>
          <a:noFill/>
          <a:ln/>
        </p:spPr>
        <p:txBody>
          <a:bodyPr wrap="square" lIns="0" tIns="0" rIns="0" bIns="0" rtlCol="0" anchor="ctr"/>
          <a:lstStyle/>
          <a:p>
            <a:pPr indent="0" marL="0">
              <a:buNone/>
            </a:pPr>
            <a:r>
              <a:rPr lang="en-US" sz="1250" dirty="0">
                <a:solidFill>
                  <a:srgbClr val="3F4842"/>
                </a:solidFill>
                <a:latin typeface="Calibri" pitchFamily="34" charset="0"/>
                <a:ea typeface="Calibri" pitchFamily="34" charset="-122"/>
                <a:cs typeface="Calibri" pitchFamily="34" charset="-120"/>
              </a:rPr>
              <a:t>GROUP BY complété avec toutes les colonnes affichées : même résultat, compatible partout.</a:t>
            </a:r>
            <a:endParaRPr lang="en-US" sz="1250" dirty="0"/>
          </a:p>
        </p:txBody>
      </p:sp>
      <p:sp>
        <p:nvSpPr>
          <p:cNvPr id="23" name="Shape 20"/>
          <p:cNvSpPr/>
          <p:nvPr/>
        </p:nvSpPr>
        <p:spPr>
          <a:xfrm>
            <a:off x="548640" y="4974336"/>
            <a:ext cx="11094415" cy="822960"/>
          </a:xfrm>
          <a:prstGeom prst="rect">
            <a:avLst/>
          </a:prstGeom>
          <a:solidFill>
            <a:srgbClr val="FBF9F4"/>
          </a:solidFill>
          <a:ln w="9525">
            <a:solidFill>
              <a:srgbClr val="DCD5C6"/>
            </a:solidFill>
            <a:prstDash val="solid"/>
          </a:ln>
          <a:effectLst>
            <a:outerShdw sx="100000" sy="100000" kx="0" ky="0" algn="bl" rotWithShape="0" blurRad="76200" dist="19050" dir="5400000">
              <a:srgbClr val="1A2E25">
                <a:alpha val="8000"/>
              </a:srgbClr>
            </a:outerShdw>
          </a:effectLst>
        </p:spPr>
      </p:sp>
      <p:sp>
        <p:nvSpPr>
          <p:cNvPr id="24" name="Text 21"/>
          <p:cNvSpPr txBox="1"/>
          <p:nvPr/>
        </p:nvSpPr>
        <p:spPr>
          <a:xfrm>
            <a:off x="822960" y="4974336"/>
            <a:ext cx="3931920" cy="822960"/>
          </a:xfrm>
          <a:prstGeom prst="rect">
            <a:avLst/>
          </a:prstGeom>
          <a:noFill/>
          <a:ln/>
        </p:spPr>
        <p:txBody>
          <a:bodyPr wrap="square" lIns="0" tIns="0" rIns="0" bIns="0" rtlCol="0" anchor="ctr"/>
          <a:lstStyle/>
          <a:p>
            <a:pPr indent="0" marL="0">
              <a:buNone/>
            </a:pPr>
            <a:r>
              <a:rPr lang="en-US" sz="1550" dirty="0">
                <a:solidFill>
                  <a:srgbClr val="17211C"/>
                </a:solidFill>
                <a:latin typeface="Georgia" pitchFamily="34" charset="0"/>
                <a:ea typeface="Georgia" pitchFamily="34" charset="-122"/>
                <a:cs typeface="Georgia" pitchFamily="34" charset="-120"/>
              </a:rPr>
              <a:t>Export CSV pollué (PHP 8.4)</a:t>
            </a:r>
            <a:endParaRPr lang="en-US" sz="1550" dirty="0"/>
          </a:p>
        </p:txBody>
      </p:sp>
      <p:sp>
        <p:nvSpPr>
          <p:cNvPr id="25" name="Text 22"/>
          <p:cNvSpPr txBox="1"/>
          <p:nvPr/>
        </p:nvSpPr>
        <p:spPr>
          <a:xfrm>
            <a:off x="4526280" y="4974336"/>
            <a:ext cx="365760" cy="822960"/>
          </a:xfrm>
          <a:prstGeom prst="rect">
            <a:avLst/>
          </a:prstGeom>
          <a:noFill/>
          <a:ln/>
        </p:spPr>
        <p:txBody>
          <a:bodyPr wrap="square" lIns="0" tIns="0" rIns="0" bIns="0" rtlCol="0" anchor="ctr"/>
          <a:lstStyle/>
          <a:p>
            <a:pPr algn="ctr" indent="0" marL="0">
              <a:buNone/>
            </a:pPr>
            <a:r>
              <a:rPr lang="en-US" sz="1800" dirty="0">
                <a:solidFill>
                  <a:srgbClr val="767A71"/>
                </a:solidFill>
                <a:latin typeface="Calibri" pitchFamily="34" charset="0"/>
                <a:ea typeface="Calibri" pitchFamily="34" charset="-122"/>
                <a:cs typeface="Calibri" pitchFamily="34" charset="-120"/>
              </a:rPr>
              <a:t>→</a:t>
            </a:r>
            <a:endParaRPr lang="en-US" sz="1800" dirty="0"/>
          </a:p>
        </p:txBody>
      </p:sp>
      <p:sp>
        <p:nvSpPr>
          <p:cNvPr id="26" name="Text 23"/>
          <p:cNvSpPr txBox="1"/>
          <p:nvPr/>
        </p:nvSpPr>
        <p:spPr>
          <a:xfrm>
            <a:off x="5074920" y="4974336"/>
            <a:ext cx="6400800" cy="822960"/>
          </a:xfrm>
          <a:prstGeom prst="rect">
            <a:avLst/>
          </a:prstGeom>
          <a:noFill/>
          <a:ln/>
        </p:spPr>
        <p:txBody>
          <a:bodyPr wrap="square" lIns="0" tIns="0" rIns="0" bIns="0" rtlCol="0" anchor="ctr"/>
          <a:lstStyle/>
          <a:p>
            <a:pPr indent="0" marL="0">
              <a:buNone/>
            </a:pPr>
            <a:r>
              <a:rPr lang="en-US" sz="1250" dirty="0">
                <a:solidFill>
                  <a:srgbClr val="3F4842"/>
                </a:solidFill>
                <a:latin typeface="Calibri" pitchFamily="34" charset="0"/>
                <a:ea typeface="Calibri" pitchFamily="34" charset="-122"/>
                <a:cs typeface="Calibri" pitchFamily="34" charset="-120"/>
              </a:rPr>
              <a:t>Paramètre d'échappement de fputcsv précisé explicitement ; export propre et lisible dans Excel.</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EFE6"/>
        </a:solidFill>
      </p:bgPr>
    </p:bg>
    <p:spTree>
      <p:nvGrpSpPr>
        <p:cNvPr id="1" name=""/>
        <p:cNvGrpSpPr/>
        <p:nvPr/>
      </p:nvGrpSpPr>
      <p:grpSpPr>
        <a:xfrm>
          <a:off x="0" y="0"/>
          <a:ext cx="0" cy="0"/>
          <a:chOff x="0" y="0"/>
          <a:chExt cx="0" cy="0"/>
        </a:xfrm>
      </p:grpSpPr>
      <p:sp>
        <p:nvSpPr>
          <p:cNvPr id="2" name="Shape 0"/>
          <p:cNvSpPr/>
          <p:nvPr/>
        </p:nvSpPr>
        <p:spPr>
          <a:xfrm>
            <a:off x="548640" y="384048"/>
            <a:ext cx="1298448" cy="274320"/>
          </a:xfrm>
          <a:prstGeom prst="roundRect">
            <a:avLst>
              <a:gd name="adj" fmla="val 16667"/>
            </a:avLst>
          </a:prstGeom>
          <a:solidFill>
            <a:srgbClr val="FFFDF7"/>
          </a:solidFill>
          <a:ln w="9525">
            <a:solidFill>
              <a:srgbClr val="CBC2AD"/>
            </a:solidFill>
            <a:prstDash val="solid"/>
          </a:ln>
        </p:spPr>
      </p:sp>
      <p:sp>
        <p:nvSpPr>
          <p:cNvPr id="3" name="Shape 1"/>
          <p:cNvSpPr/>
          <p:nvPr/>
        </p:nvSpPr>
        <p:spPr>
          <a:xfrm>
            <a:off x="640080" y="489204"/>
            <a:ext cx="64008" cy="64008"/>
          </a:xfrm>
          <a:prstGeom prst="ellipse">
            <a:avLst/>
          </a:prstGeom>
          <a:solidFill>
            <a:srgbClr val="F3EFE6"/>
          </a:solidFill>
          <a:ln w="9525">
            <a:solidFill>
              <a:srgbClr val="CBC2AD"/>
            </a:solidFill>
            <a:prstDash val="solid"/>
          </a:ln>
        </p:spPr>
      </p:sp>
      <p:sp>
        <p:nvSpPr>
          <p:cNvPr id="4" name="Text 2"/>
          <p:cNvSpPr txBox="1"/>
          <p:nvPr/>
        </p:nvSpPr>
        <p:spPr>
          <a:xfrm>
            <a:off x="768096" y="384048"/>
            <a:ext cx="1060704" cy="274320"/>
          </a:xfrm>
          <a:prstGeom prst="rect">
            <a:avLst/>
          </a:prstGeom>
          <a:noFill/>
          <a:ln/>
        </p:spPr>
        <p:txBody>
          <a:bodyPr wrap="none" lIns="0" tIns="0" rIns="0" bIns="0" rtlCol="0" anchor="ctr"/>
          <a:lstStyle/>
          <a:p>
            <a:pPr indent="0" marL="0">
              <a:buNone/>
            </a:pPr>
            <a:r>
              <a:rPr lang="en-US" sz="1000" spc="100" kern="0" dirty="0">
                <a:solidFill>
                  <a:srgbClr val="17211C"/>
                </a:solidFill>
                <a:latin typeface="Consolas" pitchFamily="34" charset="0"/>
                <a:ea typeface="Consolas" pitchFamily="34" charset="-122"/>
                <a:cs typeface="Consolas" pitchFamily="34" charset="-120"/>
              </a:rPr>
              <a:t>13 · BILAN</a:t>
            </a:r>
            <a:endParaRPr lang="en-US" sz="1000" dirty="0"/>
          </a:p>
        </p:txBody>
      </p:sp>
      <p:sp>
        <p:nvSpPr>
          <p:cNvPr id="5" name="Text 3"/>
          <p:cNvSpPr txBox="1"/>
          <p:nvPr/>
        </p:nvSpPr>
        <p:spPr>
          <a:xfrm>
            <a:off x="548640" y="786384"/>
            <a:ext cx="11094415" cy="731520"/>
          </a:xfrm>
          <a:prstGeom prst="rect">
            <a:avLst/>
          </a:prstGeom>
          <a:noFill/>
          <a:ln/>
        </p:spPr>
        <p:txBody>
          <a:bodyPr wrap="square" lIns="0" tIns="0" rIns="0" bIns="0" rtlCol="0" anchor="ctr"/>
          <a:lstStyle/>
          <a:p>
            <a:pPr indent="0" marL="0">
              <a:buNone/>
            </a:pPr>
            <a:r>
              <a:rPr lang="en-US" sz="3200" dirty="0">
                <a:solidFill>
                  <a:srgbClr val="17211C"/>
                </a:solidFill>
                <a:latin typeface="Georgia" pitchFamily="34" charset="0"/>
                <a:ea typeface="Georgia" pitchFamily="34" charset="-122"/>
                <a:cs typeface="Georgia" pitchFamily="34" charset="-120"/>
              </a:rPr>
              <a:t>Ce que j'en retiens, et la suite</a:t>
            </a:r>
            <a:endParaRPr lang="en-US" sz="3200" dirty="0"/>
          </a:p>
        </p:txBody>
      </p:sp>
      <p:sp>
        <p:nvSpPr>
          <p:cNvPr id="7" name="Text 4"/>
          <p:cNvSpPr txBox="1"/>
          <p:nvPr/>
        </p:nvSpPr>
        <p:spPr>
          <a:xfrm>
            <a:off x="10545775" y="6473952"/>
            <a:ext cx="1097280" cy="228600"/>
          </a:xfrm>
          <a:prstGeom prst="rect">
            <a:avLst/>
          </a:prstGeom>
          <a:noFill/>
          <a:ln/>
        </p:spPr>
        <p:txBody>
          <a:bodyPr wrap="square" lIns="0" tIns="0" rIns="0" bIns="0" rtlCol="0" anchor="t"/>
          <a:lstStyle/>
          <a:p>
            <a:pPr algn="r" indent="0" marL="0">
              <a:buNone/>
            </a:pPr>
            <a:r>
              <a:rPr lang="en-US" sz="900" dirty="0">
                <a:solidFill>
                  <a:srgbClr val="767A71"/>
                </a:solidFill>
                <a:latin typeface="Consolas" pitchFamily="34" charset="0"/>
                <a:ea typeface="Consolas" pitchFamily="34" charset="-122"/>
                <a:cs typeface="Consolas" pitchFamily="34" charset="-120"/>
              </a:rPr>
              <a:t>16 / 17</a:t>
            </a:r>
            <a:endParaRPr lang="en-US" sz="900" dirty="0"/>
          </a:p>
        </p:txBody>
      </p:sp>
      <p:sp>
        <p:nvSpPr>
          <p:cNvPr id="8" name="Text 5"/>
          <p:cNvSpPr txBox="1"/>
          <p:nvPr/>
        </p:nvSpPr>
        <p:spPr>
          <a:xfrm>
            <a:off x="548640" y="6473952"/>
            <a:ext cx="1828800" cy="228600"/>
          </a:xfrm>
          <a:prstGeom prst="rect">
            <a:avLst/>
          </a:prstGeom>
          <a:noFill/>
          <a:ln/>
        </p:spPr>
        <p:txBody>
          <a:bodyPr wrap="square" lIns="0" tIns="0" rIns="0" bIns="0" rtlCol="0" anchor="t"/>
          <a:lstStyle/>
          <a:p>
            <a:pPr indent="0" marL="0">
              <a:buNone/>
            </a:pPr>
            <a:r>
              <a:rPr lang="en-US" sz="1000" i="1" dirty="0">
                <a:solidFill>
                  <a:srgbClr val="767A71"/>
                </a:solidFill>
                <a:latin typeface="Georgia" pitchFamily="34" charset="0"/>
                <a:ea typeface="Georgia" pitchFamily="34" charset="-122"/>
                <a:cs typeface="Georgia" pitchFamily="34" charset="-120"/>
              </a:rPr>
              <a:t>Patrimo</a:t>
            </a:r>
            <a:endParaRPr lang="en-US" sz="1000" dirty="0"/>
          </a:p>
        </p:txBody>
      </p:sp>
      <p:sp>
        <p:nvSpPr>
          <p:cNvPr id="9" name="Shape 6"/>
          <p:cNvSpPr/>
          <p:nvPr/>
        </p:nvSpPr>
        <p:spPr>
          <a:xfrm>
            <a:off x="548640" y="1691640"/>
            <a:ext cx="5394960" cy="4251960"/>
          </a:xfrm>
          <a:prstGeom prst="rect">
            <a:avLst/>
          </a:prstGeom>
          <a:solidFill>
            <a:srgbClr val="FBF9F4"/>
          </a:solidFill>
          <a:ln w="9525">
            <a:solidFill>
              <a:srgbClr val="DCD5C6"/>
            </a:solidFill>
            <a:prstDash val="solid"/>
          </a:ln>
          <a:effectLst>
            <a:outerShdw sx="100000" sy="100000" kx="0" ky="0" algn="bl" rotWithShape="0" blurRad="76200" dist="19050" dir="5400000">
              <a:srgbClr val="1A2E25">
                <a:alpha val="8000"/>
              </a:srgbClr>
            </a:outerShdw>
          </a:effectLst>
        </p:spPr>
      </p:sp>
      <p:sp>
        <p:nvSpPr>
          <p:cNvPr id="10" name="Text 7"/>
          <p:cNvSpPr txBox="1"/>
          <p:nvPr/>
        </p:nvSpPr>
        <p:spPr>
          <a:xfrm>
            <a:off x="868680" y="1920240"/>
            <a:ext cx="4754880" cy="411480"/>
          </a:xfrm>
          <a:prstGeom prst="rect">
            <a:avLst/>
          </a:prstGeom>
          <a:noFill/>
          <a:ln/>
        </p:spPr>
        <p:txBody>
          <a:bodyPr wrap="square" lIns="0" tIns="0" rIns="0" bIns="0" rtlCol="0" anchor="t"/>
          <a:lstStyle/>
          <a:p>
            <a:pPr indent="0" marL="0">
              <a:buNone/>
            </a:pPr>
            <a:r>
              <a:rPr lang="en-US" sz="2200" dirty="0">
                <a:solidFill>
                  <a:srgbClr val="17211C"/>
                </a:solidFill>
                <a:latin typeface="Georgia" pitchFamily="34" charset="0"/>
                <a:ea typeface="Georgia" pitchFamily="34" charset="-122"/>
                <a:cs typeface="Georgia" pitchFamily="34" charset="-120"/>
              </a:rPr>
              <a:t>Ce que j'ai appris</a:t>
            </a:r>
            <a:endParaRPr lang="en-US" sz="2200" dirty="0"/>
          </a:p>
        </p:txBody>
      </p:sp>
      <p:sp>
        <p:nvSpPr>
          <p:cNvPr id="11" name="Text 8"/>
          <p:cNvSpPr txBox="1"/>
          <p:nvPr/>
        </p:nvSpPr>
        <p:spPr>
          <a:xfrm>
            <a:off x="868680" y="2560320"/>
            <a:ext cx="4754880" cy="292608"/>
          </a:xfrm>
          <a:prstGeom prst="rect">
            <a:avLst/>
          </a:prstGeom>
          <a:noFill/>
          <a:ln/>
        </p:spPr>
        <p:txBody>
          <a:bodyPr wrap="square" lIns="0" tIns="0" rIns="0" bIns="0" rtlCol="0" anchor="t"/>
          <a:lstStyle/>
          <a:p>
            <a:pPr indent="0" marL="0">
              <a:buNone/>
            </a:pPr>
            <a:r>
              <a:rPr lang="en-US" sz="1450" b="1" dirty="0">
                <a:solidFill>
                  <a:srgbClr val="17211C"/>
                </a:solidFill>
                <a:latin typeface="Calibri" pitchFamily="34" charset="0"/>
                <a:ea typeface="Calibri" pitchFamily="34" charset="-122"/>
                <a:cs typeface="Calibri" pitchFamily="34" charset="-120"/>
              </a:rPr>
              <a:t>Modéliser avant de coder</a:t>
            </a:r>
            <a:endParaRPr lang="en-US" sz="1450" dirty="0"/>
          </a:p>
        </p:txBody>
      </p:sp>
      <p:sp>
        <p:nvSpPr>
          <p:cNvPr id="12" name="Text 9"/>
          <p:cNvSpPr txBox="1"/>
          <p:nvPr/>
        </p:nvSpPr>
        <p:spPr>
          <a:xfrm>
            <a:off x="868680" y="2880360"/>
            <a:ext cx="4754880" cy="640080"/>
          </a:xfrm>
          <a:prstGeom prst="rect">
            <a:avLst/>
          </a:prstGeom>
          <a:noFill/>
          <a:ln/>
        </p:spPr>
        <p:txBody>
          <a:bodyPr wrap="square" lIns="0" tIns="0" rIns="0" bIns="0" rtlCol="0" anchor="t"/>
          <a:lstStyle/>
          <a:p>
            <a:pPr indent="0" marL="0">
              <a:buNone/>
            </a:pPr>
            <a:r>
              <a:rPr lang="en-US" sz="1250" dirty="0">
                <a:solidFill>
                  <a:srgbClr val="3F4842"/>
                </a:solidFill>
                <a:latin typeface="Calibri" pitchFamily="34" charset="0"/>
                <a:ea typeface="Calibri" pitchFamily="34" charset="-122"/>
                <a:cs typeface="Calibri" pitchFamily="34" charset="-120"/>
              </a:rPr>
              <a:t>Le schéma du cycle de vie a donné les tables, puis les écrans.</a:t>
            </a:r>
            <a:endParaRPr lang="en-US" sz="1250" dirty="0"/>
          </a:p>
        </p:txBody>
      </p:sp>
      <p:sp>
        <p:nvSpPr>
          <p:cNvPr id="13" name="Text 10"/>
          <p:cNvSpPr txBox="1"/>
          <p:nvPr/>
        </p:nvSpPr>
        <p:spPr>
          <a:xfrm>
            <a:off x="868680" y="3639312"/>
            <a:ext cx="4754880" cy="292608"/>
          </a:xfrm>
          <a:prstGeom prst="rect">
            <a:avLst/>
          </a:prstGeom>
          <a:noFill/>
          <a:ln/>
        </p:spPr>
        <p:txBody>
          <a:bodyPr wrap="square" lIns="0" tIns="0" rIns="0" bIns="0" rtlCol="0" anchor="t"/>
          <a:lstStyle/>
          <a:p>
            <a:pPr indent="0" marL="0">
              <a:buNone/>
            </a:pPr>
            <a:r>
              <a:rPr lang="en-US" sz="1450" b="1" dirty="0">
                <a:solidFill>
                  <a:srgbClr val="17211C"/>
                </a:solidFill>
                <a:latin typeface="Calibri" pitchFamily="34" charset="0"/>
                <a:ea typeface="Calibri" pitchFamily="34" charset="-122"/>
                <a:cs typeface="Calibri" pitchFamily="34" charset="-120"/>
              </a:rPr>
              <a:t>Laisser la base protéger les données</a:t>
            </a:r>
            <a:endParaRPr lang="en-US" sz="1450" dirty="0"/>
          </a:p>
        </p:txBody>
      </p:sp>
      <p:sp>
        <p:nvSpPr>
          <p:cNvPr id="14" name="Text 11"/>
          <p:cNvSpPr txBox="1"/>
          <p:nvPr/>
        </p:nvSpPr>
        <p:spPr>
          <a:xfrm>
            <a:off x="868680" y="3959352"/>
            <a:ext cx="4754880" cy="640080"/>
          </a:xfrm>
          <a:prstGeom prst="rect">
            <a:avLst/>
          </a:prstGeom>
          <a:noFill/>
          <a:ln/>
        </p:spPr>
        <p:txBody>
          <a:bodyPr wrap="square" lIns="0" tIns="0" rIns="0" bIns="0" rtlCol="0" anchor="t"/>
          <a:lstStyle/>
          <a:p>
            <a:pPr indent="0" marL="0">
              <a:buNone/>
            </a:pPr>
            <a:r>
              <a:rPr lang="en-US" sz="1250" dirty="0">
                <a:solidFill>
                  <a:srgbClr val="3F4842"/>
                </a:solidFill>
                <a:latin typeface="Calibri" pitchFamily="34" charset="0"/>
                <a:ea typeface="Calibri" pitchFamily="34" charset="-122"/>
                <a:cs typeface="Calibri" pitchFamily="34" charset="-120"/>
              </a:rPr>
              <a:t>Clés étrangères, unicité, transactions : les règles tiennent même si l'interface se trompe.</a:t>
            </a:r>
            <a:endParaRPr lang="en-US" sz="1250" dirty="0"/>
          </a:p>
        </p:txBody>
      </p:sp>
      <p:sp>
        <p:nvSpPr>
          <p:cNvPr id="15" name="Text 12"/>
          <p:cNvSpPr txBox="1"/>
          <p:nvPr/>
        </p:nvSpPr>
        <p:spPr>
          <a:xfrm>
            <a:off x="868680" y="4718304"/>
            <a:ext cx="4754880" cy="292608"/>
          </a:xfrm>
          <a:prstGeom prst="rect">
            <a:avLst/>
          </a:prstGeom>
          <a:noFill/>
          <a:ln/>
        </p:spPr>
        <p:txBody>
          <a:bodyPr wrap="square" lIns="0" tIns="0" rIns="0" bIns="0" rtlCol="0" anchor="t"/>
          <a:lstStyle/>
          <a:p>
            <a:pPr indent="0" marL="0">
              <a:buNone/>
            </a:pPr>
            <a:r>
              <a:rPr lang="en-US" sz="1450" b="1" dirty="0">
                <a:solidFill>
                  <a:srgbClr val="17211C"/>
                </a:solidFill>
                <a:latin typeface="Calibri" pitchFamily="34" charset="0"/>
                <a:ea typeface="Calibri" pitchFamily="34" charset="-122"/>
                <a:cs typeface="Calibri" pitchFamily="34" charset="-120"/>
              </a:rPr>
              <a:t>Aller jusqu'à la mise en ligne</a:t>
            </a:r>
            <a:endParaRPr lang="en-US" sz="1450" dirty="0"/>
          </a:p>
        </p:txBody>
      </p:sp>
      <p:sp>
        <p:nvSpPr>
          <p:cNvPr id="16" name="Text 13"/>
          <p:cNvSpPr txBox="1"/>
          <p:nvPr/>
        </p:nvSpPr>
        <p:spPr>
          <a:xfrm>
            <a:off x="868680" y="5038344"/>
            <a:ext cx="4754880" cy="640080"/>
          </a:xfrm>
          <a:prstGeom prst="rect">
            <a:avLst/>
          </a:prstGeom>
          <a:noFill/>
          <a:ln/>
        </p:spPr>
        <p:txBody>
          <a:bodyPr wrap="square" lIns="0" tIns="0" rIns="0" bIns="0" rtlCol="0" anchor="t"/>
          <a:lstStyle/>
          <a:p>
            <a:pPr indent="0" marL="0">
              <a:buNone/>
            </a:pPr>
            <a:r>
              <a:rPr lang="en-US" sz="1250" dirty="0">
                <a:solidFill>
                  <a:srgbClr val="3F4842"/>
                </a:solidFill>
                <a:latin typeface="Calibri" pitchFamily="34" charset="0"/>
                <a:ea typeface="Calibri" pitchFamily="34" charset="-122"/>
                <a:cs typeface="Calibri" pitchFamily="34" charset="-120"/>
              </a:rPr>
              <a:t>Hébergeur gratuit, configuration, sécurité : un projet fini, pas seulement « qui marche chez moi ».</a:t>
            </a:r>
            <a:endParaRPr lang="en-US" sz="1250" dirty="0"/>
          </a:p>
        </p:txBody>
      </p:sp>
      <p:sp>
        <p:nvSpPr>
          <p:cNvPr id="17" name="Text 14"/>
          <p:cNvSpPr txBox="1"/>
          <p:nvPr/>
        </p:nvSpPr>
        <p:spPr>
          <a:xfrm>
            <a:off x="6263640" y="1920240"/>
            <a:ext cx="5379415" cy="411480"/>
          </a:xfrm>
          <a:prstGeom prst="rect">
            <a:avLst/>
          </a:prstGeom>
          <a:noFill/>
          <a:ln/>
        </p:spPr>
        <p:txBody>
          <a:bodyPr wrap="square" lIns="0" tIns="0" rIns="0" bIns="0" rtlCol="0" anchor="t"/>
          <a:lstStyle/>
          <a:p>
            <a:pPr indent="0" marL="0">
              <a:buNone/>
            </a:pPr>
            <a:r>
              <a:rPr lang="en-US" sz="2200" dirty="0">
                <a:solidFill>
                  <a:srgbClr val="17211C"/>
                </a:solidFill>
                <a:latin typeface="Georgia" pitchFamily="34" charset="0"/>
                <a:ea typeface="Georgia" pitchFamily="34" charset="-122"/>
                <a:cs typeface="Georgia" pitchFamily="34" charset="-120"/>
              </a:rPr>
              <a:t>Et ensuite ?</a:t>
            </a:r>
            <a:endParaRPr lang="en-US" sz="2200" dirty="0"/>
          </a:p>
        </p:txBody>
      </p:sp>
      <p:sp>
        <p:nvSpPr>
          <p:cNvPr id="18" name="Shape 15"/>
          <p:cNvSpPr/>
          <p:nvPr/>
        </p:nvSpPr>
        <p:spPr>
          <a:xfrm>
            <a:off x="6263640" y="2578608"/>
            <a:ext cx="566928" cy="274320"/>
          </a:xfrm>
          <a:prstGeom prst="roundRect">
            <a:avLst>
              <a:gd name="adj" fmla="val 16667"/>
            </a:avLst>
          </a:prstGeom>
          <a:solidFill>
            <a:srgbClr val="FFFDF7"/>
          </a:solidFill>
          <a:ln w="9525">
            <a:solidFill>
              <a:srgbClr val="CBC2AD"/>
            </a:solidFill>
            <a:prstDash val="solid"/>
          </a:ln>
        </p:spPr>
      </p:sp>
      <p:sp>
        <p:nvSpPr>
          <p:cNvPr id="19" name="Shape 16"/>
          <p:cNvSpPr/>
          <p:nvPr/>
        </p:nvSpPr>
        <p:spPr>
          <a:xfrm>
            <a:off x="6355080" y="2683764"/>
            <a:ext cx="64008" cy="64008"/>
          </a:xfrm>
          <a:prstGeom prst="ellipse">
            <a:avLst/>
          </a:prstGeom>
          <a:solidFill>
            <a:srgbClr val="F3EFE6"/>
          </a:solidFill>
          <a:ln w="9525">
            <a:solidFill>
              <a:srgbClr val="CBC2AD"/>
            </a:solidFill>
            <a:prstDash val="solid"/>
          </a:ln>
        </p:spPr>
      </p:sp>
      <p:sp>
        <p:nvSpPr>
          <p:cNvPr id="20" name="Text 17"/>
          <p:cNvSpPr txBox="1"/>
          <p:nvPr/>
        </p:nvSpPr>
        <p:spPr>
          <a:xfrm>
            <a:off x="6483096" y="2578608"/>
            <a:ext cx="329184" cy="274320"/>
          </a:xfrm>
          <a:prstGeom prst="rect">
            <a:avLst/>
          </a:prstGeom>
          <a:noFill/>
          <a:ln/>
        </p:spPr>
        <p:txBody>
          <a:bodyPr wrap="none" lIns="0" tIns="0" rIns="0" bIns="0" rtlCol="0" anchor="ctr"/>
          <a:lstStyle/>
          <a:p>
            <a:pPr indent="0" marL="0">
              <a:buNone/>
            </a:pPr>
            <a:r>
              <a:rPr lang="en-US" sz="1000" spc="100" kern="0" dirty="0">
                <a:solidFill>
                  <a:srgbClr val="17211C"/>
                </a:solidFill>
                <a:latin typeface="Consolas" pitchFamily="34" charset="0"/>
                <a:ea typeface="Consolas" pitchFamily="34" charset="-122"/>
                <a:cs typeface="Consolas" pitchFamily="34" charset="-120"/>
              </a:rPr>
              <a:t>01</a:t>
            </a:r>
            <a:endParaRPr lang="en-US" sz="1000" dirty="0"/>
          </a:p>
        </p:txBody>
      </p:sp>
      <p:sp>
        <p:nvSpPr>
          <p:cNvPr id="21" name="Text 18"/>
          <p:cNvSpPr txBox="1"/>
          <p:nvPr/>
        </p:nvSpPr>
        <p:spPr>
          <a:xfrm>
            <a:off x="7040880" y="2560320"/>
            <a:ext cx="4602175" cy="292608"/>
          </a:xfrm>
          <a:prstGeom prst="rect">
            <a:avLst/>
          </a:prstGeom>
          <a:noFill/>
          <a:ln/>
        </p:spPr>
        <p:txBody>
          <a:bodyPr wrap="square" lIns="0" tIns="0" rIns="0" bIns="0" rtlCol="0" anchor="t"/>
          <a:lstStyle/>
          <a:p>
            <a:pPr indent="0" marL="0">
              <a:buNone/>
            </a:pPr>
            <a:r>
              <a:rPr lang="en-US" sz="1450" b="1" dirty="0">
                <a:solidFill>
                  <a:srgbClr val="17211C"/>
                </a:solidFill>
                <a:latin typeface="Calibri" pitchFamily="34" charset="0"/>
                <a:ea typeface="Calibri" pitchFamily="34" charset="-122"/>
                <a:cs typeface="Calibri" pitchFamily="34" charset="-120"/>
              </a:rPr>
              <a:t>Scanner avec le téléphone</a:t>
            </a:r>
            <a:endParaRPr lang="en-US" sz="1450" dirty="0"/>
          </a:p>
        </p:txBody>
      </p:sp>
      <p:sp>
        <p:nvSpPr>
          <p:cNvPr id="22" name="Text 19"/>
          <p:cNvSpPr txBox="1"/>
          <p:nvPr/>
        </p:nvSpPr>
        <p:spPr>
          <a:xfrm>
            <a:off x="7040880" y="2871216"/>
            <a:ext cx="4602175" cy="457200"/>
          </a:xfrm>
          <a:prstGeom prst="rect">
            <a:avLst/>
          </a:prstGeom>
          <a:noFill/>
          <a:ln/>
        </p:spPr>
        <p:txBody>
          <a:bodyPr wrap="square" lIns="0" tIns="0" rIns="0" bIns="0" rtlCol="0" anchor="t"/>
          <a:lstStyle/>
          <a:p>
            <a:pPr indent="0" marL="0">
              <a:buNone/>
            </a:pPr>
            <a:r>
              <a:rPr lang="en-US" sz="1250" dirty="0">
                <a:solidFill>
                  <a:srgbClr val="3F4842"/>
                </a:solidFill>
                <a:latin typeface="Calibri" pitchFamily="34" charset="0"/>
                <a:ea typeface="Calibri" pitchFamily="34" charset="-122"/>
                <a:cs typeface="Calibri" pitchFamily="34" charset="-120"/>
              </a:rPr>
              <a:t>Lire le code-barres avec la caméra pendant l'inventaire annuel.</a:t>
            </a:r>
            <a:endParaRPr lang="en-US" sz="1250" dirty="0"/>
          </a:p>
        </p:txBody>
      </p:sp>
      <p:sp>
        <p:nvSpPr>
          <p:cNvPr id="23" name="Shape 20"/>
          <p:cNvSpPr/>
          <p:nvPr/>
        </p:nvSpPr>
        <p:spPr>
          <a:xfrm>
            <a:off x="6263640" y="3401568"/>
            <a:ext cx="566928" cy="274320"/>
          </a:xfrm>
          <a:prstGeom prst="roundRect">
            <a:avLst>
              <a:gd name="adj" fmla="val 16667"/>
            </a:avLst>
          </a:prstGeom>
          <a:solidFill>
            <a:srgbClr val="FFFDF7"/>
          </a:solidFill>
          <a:ln w="9525">
            <a:solidFill>
              <a:srgbClr val="CBC2AD"/>
            </a:solidFill>
            <a:prstDash val="solid"/>
          </a:ln>
        </p:spPr>
      </p:sp>
      <p:sp>
        <p:nvSpPr>
          <p:cNvPr id="24" name="Shape 21"/>
          <p:cNvSpPr/>
          <p:nvPr/>
        </p:nvSpPr>
        <p:spPr>
          <a:xfrm>
            <a:off x="6355080" y="3506724"/>
            <a:ext cx="64008" cy="64008"/>
          </a:xfrm>
          <a:prstGeom prst="ellipse">
            <a:avLst/>
          </a:prstGeom>
          <a:solidFill>
            <a:srgbClr val="F3EFE6"/>
          </a:solidFill>
          <a:ln w="9525">
            <a:solidFill>
              <a:srgbClr val="CBC2AD"/>
            </a:solidFill>
            <a:prstDash val="solid"/>
          </a:ln>
        </p:spPr>
      </p:sp>
      <p:sp>
        <p:nvSpPr>
          <p:cNvPr id="25" name="Text 22"/>
          <p:cNvSpPr txBox="1"/>
          <p:nvPr/>
        </p:nvSpPr>
        <p:spPr>
          <a:xfrm>
            <a:off x="6483096" y="3401568"/>
            <a:ext cx="329184" cy="274320"/>
          </a:xfrm>
          <a:prstGeom prst="rect">
            <a:avLst/>
          </a:prstGeom>
          <a:noFill/>
          <a:ln/>
        </p:spPr>
        <p:txBody>
          <a:bodyPr wrap="none" lIns="0" tIns="0" rIns="0" bIns="0" rtlCol="0" anchor="ctr"/>
          <a:lstStyle/>
          <a:p>
            <a:pPr indent="0" marL="0">
              <a:buNone/>
            </a:pPr>
            <a:r>
              <a:rPr lang="en-US" sz="1000" spc="100" kern="0" dirty="0">
                <a:solidFill>
                  <a:srgbClr val="17211C"/>
                </a:solidFill>
                <a:latin typeface="Consolas" pitchFamily="34" charset="0"/>
                <a:ea typeface="Consolas" pitchFamily="34" charset="-122"/>
                <a:cs typeface="Consolas" pitchFamily="34" charset="-120"/>
              </a:rPr>
              <a:t>02</a:t>
            </a:r>
            <a:endParaRPr lang="en-US" sz="1000" dirty="0"/>
          </a:p>
        </p:txBody>
      </p:sp>
      <p:sp>
        <p:nvSpPr>
          <p:cNvPr id="26" name="Text 23"/>
          <p:cNvSpPr txBox="1"/>
          <p:nvPr/>
        </p:nvSpPr>
        <p:spPr>
          <a:xfrm>
            <a:off x="7040880" y="3383280"/>
            <a:ext cx="4602175" cy="292608"/>
          </a:xfrm>
          <a:prstGeom prst="rect">
            <a:avLst/>
          </a:prstGeom>
          <a:noFill/>
          <a:ln/>
        </p:spPr>
        <p:txBody>
          <a:bodyPr wrap="square" lIns="0" tIns="0" rIns="0" bIns="0" rtlCol="0" anchor="t"/>
          <a:lstStyle/>
          <a:p>
            <a:pPr indent="0" marL="0">
              <a:buNone/>
            </a:pPr>
            <a:r>
              <a:rPr lang="en-US" sz="1450" b="1" dirty="0">
                <a:solidFill>
                  <a:srgbClr val="17211C"/>
                </a:solidFill>
                <a:latin typeface="Calibri" pitchFamily="34" charset="0"/>
                <a:ea typeface="Calibri" pitchFamily="34" charset="-122"/>
                <a:cs typeface="Calibri" pitchFamily="34" charset="-120"/>
              </a:rPr>
              <a:t>Pièces jointes</a:t>
            </a:r>
            <a:endParaRPr lang="en-US" sz="1450" dirty="0"/>
          </a:p>
        </p:txBody>
      </p:sp>
      <p:sp>
        <p:nvSpPr>
          <p:cNvPr id="27" name="Text 24"/>
          <p:cNvSpPr txBox="1"/>
          <p:nvPr/>
        </p:nvSpPr>
        <p:spPr>
          <a:xfrm>
            <a:off x="7040880" y="3694176"/>
            <a:ext cx="4602175" cy="457200"/>
          </a:xfrm>
          <a:prstGeom prst="rect">
            <a:avLst/>
          </a:prstGeom>
          <a:noFill/>
          <a:ln/>
        </p:spPr>
        <p:txBody>
          <a:bodyPr wrap="square" lIns="0" tIns="0" rIns="0" bIns="0" rtlCol="0" anchor="t"/>
          <a:lstStyle/>
          <a:p>
            <a:pPr indent="0" marL="0">
              <a:buNone/>
            </a:pPr>
            <a:r>
              <a:rPr lang="en-US" sz="1250" dirty="0">
                <a:solidFill>
                  <a:srgbClr val="3F4842"/>
                </a:solidFill>
                <a:latin typeface="Calibri" pitchFamily="34" charset="0"/>
                <a:ea typeface="Calibri" pitchFamily="34" charset="-122"/>
                <a:cs typeface="Calibri" pitchFamily="34" charset="-120"/>
              </a:rPr>
              <a:t>Joindre le PV de réforme ou la facture en PDF à la fiche.</a:t>
            </a:r>
            <a:endParaRPr lang="en-US" sz="1250" dirty="0"/>
          </a:p>
        </p:txBody>
      </p:sp>
      <p:sp>
        <p:nvSpPr>
          <p:cNvPr id="28" name="Shape 25"/>
          <p:cNvSpPr/>
          <p:nvPr/>
        </p:nvSpPr>
        <p:spPr>
          <a:xfrm>
            <a:off x="6263640" y="4224528"/>
            <a:ext cx="566928" cy="274320"/>
          </a:xfrm>
          <a:prstGeom prst="roundRect">
            <a:avLst>
              <a:gd name="adj" fmla="val 16667"/>
            </a:avLst>
          </a:prstGeom>
          <a:solidFill>
            <a:srgbClr val="FFFDF7"/>
          </a:solidFill>
          <a:ln w="9525">
            <a:solidFill>
              <a:srgbClr val="CBC2AD"/>
            </a:solidFill>
            <a:prstDash val="solid"/>
          </a:ln>
        </p:spPr>
      </p:sp>
      <p:sp>
        <p:nvSpPr>
          <p:cNvPr id="29" name="Shape 26"/>
          <p:cNvSpPr/>
          <p:nvPr/>
        </p:nvSpPr>
        <p:spPr>
          <a:xfrm>
            <a:off x="6355080" y="4329684"/>
            <a:ext cx="64008" cy="64008"/>
          </a:xfrm>
          <a:prstGeom prst="ellipse">
            <a:avLst/>
          </a:prstGeom>
          <a:solidFill>
            <a:srgbClr val="F3EFE6"/>
          </a:solidFill>
          <a:ln w="9525">
            <a:solidFill>
              <a:srgbClr val="CBC2AD"/>
            </a:solidFill>
            <a:prstDash val="solid"/>
          </a:ln>
        </p:spPr>
      </p:sp>
      <p:sp>
        <p:nvSpPr>
          <p:cNvPr id="30" name="Text 27"/>
          <p:cNvSpPr txBox="1"/>
          <p:nvPr/>
        </p:nvSpPr>
        <p:spPr>
          <a:xfrm>
            <a:off x="6483096" y="4224528"/>
            <a:ext cx="329184" cy="274320"/>
          </a:xfrm>
          <a:prstGeom prst="rect">
            <a:avLst/>
          </a:prstGeom>
          <a:noFill/>
          <a:ln/>
        </p:spPr>
        <p:txBody>
          <a:bodyPr wrap="none" lIns="0" tIns="0" rIns="0" bIns="0" rtlCol="0" anchor="ctr"/>
          <a:lstStyle/>
          <a:p>
            <a:pPr indent="0" marL="0">
              <a:buNone/>
            </a:pPr>
            <a:r>
              <a:rPr lang="en-US" sz="1000" spc="100" kern="0" dirty="0">
                <a:solidFill>
                  <a:srgbClr val="17211C"/>
                </a:solidFill>
                <a:latin typeface="Consolas" pitchFamily="34" charset="0"/>
                <a:ea typeface="Consolas" pitchFamily="34" charset="-122"/>
                <a:cs typeface="Consolas" pitchFamily="34" charset="-120"/>
              </a:rPr>
              <a:t>03</a:t>
            </a:r>
            <a:endParaRPr lang="en-US" sz="1000" dirty="0"/>
          </a:p>
        </p:txBody>
      </p:sp>
      <p:sp>
        <p:nvSpPr>
          <p:cNvPr id="31" name="Text 28"/>
          <p:cNvSpPr txBox="1"/>
          <p:nvPr/>
        </p:nvSpPr>
        <p:spPr>
          <a:xfrm>
            <a:off x="7040880" y="4206240"/>
            <a:ext cx="4602175" cy="292608"/>
          </a:xfrm>
          <a:prstGeom prst="rect">
            <a:avLst/>
          </a:prstGeom>
          <a:noFill/>
          <a:ln/>
        </p:spPr>
        <p:txBody>
          <a:bodyPr wrap="square" lIns="0" tIns="0" rIns="0" bIns="0" rtlCol="0" anchor="t"/>
          <a:lstStyle/>
          <a:p>
            <a:pPr indent="0" marL="0">
              <a:buNone/>
            </a:pPr>
            <a:r>
              <a:rPr lang="en-US" sz="1450" b="1" dirty="0">
                <a:solidFill>
                  <a:srgbClr val="17211C"/>
                </a:solidFill>
                <a:latin typeface="Calibri" pitchFamily="34" charset="0"/>
                <a:ea typeface="Calibri" pitchFamily="34" charset="-122"/>
                <a:cs typeface="Calibri" pitchFamily="34" charset="-120"/>
              </a:rPr>
              <a:t>Notifications</a:t>
            </a:r>
            <a:endParaRPr lang="en-US" sz="1450" dirty="0"/>
          </a:p>
        </p:txBody>
      </p:sp>
      <p:sp>
        <p:nvSpPr>
          <p:cNvPr id="32" name="Text 29"/>
          <p:cNvSpPr txBox="1"/>
          <p:nvPr/>
        </p:nvSpPr>
        <p:spPr>
          <a:xfrm>
            <a:off x="7040880" y="4517136"/>
            <a:ext cx="4602175" cy="457200"/>
          </a:xfrm>
          <a:prstGeom prst="rect">
            <a:avLst/>
          </a:prstGeom>
          <a:noFill/>
          <a:ln/>
        </p:spPr>
        <p:txBody>
          <a:bodyPr wrap="square" lIns="0" tIns="0" rIns="0" bIns="0" rtlCol="0" anchor="t"/>
          <a:lstStyle/>
          <a:p>
            <a:pPr indent="0" marL="0">
              <a:buNone/>
            </a:pPr>
            <a:r>
              <a:rPr lang="en-US" sz="1250" dirty="0">
                <a:solidFill>
                  <a:srgbClr val="3F4842"/>
                </a:solidFill>
                <a:latin typeface="Calibri" pitchFamily="34" charset="0"/>
                <a:ea typeface="Calibri" pitchFamily="34" charset="-122"/>
                <a:cs typeface="Calibri" pitchFamily="34" charset="-120"/>
              </a:rPr>
              <a:t>Prévenir par e-mail le responsable qui doit valider un transfert.</a:t>
            </a:r>
            <a:endParaRPr lang="en-US" sz="1250" dirty="0"/>
          </a:p>
        </p:txBody>
      </p:sp>
      <p:sp>
        <p:nvSpPr>
          <p:cNvPr id="33" name="Shape 30"/>
          <p:cNvSpPr/>
          <p:nvPr/>
        </p:nvSpPr>
        <p:spPr>
          <a:xfrm>
            <a:off x="6263640" y="5047488"/>
            <a:ext cx="566928" cy="274320"/>
          </a:xfrm>
          <a:prstGeom prst="roundRect">
            <a:avLst>
              <a:gd name="adj" fmla="val 16667"/>
            </a:avLst>
          </a:prstGeom>
          <a:solidFill>
            <a:srgbClr val="FFFDF7"/>
          </a:solidFill>
          <a:ln w="9525">
            <a:solidFill>
              <a:srgbClr val="CBC2AD"/>
            </a:solidFill>
            <a:prstDash val="solid"/>
          </a:ln>
        </p:spPr>
      </p:sp>
      <p:sp>
        <p:nvSpPr>
          <p:cNvPr id="34" name="Shape 31"/>
          <p:cNvSpPr/>
          <p:nvPr/>
        </p:nvSpPr>
        <p:spPr>
          <a:xfrm>
            <a:off x="6355080" y="5152644"/>
            <a:ext cx="64008" cy="64008"/>
          </a:xfrm>
          <a:prstGeom prst="ellipse">
            <a:avLst/>
          </a:prstGeom>
          <a:solidFill>
            <a:srgbClr val="F3EFE6"/>
          </a:solidFill>
          <a:ln w="9525">
            <a:solidFill>
              <a:srgbClr val="CBC2AD"/>
            </a:solidFill>
            <a:prstDash val="solid"/>
          </a:ln>
        </p:spPr>
      </p:sp>
      <p:sp>
        <p:nvSpPr>
          <p:cNvPr id="35" name="Text 32"/>
          <p:cNvSpPr txBox="1"/>
          <p:nvPr/>
        </p:nvSpPr>
        <p:spPr>
          <a:xfrm>
            <a:off x="6483096" y="5047488"/>
            <a:ext cx="329184" cy="274320"/>
          </a:xfrm>
          <a:prstGeom prst="rect">
            <a:avLst/>
          </a:prstGeom>
          <a:noFill/>
          <a:ln/>
        </p:spPr>
        <p:txBody>
          <a:bodyPr wrap="none" lIns="0" tIns="0" rIns="0" bIns="0" rtlCol="0" anchor="ctr"/>
          <a:lstStyle/>
          <a:p>
            <a:pPr indent="0" marL="0">
              <a:buNone/>
            </a:pPr>
            <a:r>
              <a:rPr lang="en-US" sz="1000" spc="100" kern="0" dirty="0">
                <a:solidFill>
                  <a:srgbClr val="17211C"/>
                </a:solidFill>
                <a:latin typeface="Consolas" pitchFamily="34" charset="0"/>
                <a:ea typeface="Consolas" pitchFamily="34" charset="-122"/>
                <a:cs typeface="Consolas" pitchFamily="34" charset="-120"/>
              </a:rPr>
              <a:t>04</a:t>
            </a:r>
            <a:endParaRPr lang="en-US" sz="1000" dirty="0"/>
          </a:p>
        </p:txBody>
      </p:sp>
      <p:sp>
        <p:nvSpPr>
          <p:cNvPr id="36" name="Text 33"/>
          <p:cNvSpPr txBox="1"/>
          <p:nvPr/>
        </p:nvSpPr>
        <p:spPr>
          <a:xfrm>
            <a:off x="7040880" y="5029200"/>
            <a:ext cx="4602175" cy="292608"/>
          </a:xfrm>
          <a:prstGeom prst="rect">
            <a:avLst/>
          </a:prstGeom>
          <a:noFill/>
          <a:ln/>
        </p:spPr>
        <p:txBody>
          <a:bodyPr wrap="square" lIns="0" tIns="0" rIns="0" bIns="0" rtlCol="0" anchor="t"/>
          <a:lstStyle/>
          <a:p>
            <a:pPr indent="0" marL="0">
              <a:buNone/>
            </a:pPr>
            <a:r>
              <a:rPr lang="en-US" sz="1450" b="1" dirty="0">
                <a:solidFill>
                  <a:srgbClr val="17211C"/>
                </a:solidFill>
                <a:latin typeface="Calibri" pitchFamily="34" charset="0"/>
                <a:ea typeface="Calibri" pitchFamily="34" charset="-122"/>
                <a:cs typeface="Calibri" pitchFamily="34" charset="-120"/>
              </a:rPr>
              <a:t>Amortissement</a:t>
            </a:r>
            <a:endParaRPr lang="en-US" sz="1450" dirty="0"/>
          </a:p>
        </p:txBody>
      </p:sp>
      <p:sp>
        <p:nvSpPr>
          <p:cNvPr id="37" name="Text 34"/>
          <p:cNvSpPr txBox="1"/>
          <p:nvPr/>
        </p:nvSpPr>
        <p:spPr>
          <a:xfrm>
            <a:off x="7040880" y="5340096"/>
            <a:ext cx="4602175" cy="457200"/>
          </a:xfrm>
          <a:prstGeom prst="rect">
            <a:avLst/>
          </a:prstGeom>
          <a:noFill/>
          <a:ln/>
        </p:spPr>
        <p:txBody>
          <a:bodyPr wrap="square" lIns="0" tIns="0" rIns="0" bIns="0" rtlCol="0" anchor="t"/>
          <a:lstStyle/>
          <a:p>
            <a:pPr indent="0" marL="0">
              <a:buNone/>
            </a:pPr>
            <a:r>
              <a:rPr lang="en-US" sz="1250" dirty="0">
                <a:solidFill>
                  <a:srgbClr val="3F4842"/>
                </a:solidFill>
                <a:latin typeface="Calibri" pitchFamily="34" charset="0"/>
                <a:ea typeface="Calibri" pitchFamily="34" charset="-122"/>
                <a:cs typeface="Calibri" pitchFamily="34" charset="-120"/>
              </a:rPr>
              <a:t>Valeur d'achat et durée de vie, pour le service comptable.</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2E25"/>
        </a:solidFill>
      </p:bgPr>
    </p:bg>
    <p:spTree>
      <p:nvGrpSpPr>
        <p:cNvPr id="1" name=""/>
        <p:cNvGrpSpPr/>
        <p:nvPr/>
      </p:nvGrpSpPr>
      <p:grpSpPr>
        <a:xfrm>
          <a:off x="0" y="0"/>
          <a:ext cx="0" cy="0"/>
          <a:chOff x="0" y="0"/>
          <a:chExt cx="0" cy="0"/>
        </a:xfrm>
      </p:grpSpPr>
      <p:sp>
        <p:nvSpPr>
          <p:cNvPr id="2" name="Shape 0"/>
          <p:cNvSpPr/>
          <p:nvPr/>
        </p:nvSpPr>
        <p:spPr>
          <a:xfrm>
            <a:off x="0" y="274320"/>
            <a:ext cx="12191695" cy="0"/>
          </a:xfrm>
          <a:prstGeom prst="line">
            <a:avLst/>
          </a:prstGeom>
          <a:noFill/>
          <a:ln w="9525">
            <a:solidFill>
              <a:srgbClr val="22382E"/>
            </a:solidFill>
            <a:prstDash val="solid"/>
          </a:ln>
        </p:spPr>
      </p:sp>
      <p:sp>
        <p:nvSpPr>
          <p:cNvPr id="3" name="Shape 1"/>
          <p:cNvSpPr/>
          <p:nvPr/>
        </p:nvSpPr>
        <p:spPr>
          <a:xfrm>
            <a:off x="0" y="676656"/>
            <a:ext cx="12191695" cy="0"/>
          </a:xfrm>
          <a:prstGeom prst="line">
            <a:avLst/>
          </a:prstGeom>
          <a:noFill/>
          <a:ln w="9525">
            <a:solidFill>
              <a:srgbClr val="22382E"/>
            </a:solidFill>
            <a:prstDash val="solid"/>
          </a:ln>
        </p:spPr>
      </p:sp>
      <p:sp>
        <p:nvSpPr>
          <p:cNvPr id="4" name="Shape 2"/>
          <p:cNvSpPr/>
          <p:nvPr/>
        </p:nvSpPr>
        <p:spPr>
          <a:xfrm>
            <a:off x="0" y="1078992"/>
            <a:ext cx="12191695" cy="0"/>
          </a:xfrm>
          <a:prstGeom prst="line">
            <a:avLst/>
          </a:prstGeom>
          <a:noFill/>
          <a:ln w="9525">
            <a:solidFill>
              <a:srgbClr val="22382E"/>
            </a:solidFill>
            <a:prstDash val="solid"/>
          </a:ln>
        </p:spPr>
      </p:sp>
      <p:sp>
        <p:nvSpPr>
          <p:cNvPr id="5" name="Shape 3"/>
          <p:cNvSpPr/>
          <p:nvPr/>
        </p:nvSpPr>
        <p:spPr>
          <a:xfrm>
            <a:off x="0" y="1481328"/>
            <a:ext cx="12191695" cy="0"/>
          </a:xfrm>
          <a:prstGeom prst="line">
            <a:avLst/>
          </a:prstGeom>
          <a:noFill/>
          <a:ln w="9525">
            <a:solidFill>
              <a:srgbClr val="22382E"/>
            </a:solidFill>
            <a:prstDash val="solid"/>
          </a:ln>
        </p:spPr>
      </p:sp>
      <p:sp>
        <p:nvSpPr>
          <p:cNvPr id="6" name="Shape 4"/>
          <p:cNvSpPr/>
          <p:nvPr/>
        </p:nvSpPr>
        <p:spPr>
          <a:xfrm>
            <a:off x="0" y="1883664"/>
            <a:ext cx="12191695" cy="0"/>
          </a:xfrm>
          <a:prstGeom prst="line">
            <a:avLst/>
          </a:prstGeom>
          <a:noFill/>
          <a:ln w="9525">
            <a:solidFill>
              <a:srgbClr val="22382E"/>
            </a:solidFill>
            <a:prstDash val="solid"/>
          </a:ln>
        </p:spPr>
      </p:sp>
      <p:sp>
        <p:nvSpPr>
          <p:cNvPr id="7" name="Shape 5"/>
          <p:cNvSpPr/>
          <p:nvPr/>
        </p:nvSpPr>
        <p:spPr>
          <a:xfrm>
            <a:off x="0" y="2286000"/>
            <a:ext cx="12191695" cy="0"/>
          </a:xfrm>
          <a:prstGeom prst="line">
            <a:avLst/>
          </a:prstGeom>
          <a:noFill/>
          <a:ln w="9525">
            <a:solidFill>
              <a:srgbClr val="22382E"/>
            </a:solidFill>
            <a:prstDash val="solid"/>
          </a:ln>
        </p:spPr>
      </p:sp>
      <p:sp>
        <p:nvSpPr>
          <p:cNvPr id="8" name="Shape 6"/>
          <p:cNvSpPr/>
          <p:nvPr/>
        </p:nvSpPr>
        <p:spPr>
          <a:xfrm>
            <a:off x="0" y="2688336"/>
            <a:ext cx="12191695" cy="0"/>
          </a:xfrm>
          <a:prstGeom prst="line">
            <a:avLst/>
          </a:prstGeom>
          <a:noFill/>
          <a:ln w="9525">
            <a:solidFill>
              <a:srgbClr val="22382E"/>
            </a:solidFill>
            <a:prstDash val="solid"/>
          </a:ln>
        </p:spPr>
      </p:sp>
      <p:sp>
        <p:nvSpPr>
          <p:cNvPr id="9" name="Shape 7"/>
          <p:cNvSpPr/>
          <p:nvPr/>
        </p:nvSpPr>
        <p:spPr>
          <a:xfrm>
            <a:off x="0" y="3090672"/>
            <a:ext cx="12191695" cy="0"/>
          </a:xfrm>
          <a:prstGeom prst="line">
            <a:avLst/>
          </a:prstGeom>
          <a:noFill/>
          <a:ln w="9525">
            <a:solidFill>
              <a:srgbClr val="22382E"/>
            </a:solidFill>
            <a:prstDash val="solid"/>
          </a:ln>
        </p:spPr>
      </p:sp>
      <p:sp>
        <p:nvSpPr>
          <p:cNvPr id="10" name="Shape 8"/>
          <p:cNvSpPr/>
          <p:nvPr/>
        </p:nvSpPr>
        <p:spPr>
          <a:xfrm>
            <a:off x="0" y="3493008"/>
            <a:ext cx="12191695" cy="0"/>
          </a:xfrm>
          <a:prstGeom prst="line">
            <a:avLst/>
          </a:prstGeom>
          <a:noFill/>
          <a:ln w="9525">
            <a:solidFill>
              <a:srgbClr val="22382E"/>
            </a:solidFill>
            <a:prstDash val="solid"/>
          </a:ln>
        </p:spPr>
      </p:sp>
      <p:sp>
        <p:nvSpPr>
          <p:cNvPr id="11" name="Shape 9"/>
          <p:cNvSpPr/>
          <p:nvPr/>
        </p:nvSpPr>
        <p:spPr>
          <a:xfrm>
            <a:off x="0" y="3895344"/>
            <a:ext cx="12191695" cy="0"/>
          </a:xfrm>
          <a:prstGeom prst="line">
            <a:avLst/>
          </a:prstGeom>
          <a:noFill/>
          <a:ln w="9525">
            <a:solidFill>
              <a:srgbClr val="22382E"/>
            </a:solidFill>
            <a:prstDash val="solid"/>
          </a:ln>
        </p:spPr>
      </p:sp>
      <p:sp>
        <p:nvSpPr>
          <p:cNvPr id="12" name="Shape 10"/>
          <p:cNvSpPr/>
          <p:nvPr/>
        </p:nvSpPr>
        <p:spPr>
          <a:xfrm>
            <a:off x="0" y="4297680"/>
            <a:ext cx="12191695" cy="0"/>
          </a:xfrm>
          <a:prstGeom prst="line">
            <a:avLst/>
          </a:prstGeom>
          <a:noFill/>
          <a:ln w="9525">
            <a:solidFill>
              <a:srgbClr val="22382E"/>
            </a:solidFill>
            <a:prstDash val="solid"/>
          </a:ln>
        </p:spPr>
      </p:sp>
      <p:sp>
        <p:nvSpPr>
          <p:cNvPr id="13" name="Shape 11"/>
          <p:cNvSpPr/>
          <p:nvPr/>
        </p:nvSpPr>
        <p:spPr>
          <a:xfrm>
            <a:off x="0" y="4700016"/>
            <a:ext cx="12191695" cy="0"/>
          </a:xfrm>
          <a:prstGeom prst="line">
            <a:avLst/>
          </a:prstGeom>
          <a:noFill/>
          <a:ln w="9525">
            <a:solidFill>
              <a:srgbClr val="22382E"/>
            </a:solidFill>
            <a:prstDash val="solid"/>
          </a:ln>
        </p:spPr>
      </p:sp>
      <p:sp>
        <p:nvSpPr>
          <p:cNvPr id="14" name="Shape 12"/>
          <p:cNvSpPr/>
          <p:nvPr/>
        </p:nvSpPr>
        <p:spPr>
          <a:xfrm>
            <a:off x="0" y="5102352"/>
            <a:ext cx="12191695" cy="0"/>
          </a:xfrm>
          <a:prstGeom prst="line">
            <a:avLst/>
          </a:prstGeom>
          <a:noFill/>
          <a:ln w="9525">
            <a:solidFill>
              <a:srgbClr val="22382E"/>
            </a:solidFill>
            <a:prstDash val="solid"/>
          </a:ln>
        </p:spPr>
      </p:sp>
      <p:sp>
        <p:nvSpPr>
          <p:cNvPr id="15" name="Shape 13"/>
          <p:cNvSpPr/>
          <p:nvPr/>
        </p:nvSpPr>
        <p:spPr>
          <a:xfrm>
            <a:off x="0" y="5504688"/>
            <a:ext cx="12191695" cy="0"/>
          </a:xfrm>
          <a:prstGeom prst="line">
            <a:avLst/>
          </a:prstGeom>
          <a:noFill/>
          <a:ln w="9525">
            <a:solidFill>
              <a:srgbClr val="22382E"/>
            </a:solidFill>
            <a:prstDash val="solid"/>
          </a:ln>
        </p:spPr>
      </p:sp>
      <p:sp>
        <p:nvSpPr>
          <p:cNvPr id="16" name="Shape 14"/>
          <p:cNvSpPr/>
          <p:nvPr/>
        </p:nvSpPr>
        <p:spPr>
          <a:xfrm>
            <a:off x="0" y="5907024"/>
            <a:ext cx="12191695" cy="0"/>
          </a:xfrm>
          <a:prstGeom prst="line">
            <a:avLst/>
          </a:prstGeom>
          <a:noFill/>
          <a:ln w="9525">
            <a:solidFill>
              <a:srgbClr val="22382E"/>
            </a:solidFill>
            <a:prstDash val="solid"/>
          </a:ln>
        </p:spPr>
      </p:sp>
      <p:sp>
        <p:nvSpPr>
          <p:cNvPr id="17" name="Shape 15"/>
          <p:cNvSpPr/>
          <p:nvPr/>
        </p:nvSpPr>
        <p:spPr>
          <a:xfrm>
            <a:off x="0" y="6309360"/>
            <a:ext cx="12191695" cy="0"/>
          </a:xfrm>
          <a:prstGeom prst="line">
            <a:avLst/>
          </a:prstGeom>
          <a:noFill/>
          <a:ln w="9525">
            <a:solidFill>
              <a:srgbClr val="22382E"/>
            </a:solidFill>
            <a:prstDash val="solid"/>
          </a:ln>
        </p:spPr>
      </p:sp>
      <p:sp>
        <p:nvSpPr>
          <p:cNvPr id="18" name="Shape 16"/>
          <p:cNvSpPr/>
          <p:nvPr/>
        </p:nvSpPr>
        <p:spPr>
          <a:xfrm>
            <a:off x="0" y="6711696"/>
            <a:ext cx="12191695" cy="0"/>
          </a:xfrm>
          <a:prstGeom prst="line">
            <a:avLst/>
          </a:prstGeom>
          <a:noFill/>
          <a:ln w="9525">
            <a:solidFill>
              <a:srgbClr val="22382E"/>
            </a:solidFill>
            <a:prstDash val="solid"/>
          </a:ln>
        </p:spPr>
      </p:sp>
      <p:sp>
        <p:nvSpPr>
          <p:cNvPr id="19" name="Text 17"/>
          <p:cNvSpPr txBox="1"/>
          <p:nvPr/>
        </p:nvSpPr>
        <p:spPr>
          <a:xfrm>
            <a:off x="731520" y="1371600"/>
            <a:ext cx="10058400" cy="1005840"/>
          </a:xfrm>
          <a:prstGeom prst="rect">
            <a:avLst/>
          </a:prstGeom>
          <a:noFill/>
          <a:ln/>
        </p:spPr>
        <p:txBody>
          <a:bodyPr wrap="square" lIns="0" tIns="0" rIns="0" bIns="0" rtlCol="0" anchor="t"/>
          <a:lstStyle/>
          <a:p>
            <a:pPr indent="0" marL="0">
              <a:buNone/>
            </a:pPr>
            <a:r>
              <a:rPr lang="en-US" sz="4800" dirty="0">
                <a:solidFill>
                  <a:srgbClr val="F1ECDD"/>
                </a:solidFill>
                <a:latin typeface="Georgia" pitchFamily="34" charset="0"/>
                <a:ea typeface="Georgia" pitchFamily="34" charset="-122"/>
                <a:cs typeface="Georgia" pitchFamily="34" charset="-120"/>
              </a:rPr>
              <a:t>Merci de votre attention.</a:t>
            </a:r>
            <a:endParaRPr lang="en-US" sz="4800" dirty="0"/>
          </a:p>
        </p:txBody>
      </p:sp>
      <p:sp>
        <p:nvSpPr>
          <p:cNvPr id="20" name="Text 18"/>
          <p:cNvSpPr txBox="1"/>
          <p:nvPr/>
        </p:nvSpPr>
        <p:spPr>
          <a:xfrm>
            <a:off x="731520" y="2468880"/>
            <a:ext cx="8229600" cy="548640"/>
          </a:xfrm>
          <a:prstGeom prst="rect">
            <a:avLst/>
          </a:prstGeom>
          <a:noFill/>
          <a:ln/>
        </p:spPr>
        <p:txBody>
          <a:bodyPr wrap="square" lIns="0" tIns="0" rIns="0" bIns="0" rtlCol="0" anchor="t"/>
          <a:lstStyle/>
          <a:p>
            <a:pPr indent="0" marL="0">
              <a:buNone/>
            </a:pPr>
            <a:r>
              <a:rPr lang="en-US" sz="2200" i="1" dirty="0">
                <a:solidFill>
                  <a:srgbClr val="E2C98F"/>
                </a:solidFill>
                <a:latin typeface="Georgia" pitchFamily="34" charset="0"/>
                <a:ea typeface="Georgia" pitchFamily="34" charset="-122"/>
                <a:cs typeface="Georgia" pitchFamily="34" charset="-120"/>
              </a:rPr>
              <a:t>Place à la démonstration, puis à vos questions.</a:t>
            </a:r>
            <a:endParaRPr lang="en-US" sz="2200" dirty="0"/>
          </a:p>
        </p:txBody>
      </p:sp>
      <p:sp>
        <p:nvSpPr>
          <p:cNvPr id="21" name="Text 19"/>
          <p:cNvSpPr txBox="1"/>
          <p:nvPr/>
        </p:nvSpPr>
        <p:spPr>
          <a:xfrm>
            <a:off x="731520" y="3977640"/>
            <a:ext cx="2011680" cy="320040"/>
          </a:xfrm>
          <a:prstGeom prst="rect">
            <a:avLst/>
          </a:prstGeom>
          <a:noFill/>
          <a:ln/>
        </p:spPr>
        <p:txBody>
          <a:bodyPr wrap="square" lIns="0" tIns="0" rIns="0" bIns="0" rtlCol="0" anchor="t"/>
          <a:lstStyle/>
          <a:p>
            <a:pPr indent="0" marL="0">
              <a:buNone/>
            </a:pPr>
            <a:r>
              <a:rPr lang="en-US" sz="1300" dirty="0">
                <a:solidFill>
                  <a:srgbClr val="8F998E"/>
                </a:solidFill>
                <a:latin typeface="Calibri" pitchFamily="34" charset="0"/>
                <a:ea typeface="Calibri" pitchFamily="34" charset="-122"/>
                <a:cs typeface="Calibri" pitchFamily="34" charset="-120"/>
              </a:rPr>
              <a:t>Compte admin</a:t>
            </a:r>
            <a:endParaRPr lang="en-US" sz="1300" dirty="0"/>
          </a:p>
        </p:txBody>
      </p:sp>
      <p:sp>
        <p:nvSpPr>
          <p:cNvPr id="22" name="Text 20"/>
          <p:cNvSpPr txBox="1"/>
          <p:nvPr/>
        </p:nvSpPr>
        <p:spPr>
          <a:xfrm>
            <a:off x="2743200" y="3977640"/>
            <a:ext cx="5486400" cy="320040"/>
          </a:xfrm>
          <a:prstGeom prst="rect">
            <a:avLst/>
          </a:prstGeom>
          <a:noFill/>
          <a:ln/>
        </p:spPr>
        <p:txBody>
          <a:bodyPr wrap="square" lIns="0" tIns="0" rIns="0" bIns="0" rtlCol="0" anchor="t"/>
          <a:lstStyle/>
          <a:p>
            <a:pPr indent="0" marL="0">
              <a:buNone/>
            </a:pPr>
            <a:r>
              <a:rPr lang="en-US" sz="1400" dirty="0">
                <a:solidFill>
                  <a:srgbClr val="F1ECDD"/>
                </a:solidFill>
                <a:latin typeface="Consolas" pitchFamily="34" charset="0"/>
                <a:ea typeface="Consolas" pitchFamily="34" charset="-122"/>
                <a:cs typeface="Consolas" pitchFamily="34" charset="-120"/>
              </a:rPr>
              <a:t>admin  /  patrimo2026</a:t>
            </a:r>
            <a:endParaRPr lang="en-US" sz="1400" dirty="0"/>
          </a:p>
        </p:txBody>
      </p:sp>
      <p:sp>
        <p:nvSpPr>
          <p:cNvPr id="23" name="Text 21"/>
          <p:cNvSpPr txBox="1"/>
          <p:nvPr/>
        </p:nvSpPr>
        <p:spPr>
          <a:xfrm>
            <a:off x="731520" y="4434840"/>
            <a:ext cx="2011680" cy="320040"/>
          </a:xfrm>
          <a:prstGeom prst="rect">
            <a:avLst/>
          </a:prstGeom>
          <a:noFill/>
          <a:ln/>
        </p:spPr>
        <p:txBody>
          <a:bodyPr wrap="square" lIns="0" tIns="0" rIns="0" bIns="0" rtlCol="0" anchor="t"/>
          <a:lstStyle/>
          <a:p>
            <a:pPr indent="0" marL="0">
              <a:buNone/>
            </a:pPr>
            <a:r>
              <a:rPr lang="en-US" sz="1300" dirty="0">
                <a:solidFill>
                  <a:srgbClr val="8F998E"/>
                </a:solidFill>
                <a:latin typeface="Calibri" pitchFamily="34" charset="0"/>
                <a:ea typeface="Calibri" pitchFamily="34" charset="-122"/>
                <a:cs typeface="Calibri" pitchFamily="34" charset="-120"/>
              </a:rPr>
              <a:t>Responsable DAF</a:t>
            </a:r>
            <a:endParaRPr lang="en-US" sz="1300" dirty="0"/>
          </a:p>
        </p:txBody>
      </p:sp>
      <p:sp>
        <p:nvSpPr>
          <p:cNvPr id="24" name="Text 22"/>
          <p:cNvSpPr txBox="1"/>
          <p:nvPr/>
        </p:nvSpPr>
        <p:spPr>
          <a:xfrm>
            <a:off x="2743200" y="4434840"/>
            <a:ext cx="5486400" cy="320040"/>
          </a:xfrm>
          <a:prstGeom prst="rect">
            <a:avLst/>
          </a:prstGeom>
          <a:noFill/>
          <a:ln/>
        </p:spPr>
        <p:txBody>
          <a:bodyPr wrap="square" lIns="0" tIns="0" rIns="0" bIns="0" rtlCol="0" anchor="t"/>
          <a:lstStyle/>
          <a:p>
            <a:pPr indent="0" marL="0">
              <a:buNone/>
            </a:pPr>
            <a:r>
              <a:rPr lang="en-US" sz="1400" dirty="0">
                <a:solidFill>
                  <a:srgbClr val="F1ECDD"/>
                </a:solidFill>
                <a:latin typeface="Consolas" pitchFamily="34" charset="0"/>
                <a:ea typeface="Consolas" pitchFamily="34" charset="-122"/>
                <a:cs typeface="Consolas" pitchFamily="34" charset="-120"/>
              </a:rPr>
              <a:t>c.beibakar  /  patrimo2026</a:t>
            </a:r>
            <a:endParaRPr lang="en-US" sz="1400" dirty="0"/>
          </a:p>
        </p:txBody>
      </p:sp>
      <p:sp>
        <p:nvSpPr>
          <p:cNvPr id="25" name="Shape 23"/>
          <p:cNvSpPr/>
          <p:nvPr/>
        </p:nvSpPr>
        <p:spPr>
          <a:xfrm rot="-420000">
            <a:off x="8503920" y="4069080"/>
            <a:ext cx="2743200" cy="868680"/>
          </a:xfrm>
          <a:prstGeom prst="rect">
            <a:avLst/>
          </a:prstGeom>
          <a:solidFill>
            <a:srgbClr val="FFFFFF">
              <a:alpha val="0"/>
            </a:srgbClr>
          </a:solidFill>
          <a:ln w="28575">
            <a:solidFill>
              <a:srgbClr val="E2C98F"/>
            </a:solidFill>
            <a:prstDash val="solid"/>
          </a:ln>
        </p:spPr>
      </p:sp>
      <p:sp>
        <p:nvSpPr>
          <p:cNvPr id="26" name="Shape 24"/>
          <p:cNvSpPr/>
          <p:nvPr/>
        </p:nvSpPr>
        <p:spPr>
          <a:xfrm rot="-420000">
            <a:off x="8558784" y="4123944"/>
            <a:ext cx="2633472" cy="758952"/>
          </a:xfrm>
          <a:prstGeom prst="rect">
            <a:avLst/>
          </a:prstGeom>
          <a:solidFill>
            <a:srgbClr val="FFFFFF">
              <a:alpha val="0"/>
            </a:srgbClr>
          </a:solidFill>
          <a:ln w="9525">
            <a:solidFill>
              <a:srgbClr val="E2C98F"/>
            </a:solidFill>
            <a:prstDash val="solid"/>
          </a:ln>
        </p:spPr>
      </p:sp>
      <p:sp>
        <p:nvSpPr>
          <p:cNvPr id="27" name="Text 25"/>
          <p:cNvSpPr txBox="1"/>
          <p:nvPr/>
        </p:nvSpPr>
        <p:spPr>
          <a:xfrm rot="-420000">
            <a:off x="8503920" y="4069080"/>
            <a:ext cx="2743200" cy="868680"/>
          </a:xfrm>
          <a:prstGeom prst="rect">
            <a:avLst/>
          </a:prstGeom>
          <a:noFill/>
          <a:ln/>
        </p:spPr>
        <p:txBody>
          <a:bodyPr wrap="square" lIns="0" tIns="0" rIns="0" bIns="0" rtlCol="0" anchor="ctr"/>
          <a:lstStyle/>
          <a:p>
            <a:pPr algn="ctr" indent="0" marL="0">
              <a:buNone/>
            </a:pPr>
            <a:r>
              <a:rPr lang="en-US" sz="1900" b="1" spc="400" kern="0" dirty="0">
                <a:solidFill>
                  <a:srgbClr val="E2C98F"/>
                </a:solidFill>
                <a:latin typeface="Consolas" pitchFamily="34" charset="0"/>
                <a:ea typeface="Consolas" pitchFamily="34" charset="-122"/>
                <a:cs typeface="Consolas" pitchFamily="34" charset="-120"/>
              </a:rPr>
              <a:t>FIN DE SÉANCE</a:t>
            </a:r>
            <a:endParaRPr lang="en-US" sz="1900" dirty="0"/>
          </a:p>
        </p:txBody>
      </p:sp>
      <p:sp>
        <p:nvSpPr>
          <p:cNvPr id="29" name="Text 26"/>
          <p:cNvSpPr txBox="1"/>
          <p:nvPr/>
        </p:nvSpPr>
        <p:spPr>
          <a:xfrm>
            <a:off x="10545775" y="6473952"/>
            <a:ext cx="1097280" cy="228600"/>
          </a:xfrm>
          <a:prstGeom prst="rect">
            <a:avLst/>
          </a:prstGeom>
          <a:noFill/>
          <a:ln/>
        </p:spPr>
        <p:txBody>
          <a:bodyPr wrap="square" lIns="0" tIns="0" rIns="0" bIns="0" rtlCol="0" anchor="t"/>
          <a:lstStyle/>
          <a:p>
            <a:pPr algn="r" indent="0" marL="0">
              <a:buNone/>
            </a:pPr>
            <a:r>
              <a:rPr lang="en-US" sz="900" dirty="0">
                <a:solidFill>
                  <a:srgbClr val="8F998E"/>
                </a:solidFill>
                <a:latin typeface="Consolas" pitchFamily="34" charset="0"/>
                <a:ea typeface="Consolas" pitchFamily="34" charset="-122"/>
                <a:cs typeface="Consolas" pitchFamily="34" charset="-120"/>
              </a:rPr>
              <a:t>17 / 17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Patrimo — suivi du patrimoine matériel</dc:title>
  <dc:subject>Soutenance du mini-projet L1 Informatique</dc:subject>
  <dc:creator>Prénom NOM</dc:creator>
  <cp:lastModifiedBy>Prénom NOM</cp:lastModifiedBy>
  <cp:revision>1</cp:revision>
  <dcterms:created xsi:type="dcterms:W3CDTF">2026-09-26T19:33:15Z</dcterms:created>
  <dcterms:modified xsi:type="dcterms:W3CDTF">2026-09-26T19:33:15Z</dcterms:modified>
</cp:coreProperties>
</file>